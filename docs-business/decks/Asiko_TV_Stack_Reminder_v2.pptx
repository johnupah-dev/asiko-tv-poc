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C996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ASIKO TV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3891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Stack, Break-Proofing &amp; Scaling Options — Reference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10515600" y="2194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Sep 2026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3685032" cy="5349240"/>
          </a:xfrm>
          <a:prstGeom prst="roundRect">
            <a:avLst>
              <a:gd name="adj" fmla="val 1489"/>
            </a:avLst>
          </a:prstGeom>
          <a:solidFill>
            <a:srgbClr val="151515"/>
          </a:solidFill>
          <a:ln w="12700">
            <a:solidFill>
              <a:srgbClr val="6FA8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133856"/>
            <a:ext cx="3319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&amp; MEAN STACK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3319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source, self-hosted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91640"/>
            <a:ext cx="2862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Hostinger Cloud Startup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999232" y="1691640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1D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$8/mo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901952"/>
            <a:ext cx="3319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hosting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203704"/>
            <a:ext cx="2862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Hostinger KVM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999232" y="2203704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1D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$30/mo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414016"/>
            <a:ext cx="3319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VPS (8vCPU/32GB)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2715768"/>
            <a:ext cx="2862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Hercules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999232" y="271576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1D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incl.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2926080"/>
            <a:ext cx="3319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→ compiles to PWA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227832"/>
            <a:ext cx="2862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Bunny Stream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2999232" y="3227832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1D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~$150/yr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438144"/>
            <a:ext cx="3319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Storage, transcode, CDN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739896"/>
            <a:ext cx="2862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Eyevinn Channel Engine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2999232" y="373989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1D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3950208"/>
            <a:ext cx="3319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EPG + scheduling, open src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251960"/>
            <a:ext cx="2862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MediaTailor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2999232" y="4251960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1D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~$50/yr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4462272"/>
            <a:ext cx="3319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insertion (SSAI)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48640" y="4782312"/>
            <a:ext cx="3319272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8640" y="4892040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Tech/Infra total (Yr1 Base)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2999232" y="489204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99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$756/yr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187952" y="1005840"/>
            <a:ext cx="3685032" cy="5349240"/>
          </a:xfrm>
          <a:prstGeom prst="roundRect">
            <a:avLst>
              <a:gd name="adj" fmla="val 1489"/>
            </a:avLst>
          </a:prstGeom>
          <a:solidFill>
            <a:srgbClr val="151515"/>
          </a:solidFill>
          <a:ln w="12700">
            <a:solidFill>
              <a:srgbClr val="C9963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370832" y="1133856"/>
            <a:ext cx="3319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9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BREAK-PROOF ADD-ONS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370832" y="1371600"/>
            <a:ext cx="3319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Recovery-focused, not uptime-focused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4370832" y="1691640"/>
            <a:ext cx="2862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shared VPS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821424" y="1691640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1D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~$10/mo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4370832" y="1901952"/>
            <a:ext cx="3319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Eyevinn onto its own box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4370832" y="2203704"/>
            <a:ext cx="2862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backups, tested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821424" y="2203704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1D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4370832" y="2414016"/>
            <a:ext cx="3319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+ one proven restore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4370832" y="2715768"/>
            <a:ext cx="2862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monitoring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6821424" y="271576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1D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4370832" y="2926080"/>
            <a:ext cx="3319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UptimeRobot free tier + alerts</a:t>
            </a:r>
            <a:endParaRPr lang="en-US" sz="850" dirty="0"/>
          </a:p>
        </p:txBody>
      </p:sp>
      <p:sp>
        <p:nvSpPr>
          <p:cNvPr id="41" name="Text 39"/>
          <p:cNvSpPr txBox="1"/>
          <p:nvPr/>
        </p:nvSpPr>
        <p:spPr>
          <a:xfrm>
            <a:off x="4370832" y="3227832"/>
            <a:ext cx="2862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auto-restart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6821424" y="3227832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1D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4370832" y="3438144"/>
            <a:ext cx="3319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self-heal on crash</a:t>
            </a:r>
            <a:endParaRPr lang="en-US" sz="850" dirty="0"/>
          </a:p>
        </p:txBody>
      </p:sp>
      <p:sp>
        <p:nvSpPr>
          <p:cNvPr id="44" name="Text 42"/>
          <p:cNvSpPr txBox="1"/>
          <p:nvPr/>
        </p:nvSpPr>
        <p:spPr>
          <a:xfrm>
            <a:off x="4370832" y="3739896"/>
            <a:ext cx="2862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billing alert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6821424" y="373989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1D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4370832" y="3950208"/>
            <a:ext cx="3319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cap on MediaTailor spend</a:t>
            </a:r>
            <a:endParaRPr lang="en-US" sz="850" dirty="0"/>
          </a:p>
        </p:txBody>
      </p:sp>
      <p:sp>
        <p:nvSpPr>
          <p:cNvPr id="47" name="Text 45"/>
          <p:cNvSpPr txBox="1"/>
          <p:nvPr/>
        </p:nvSpPr>
        <p:spPr>
          <a:xfrm>
            <a:off x="4370832" y="4251960"/>
            <a:ext cx="2862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One-page runbook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6821424" y="4251960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1D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4370832" y="4462272"/>
            <a:ext cx="3319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to call, how to restore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370832" y="4782312"/>
            <a:ext cx="3319272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4370832" y="4892040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added cost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6821424" y="489204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99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~$10/mo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8055864" y="1024128"/>
            <a:ext cx="3593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9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OPTIONS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8010144" y="1335024"/>
            <a:ext cx="3685032" cy="1627632"/>
          </a:xfrm>
          <a:prstGeom prst="roundRect">
            <a:avLst>
              <a:gd name="adj" fmla="val 3371"/>
            </a:avLst>
          </a:prstGeom>
          <a:solidFill>
            <a:srgbClr val="151515"/>
          </a:solidFill>
          <a:ln w="13970">
            <a:solidFill>
              <a:srgbClr val="6FA86F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8174736" y="1426464"/>
            <a:ext cx="3355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Self-Hosted (current)</a:t>
            </a:r>
            <a:endParaRPr lang="en-US" sz="1250" dirty="0"/>
          </a:p>
        </p:txBody>
      </p:sp>
      <p:sp>
        <p:nvSpPr>
          <p:cNvPr id="56" name="Text 54"/>
          <p:cNvSpPr txBox="1"/>
          <p:nvPr/>
        </p:nvSpPr>
        <p:spPr>
          <a:xfrm>
            <a:off x="8174736" y="1719072"/>
            <a:ext cx="335584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6FA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Upfront: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
</a:t>
            </a:r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6FA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Usage-based + ~$10/mo mitigations
</a:t>
            </a:r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6FA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ownership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8010144" y="3072384"/>
            <a:ext cx="3685032" cy="1627632"/>
          </a:xfrm>
          <a:prstGeom prst="roundRect">
            <a:avLst>
              <a:gd name="adj" fmla="val 3371"/>
            </a:avLst>
          </a:prstGeom>
          <a:solidFill>
            <a:srgbClr val="151515"/>
          </a:solidFill>
          <a:ln w="13970">
            <a:solidFill>
              <a:srgbClr val="C97B7B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8174736" y="3163824"/>
            <a:ext cx="3355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Rental (Muvi-style)</a:t>
            </a:r>
            <a:endParaRPr lang="en-US" sz="1250" dirty="0"/>
          </a:p>
        </p:txBody>
      </p:sp>
      <p:sp>
        <p:nvSpPr>
          <p:cNvPr id="59" name="Text 57"/>
          <p:cNvSpPr txBox="1"/>
          <p:nvPr/>
        </p:nvSpPr>
        <p:spPr>
          <a:xfrm>
            <a:off x="8174736" y="3456432"/>
            <a:ext cx="335584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C9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Upfront: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
</a:t>
            </a:r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C9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$199–$1,999+/mo; 24/7 blows past included hours fast
</a:t>
            </a:r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C9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— stop paying, goes dark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8010144" y="4809744"/>
            <a:ext cx="3685032" cy="1627632"/>
          </a:xfrm>
          <a:prstGeom prst="roundRect">
            <a:avLst>
              <a:gd name="adj" fmla="val 3371"/>
            </a:avLst>
          </a:prstGeom>
          <a:solidFill>
            <a:srgbClr val="151515"/>
          </a:solidFill>
          <a:ln w="13970">
            <a:solidFill>
              <a:srgbClr val="F1D28A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8174736" y="4901184"/>
            <a:ext cx="3355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One-Time Build (Enveu)</a:t>
            </a:r>
            <a:endParaRPr lang="en-US" sz="1250" dirty="0"/>
          </a:p>
        </p:txBody>
      </p:sp>
      <p:sp>
        <p:nvSpPr>
          <p:cNvPr id="62" name="Text 60"/>
          <p:cNvSpPr txBox="1"/>
          <p:nvPr/>
        </p:nvSpPr>
        <p:spPr>
          <a:xfrm>
            <a:off x="8174736" y="5193792"/>
            <a:ext cx="335584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1D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Upfront: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 (real money)
</a:t>
            </a:r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1D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$0, or optional AMC
</a:t>
            </a:r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1D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IP, built for 108-ch scale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365760" y="6473952"/>
            <a:ext cx="11457432" cy="13716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365760" y="6537960"/>
            <a:ext cx="11457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Year 1 budget (Base): </a:t>
            </a:r>
            <a:pPr indent="0" marL="0">
              <a:buNone/>
            </a:pPr>
            <a:r>
              <a:rPr lang="en-US" sz="1050" b="1" dirty="0">
                <a:solidFill>
                  <a:srgbClr val="C99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$10,956</a:t>
            </a:r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(tech ~7%, content ~69%).  The break-proof layer is vendor-agnostic — it works underneath Eyevinn, Enveu, or any future build.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2026-09-03T14:48:01Z</dcterms:created>
  <dcterms:modified xsi:type="dcterms:W3CDTF">2026-09-03T14:48:01Z</dcterms:modified>
</cp:coreProperties>
</file>