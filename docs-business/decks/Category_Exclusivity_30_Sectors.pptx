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151515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640080"/>
            <a:ext cx="2377440" cy="2377440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148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99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EXCLUSIVITY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060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Industry Sectors for Commercial Sponsorship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79476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sector-exclusive advertising &amp; monetisation model for Asiko TV and the Media Icons Africa channel portfolio — one market-leading brand per category, locked out of competitors.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2011680" cy="0"/>
          </a:xfrm>
          <a:prstGeom prst="line">
            <a:avLst/>
          </a:prstGeom>
          <a:noFill/>
          <a:ln w="25400">
            <a:solidFill>
              <a:srgbClr val="C996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5029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Media Icons Africa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9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05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exclusive brand, per sector, across the channel lineup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54203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207568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D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23744" y="2130552"/>
            <a:ext cx="329184" cy="329184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743200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Exclusivity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246120"/>
            <a:ext cx="213969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market-leading brand is signed per industry category — direct competitors are locked out for the term of the deal.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46704" y="1874520"/>
            <a:ext cx="254203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547872" y="207568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D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5321808" y="2130552"/>
            <a:ext cx="329184" cy="329184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47872" y="2743200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Positioning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47872" y="3246120"/>
            <a:ext cx="213969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Exclusivity commands a premium price versus standard spot advertising, and signals category leadership to the market.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44768" y="1874520"/>
            <a:ext cx="254203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345936" y="207568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D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8119872" y="2130552"/>
            <a:ext cx="329184" cy="329184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45936" y="2743200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Portfolio-Wide Reach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345936" y="3246120"/>
            <a:ext cx="213969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Sponsorship spans channel content, on-air integrations, and streaming placements across the Asiko TV / Homee bouquet.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42832" y="1874520"/>
            <a:ext cx="254203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0" y="207568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D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10917936" y="2130552"/>
            <a:ext cx="329184" cy="329184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4000" y="2743200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30-Sector Framework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0" y="3246120"/>
            <a:ext cx="213969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were mapped across finance, consumer lifestyle, health, and public/institutional sectors for full economy coverage.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ICONS AFRICA  •  ASIKO TV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9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OF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Financial, Telecom &amp; Mobility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1–10 of 30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773936"/>
            <a:ext cx="5257800" cy="749808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2104" y="1929384"/>
            <a:ext cx="438912" cy="438912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32104" y="1929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99032" y="1773936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85800" y="2688336"/>
            <a:ext cx="5257800" cy="749808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2104" y="2843784"/>
            <a:ext cx="438912" cy="438912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2104" y="28437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99032" y="2688336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85800" y="3602736"/>
            <a:ext cx="5257800" cy="749808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" y="3758184"/>
            <a:ext cx="438912" cy="438912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2104" y="37581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99032" y="3602736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85800" y="4517136"/>
            <a:ext cx="5257800" cy="749808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" y="4672584"/>
            <a:ext cx="438912" cy="438912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2104" y="4672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399032" y="4517136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&amp; Handsets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85800" y="5431536"/>
            <a:ext cx="5257800" cy="749808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2104" y="5586984"/>
            <a:ext cx="438912" cy="438912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32104" y="5586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399032" y="5431536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217920" y="1773936"/>
            <a:ext cx="5257800" cy="749808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64224" y="1929384"/>
            <a:ext cx="438912" cy="438912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64224" y="1929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931152" y="1773936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Insurance / HMOs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6217920" y="2688336"/>
            <a:ext cx="5257800" cy="749808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64224" y="2843784"/>
            <a:ext cx="438912" cy="438912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364224" y="28437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931152" y="2688336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Automobile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6217920" y="3602736"/>
            <a:ext cx="5257800" cy="749808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64224" y="3758184"/>
            <a:ext cx="438912" cy="438912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364224" y="37581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931152" y="3602736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</a:t>
            </a:r>
            <a:endParaRPr lang="en-US" sz="1450" dirty="0"/>
          </a:p>
        </p:txBody>
      </p:sp>
      <p:sp>
        <p:nvSpPr>
          <p:cNvPr id="37" name="Shape 35"/>
          <p:cNvSpPr/>
          <p:nvPr/>
        </p:nvSpPr>
        <p:spPr>
          <a:xfrm>
            <a:off x="6217920" y="4517136"/>
            <a:ext cx="5257800" cy="749808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64224" y="4672584"/>
            <a:ext cx="438912" cy="438912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364224" y="4672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931152" y="4517136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&amp; Energy</a:t>
            </a:r>
            <a:endParaRPr lang="en-US" sz="1450" dirty="0"/>
          </a:p>
        </p:txBody>
      </p:sp>
      <p:sp>
        <p:nvSpPr>
          <p:cNvPr id="41" name="Shape 39"/>
          <p:cNvSpPr/>
          <p:nvPr/>
        </p:nvSpPr>
        <p:spPr>
          <a:xfrm>
            <a:off x="6217920" y="5431536"/>
            <a:ext cx="5257800" cy="749808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64224" y="5586984"/>
            <a:ext cx="438912" cy="438912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364224" y="5586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6931152" y="5431536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145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ICONS AFRICA  •  ASIKO TV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9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 OF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 &amp; Lifestyle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11–20 of 30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773936"/>
            <a:ext cx="5257800" cy="749808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2104" y="1929384"/>
            <a:ext cx="438912" cy="438912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32104" y="1929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99032" y="1773936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Alcoholic Beverages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85800" y="2688336"/>
            <a:ext cx="5257800" cy="749808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2104" y="2843784"/>
            <a:ext cx="438912" cy="438912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2104" y="28437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99032" y="2688336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Non-Alcoholic Beverages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85800" y="3602736"/>
            <a:ext cx="5257800" cy="749808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" y="3758184"/>
            <a:ext cx="438912" cy="438912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2104" y="37581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99032" y="3602736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85800" y="4517136"/>
            <a:ext cx="5257800" cy="749808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" y="4672584"/>
            <a:ext cx="438912" cy="438912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2104" y="4672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399032" y="4517136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&amp; Personal Care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85800" y="5431536"/>
            <a:ext cx="5257800" cy="749808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2104" y="5586984"/>
            <a:ext cx="438912" cy="438912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32104" y="5586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399032" y="5431536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217920" y="1773936"/>
            <a:ext cx="5257800" cy="749808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64224" y="1929384"/>
            <a:ext cx="438912" cy="438912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64224" y="1929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931152" y="1773936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6217920" y="2688336"/>
            <a:ext cx="5257800" cy="749808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64224" y="2843784"/>
            <a:ext cx="438912" cy="438912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364224" y="28437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931152" y="2688336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Betting &amp; Gaming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6217920" y="3602736"/>
            <a:ext cx="5257800" cy="749808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64224" y="3758184"/>
            <a:ext cx="438912" cy="438912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364224" y="37581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931152" y="3602736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Airlines</a:t>
            </a:r>
            <a:endParaRPr lang="en-US" sz="1450" dirty="0"/>
          </a:p>
        </p:txBody>
      </p:sp>
      <p:sp>
        <p:nvSpPr>
          <p:cNvPr id="37" name="Shape 35"/>
          <p:cNvSpPr/>
          <p:nvPr/>
        </p:nvSpPr>
        <p:spPr>
          <a:xfrm>
            <a:off x="6217920" y="4517136"/>
            <a:ext cx="5257800" cy="749808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64224" y="4672584"/>
            <a:ext cx="438912" cy="438912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364224" y="4672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931152" y="4517136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&amp; Tourism</a:t>
            </a:r>
            <a:endParaRPr lang="en-US" sz="1450" dirty="0"/>
          </a:p>
        </p:txBody>
      </p:sp>
      <p:sp>
        <p:nvSpPr>
          <p:cNvPr id="41" name="Shape 39"/>
          <p:cNvSpPr/>
          <p:nvPr/>
        </p:nvSpPr>
        <p:spPr>
          <a:xfrm>
            <a:off x="6217920" y="5431536"/>
            <a:ext cx="5257800" cy="749808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64224" y="5586984"/>
            <a:ext cx="438912" cy="438912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364224" y="5586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6931152" y="5431536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Diaspora Remittance</a:t>
            </a:r>
            <a:endParaRPr lang="en-US" sz="145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ICONS AFRICA  •  ASIKO TV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9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 OF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Health, Public &amp; Institutional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21–30 of 30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773936"/>
            <a:ext cx="5257800" cy="749808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2104" y="1929384"/>
            <a:ext cx="438912" cy="438912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32104" y="1929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99032" y="1773936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Tech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85800" y="2688336"/>
            <a:ext cx="5257800" cy="749808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2104" y="2843784"/>
            <a:ext cx="438912" cy="438912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2104" y="28437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99032" y="2688336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Tourism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85800" y="3602736"/>
            <a:ext cx="5257800" cy="749808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" y="3758184"/>
            <a:ext cx="438912" cy="438912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2104" y="37581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99032" y="3602736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85800" y="4517136"/>
            <a:ext cx="5257800" cy="749808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" y="4672584"/>
            <a:ext cx="438912" cy="438912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2104" y="4672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399032" y="4517136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85800" y="5431536"/>
            <a:ext cx="5257800" cy="749808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2104" y="5586984"/>
            <a:ext cx="438912" cy="438912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32104" y="5586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399032" y="5431536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217920" y="1773936"/>
            <a:ext cx="5257800" cy="749808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64224" y="1929384"/>
            <a:ext cx="438912" cy="438912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64224" y="1929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931152" y="1773936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Faith-Based Organizations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6217920" y="2688336"/>
            <a:ext cx="5257800" cy="749808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64224" y="2843784"/>
            <a:ext cx="438912" cy="438912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364224" y="28437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931152" y="2688336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Governments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6217920" y="3602736"/>
            <a:ext cx="5257800" cy="749808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64224" y="3758184"/>
            <a:ext cx="438912" cy="438912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364224" y="37581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931152" y="3602736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Institutes &amp; Diplomatic Missions</a:t>
            </a:r>
            <a:endParaRPr lang="en-US" sz="1450" dirty="0"/>
          </a:p>
        </p:txBody>
      </p:sp>
      <p:sp>
        <p:nvSpPr>
          <p:cNvPr id="37" name="Shape 35"/>
          <p:cNvSpPr/>
          <p:nvPr/>
        </p:nvSpPr>
        <p:spPr>
          <a:xfrm>
            <a:off x="6217920" y="4517136"/>
            <a:ext cx="5257800" cy="749808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64224" y="4672584"/>
            <a:ext cx="438912" cy="438912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364224" y="4672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931152" y="4517136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Platforms</a:t>
            </a:r>
            <a:endParaRPr lang="en-US" sz="1450" dirty="0"/>
          </a:p>
        </p:txBody>
      </p:sp>
      <p:sp>
        <p:nvSpPr>
          <p:cNvPr id="41" name="Shape 39"/>
          <p:cNvSpPr/>
          <p:nvPr/>
        </p:nvSpPr>
        <p:spPr>
          <a:xfrm>
            <a:off x="6217920" y="5431536"/>
            <a:ext cx="5257800" cy="749808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64224" y="5586984"/>
            <a:ext cx="438912" cy="438912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364224" y="5586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6931152" y="5431536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Fairs &amp; Trade Expos</a:t>
            </a:r>
            <a:endParaRPr lang="en-US" sz="145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ICONS AFRICA  •  ASIKO TV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9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05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Taking the model to market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39112"/>
            <a:ext cx="502920" cy="502920"/>
          </a:xfrm>
          <a:prstGeom prst="ellipse">
            <a:avLst/>
          </a:prstGeom>
          <a:solidFill>
            <a:srgbClr val="05050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039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9659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sectors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577840" y="196596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the 30 categories by fastest close and highest ad spend (telecom, fintech, banking, FMCG, beverages first).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907792"/>
            <a:ext cx="11064240" cy="0"/>
          </a:xfrm>
          <a:prstGeom prst="line">
            <a:avLst/>
          </a:prstGeom>
          <a:noFill/>
          <a:ln w="12700">
            <a:solidFill>
              <a:srgbClr val="E4E0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090672"/>
            <a:ext cx="502920" cy="502920"/>
          </a:xfrm>
          <a:prstGeom prst="ellipse">
            <a:avLst/>
          </a:prstGeom>
          <a:solidFill>
            <a:srgbClr val="05050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090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0175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leader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577840" y="301752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single dominant, market-leading brand to approach in each category before outreach begins.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59352"/>
            <a:ext cx="11064240" cy="0"/>
          </a:xfrm>
          <a:prstGeom prst="line">
            <a:avLst/>
          </a:prstGeom>
          <a:noFill/>
          <a:ln w="12700">
            <a:solidFill>
              <a:srgbClr val="E4E0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142232"/>
            <a:ext cx="502920" cy="502920"/>
          </a:xfrm>
          <a:prstGeom prst="ellipse">
            <a:avLst/>
          </a:prstGeom>
          <a:solidFill>
            <a:srgbClr val="05050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142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40690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the exclusivity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577840" y="406908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category-exclusive rate cards above standard spot rates, tied to channel reach and placement mix.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010912"/>
            <a:ext cx="11064240" cy="0"/>
          </a:xfrm>
          <a:prstGeom prst="line">
            <a:avLst/>
          </a:prstGeom>
          <a:noFill/>
          <a:ln w="12700">
            <a:solidFill>
              <a:srgbClr val="E4E0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5193792"/>
            <a:ext cx="502920" cy="502920"/>
          </a:xfrm>
          <a:prstGeom prst="ellipse">
            <a:avLst/>
          </a:prstGeom>
          <a:solidFill>
            <a:srgbClr val="05050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193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51206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industry bodies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577840" y="512064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the framework to MIPAN, ADVAN and EXMAN to build early credibility and pipeline.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ICONS AFRICA  •  ASIKO TV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2026-09-02T15:05:04Z</dcterms:created>
  <dcterms:modified xsi:type="dcterms:W3CDTF">2026-09-02T15:05:04Z</dcterms:modified>
</cp:coreProperties>
</file>