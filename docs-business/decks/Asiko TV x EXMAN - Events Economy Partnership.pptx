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731520" y="1417320"/>
            <a:ext cx="9144000" cy="320040"/>
          </a:xfrm>
          <a:prstGeom prst="rect">
            <a:avLst/>
          </a:prstGeom>
          <a:noFill/>
          <a:ln/>
        </p:spPr>
        <p:txBody>
          <a:bodyPr wrap="square" lIns="0" tIns="0" rIns="0" bIns="0" rtlCol="0" anchor="ctr"/>
          <a:lstStyle/>
          <a:p>
            <a:pPr indent="0" marL="0">
              <a:buNone/>
            </a:pPr>
            <a:r>
              <a:rPr lang="en-US" sz="1200" b="1" spc="300" kern="0" dirty="0">
                <a:solidFill>
                  <a:srgbClr val="C99632"/>
                </a:solidFill>
                <a:latin typeface="Calibri" pitchFamily="34" charset="0"/>
                <a:ea typeface="Calibri" pitchFamily="34" charset="-122"/>
                <a:cs typeface="Calibri" pitchFamily="34" charset="-120"/>
              </a:rPr>
              <a:t>MEDIA ICONS AFRICA  ·  ASIKO TV STRATEGY BRIEF</a:t>
            </a:r>
            <a:endParaRPr lang="en-US" sz="1200" dirty="0"/>
          </a:p>
        </p:txBody>
      </p:sp>
      <p:sp>
        <p:nvSpPr>
          <p:cNvPr id="3" name="Text 1"/>
          <p:cNvSpPr txBox="1"/>
          <p:nvPr/>
        </p:nvSpPr>
        <p:spPr>
          <a:xfrm>
            <a:off x="713232" y="1874520"/>
            <a:ext cx="10515600" cy="2103120"/>
          </a:xfrm>
          <a:prstGeom prst="rect">
            <a:avLst/>
          </a:prstGeom>
          <a:noFill/>
          <a:ln/>
        </p:spPr>
        <p:txBody>
          <a:bodyPr wrap="square" lIns="0" tIns="0" rIns="0" bIns="0" rtlCol="0" anchor="ctr"/>
          <a:lstStyle/>
          <a:p>
            <a:pPr indent="0" marL="0">
              <a:lnSpc>
                <a:spcPct val="105000"/>
              </a:lnSpc>
              <a:buNone/>
            </a:pPr>
            <a:r>
              <a:rPr lang="en-US" sz="4600" b="1" dirty="0">
                <a:solidFill>
                  <a:srgbClr val="F4F1EA"/>
                </a:solidFill>
                <a:latin typeface="Cambria" pitchFamily="34" charset="0"/>
                <a:ea typeface="Cambria" pitchFamily="34" charset="-122"/>
                <a:cs typeface="Cambria" pitchFamily="34" charset="-120"/>
              </a:rPr>
              <a:t>Owning Nigeria's Events</a:t>
            </a:r>
            <a:endParaRPr lang="en-US" sz="4600" dirty="0"/>
          </a:p>
          <a:p>
            <a:pPr indent="0" marL="0">
              <a:lnSpc>
                <a:spcPct val="105000"/>
              </a:lnSpc>
              <a:buNone/>
            </a:pPr>
            <a:r>
              <a:rPr lang="en-US" sz="4600" b="1" dirty="0">
                <a:solidFill>
                  <a:srgbClr val="F4F1EA"/>
                </a:solidFill>
                <a:latin typeface="Cambria" pitchFamily="34" charset="0"/>
                <a:ea typeface="Cambria" pitchFamily="34" charset="-122"/>
                <a:cs typeface="Cambria" pitchFamily="34" charset="-120"/>
              </a:rPr>
              <a:t>Economy, Together</a:t>
            </a:r>
            <a:endParaRPr lang="en-US" sz="4600" dirty="0"/>
          </a:p>
        </p:txBody>
      </p:sp>
      <p:sp>
        <p:nvSpPr>
          <p:cNvPr id="4" name="Text 2"/>
          <p:cNvSpPr txBox="1"/>
          <p:nvPr/>
        </p:nvSpPr>
        <p:spPr>
          <a:xfrm>
            <a:off x="731520" y="3977640"/>
            <a:ext cx="9601200" cy="731520"/>
          </a:xfrm>
          <a:prstGeom prst="rect">
            <a:avLst/>
          </a:prstGeom>
          <a:noFill/>
          <a:ln/>
        </p:spPr>
        <p:txBody>
          <a:bodyPr wrap="square" lIns="0" tIns="0" rIns="0" bIns="0" rtlCol="0" anchor="ctr"/>
          <a:lstStyle/>
          <a:p>
            <a:pPr indent="0" marL="0">
              <a:lnSpc>
                <a:spcPct val="120000"/>
              </a:lnSpc>
              <a:buNone/>
            </a:pPr>
            <a:r>
              <a:rPr lang="en-US" sz="1500" i="1" dirty="0">
                <a:solidFill>
                  <a:srgbClr val="F1D28A"/>
                </a:solidFill>
                <a:latin typeface="Calibri" pitchFamily="34" charset="0"/>
                <a:ea typeface="Calibri" pitchFamily="34" charset="-122"/>
                <a:cs typeface="Calibri" pitchFamily="34" charset="-120"/>
              </a:rPr>
              <a:t>A sponsorship, media-inventory and streaming partnership between Asiko TV</a:t>
            </a:r>
            <a:endParaRPr lang="en-US" sz="1500" dirty="0"/>
          </a:p>
          <a:p>
            <a:pPr indent="0" marL="0">
              <a:lnSpc>
                <a:spcPct val="120000"/>
              </a:lnSpc>
              <a:buNone/>
            </a:pPr>
            <a:r>
              <a:rPr lang="en-US" sz="1500" i="1" dirty="0">
                <a:solidFill>
                  <a:srgbClr val="F1D28A"/>
                </a:solidFill>
                <a:latin typeface="Calibri" pitchFamily="34" charset="0"/>
                <a:ea typeface="Calibri" pitchFamily="34" charset="-122"/>
                <a:cs typeface="Calibri" pitchFamily="34" charset="-120"/>
              </a:rPr>
              <a:t>and the Experiential Marketers Association of Nigeria (EXMAN)</a:t>
            </a:r>
            <a:endParaRPr lang="en-US" sz="1500" dirty="0"/>
          </a:p>
        </p:txBody>
      </p:sp>
      <p:sp>
        <p:nvSpPr>
          <p:cNvPr id="5" name="Shape 3"/>
          <p:cNvSpPr/>
          <p:nvPr/>
        </p:nvSpPr>
        <p:spPr>
          <a:xfrm>
            <a:off x="731520" y="4892040"/>
            <a:ext cx="2011680" cy="0"/>
          </a:xfrm>
          <a:prstGeom prst="line">
            <a:avLst/>
          </a:prstGeom>
          <a:noFill/>
          <a:ln w="19050">
            <a:solidFill>
              <a:srgbClr val="C99632"/>
            </a:solidFill>
            <a:prstDash val="solid"/>
          </a:ln>
        </p:spPr>
      </p:sp>
      <p:sp>
        <p:nvSpPr>
          <p:cNvPr id="6" name="Text 4"/>
          <p:cNvSpPr txBox="1"/>
          <p:nvPr/>
        </p:nvSpPr>
        <p:spPr>
          <a:xfrm>
            <a:off x="731520" y="5989320"/>
            <a:ext cx="7315200" cy="274320"/>
          </a:xfrm>
          <a:prstGeom prst="rect">
            <a:avLst/>
          </a:prstGeom>
          <a:noFill/>
          <a:ln/>
        </p:spPr>
        <p:txBody>
          <a:bodyPr wrap="square" lIns="0" tIns="0" rIns="0" bIns="0" rtlCol="0" anchor="ctr"/>
          <a:lstStyle/>
          <a:p>
            <a:pPr indent="0" marL="0">
              <a:buNone/>
            </a:pPr>
            <a:r>
              <a:rPr lang="en-US" sz="1100" dirty="0">
                <a:solidFill>
                  <a:srgbClr val="9C9788"/>
                </a:solidFill>
                <a:latin typeface="Calibri" pitchFamily="34" charset="0"/>
                <a:ea typeface="Calibri" pitchFamily="34" charset="-122"/>
                <a:cs typeface="Calibri" pitchFamily="34" charset="-120"/>
              </a:rPr>
              <a:t>Prepared for John Idani Upah, Managing Director — Media Icons Africa</a:t>
            </a:r>
            <a:endParaRPr lang="en-US" sz="1100" dirty="0"/>
          </a:p>
        </p:txBody>
      </p:sp>
      <p:sp>
        <p:nvSpPr>
          <p:cNvPr id="7" name="Text 5"/>
          <p:cNvSpPr txBox="1"/>
          <p:nvPr/>
        </p:nvSpPr>
        <p:spPr>
          <a:xfrm>
            <a:off x="731520" y="6263640"/>
            <a:ext cx="7315200" cy="274320"/>
          </a:xfrm>
          <a:prstGeom prst="rect">
            <a:avLst/>
          </a:prstGeom>
          <a:noFill/>
          <a:ln/>
        </p:spPr>
        <p:txBody>
          <a:bodyPr wrap="square" lIns="0" tIns="0" rIns="0" bIns="0" rtlCol="0" anchor="ctr"/>
          <a:lstStyle/>
          <a:p>
            <a:pPr indent="0" marL="0">
              <a:buNone/>
            </a:pPr>
            <a:r>
              <a:rPr lang="en-US" sz="1100" dirty="0">
                <a:solidFill>
                  <a:srgbClr val="9C9788"/>
                </a:solidFill>
                <a:latin typeface="Calibri" pitchFamily="34" charset="0"/>
                <a:ea typeface="Calibri" pitchFamily="34" charset="-122"/>
                <a:cs typeface="Calibri" pitchFamily="34" charset="-120"/>
              </a:rPr>
              <a:t>September 2026</a:t>
            </a:r>
            <a:endParaRPr lang="en-US" sz="1100" dirty="0"/>
          </a:p>
        </p:txBody>
      </p:sp>
      <p:pic>
        <p:nvPicPr>
          <p:cNvPr id="8" name="Image 0" descr="/home/claude/exman-deck/icons/wine_gold.png">    </p:cNvPr>
          <p:cNvPicPr>
            <a:picLocks noChangeAspect="1"/>
          </p:cNvPicPr>
          <p:nvPr/>
        </p:nvPicPr>
        <p:blipFill>
          <a:blip r:embed="rId1">
            <a:alphaModFix amt="85000"/>
          </a:blip>
          <a:stretch>
            <a:fillRect/>
          </a:stretch>
        </p:blipFill>
        <p:spPr>
          <a:xfrm>
            <a:off x="10515600" y="64008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OPPORTUNITY</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One Body Can Aggregate an Entire Industry's Media Inventory</a:t>
            </a:r>
            <a:endParaRPr lang="en-US" sz="3000" dirty="0"/>
          </a:p>
        </p:txBody>
      </p:sp>
      <p:sp>
        <p:nvSpPr>
          <p:cNvPr id="4" name="Text 2"/>
          <p:cNvSpPr txBox="1"/>
          <p:nvPr/>
        </p:nvSpPr>
        <p:spPr>
          <a:xfrm>
            <a:off x="548640" y="1417320"/>
            <a:ext cx="6492240" cy="2377440"/>
          </a:xfrm>
          <a:prstGeom prst="rect">
            <a:avLst/>
          </a:prstGeom>
          <a:noFill/>
          <a:ln/>
        </p:spPr>
        <p:txBody>
          <a:bodyPr wrap="square" lIns="0" tIns="0" rIns="0" bIns="0" rtlCol="0" anchor="ctr"/>
          <a:lstStyle/>
          <a:p>
            <a:pPr indent="0" marL="0">
              <a:lnSpc>
                <a:spcPct val="135000"/>
              </a:lnSpc>
              <a:buNone/>
            </a:pPr>
            <a:r>
              <a:rPr lang="en-US" sz="1400" dirty="0">
                <a:solidFill>
                  <a:srgbClr val="201C15"/>
                </a:solidFill>
                <a:latin typeface="Calibri" pitchFamily="34" charset="0"/>
                <a:ea typeface="Calibri" pitchFamily="34" charset="-122"/>
                <a:cs typeface="Calibri" pitchFamily="34" charset="-120"/>
              </a:rPr>
              <a:t>Nigeria's experiential and events industry runs hundreds of activations, festivals and brand experiences every year — but sells sponsorship and media inventory deal-by-deal, agency-by-agency. There is no aggregated marketplace for it. Asiko TV already sells category-exclusive sponsorships and has proven the model live, through Wines of South Africa and Dîner en Blanc Lagos. EXMAN is the one body positioned to hand us that aggregation at industry scale.</a:t>
            </a:r>
            <a:endParaRPr lang="en-US" sz="1400" dirty="0"/>
          </a:p>
        </p:txBody>
      </p:sp>
      <p:sp>
        <p:nvSpPr>
          <p:cNvPr id="5" name="Shape 3"/>
          <p:cNvSpPr/>
          <p:nvPr/>
        </p:nvSpPr>
        <p:spPr>
          <a:xfrm>
            <a:off x="548640" y="3977640"/>
            <a:ext cx="10241280" cy="1417320"/>
          </a:xfrm>
          <a:prstGeom prst="roundRect">
            <a:avLst>
              <a:gd name="adj" fmla="val 5161"/>
            </a:avLst>
          </a:prstGeom>
          <a:solidFill>
            <a:srgbClr val="FBF8F0"/>
          </a:solidFill>
          <a:ln w="12700">
            <a:solidFill>
              <a:srgbClr val="E4DECE"/>
            </a:solidFill>
            <a:prstDash val="solid"/>
          </a:ln>
        </p:spPr>
      </p:sp>
      <p:sp>
        <p:nvSpPr>
          <p:cNvPr id="6" name="Text 4"/>
          <p:cNvSpPr txBox="1"/>
          <p:nvPr/>
        </p:nvSpPr>
        <p:spPr>
          <a:xfrm>
            <a:off x="868680" y="4187952"/>
            <a:ext cx="3657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ASK</a:t>
            </a:r>
            <a:endParaRPr lang="en-US" sz="1100" dirty="0"/>
          </a:p>
        </p:txBody>
      </p:sp>
      <p:sp>
        <p:nvSpPr>
          <p:cNvPr id="7" name="Text 5"/>
          <p:cNvSpPr txBox="1"/>
          <p:nvPr/>
        </p:nvSpPr>
        <p:spPr>
          <a:xfrm>
            <a:off x="868680" y="4498848"/>
            <a:ext cx="9601200" cy="777240"/>
          </a:xfrm>
          <a:prstGeom prst="rect">
            <a:avLst/>
          </a:prstGeom>
          <a:noFill/>
          <a:ln/>
        </p:spPr>
        <p:txBody>
          <a:bodyPr wrap="square" lIns="0" tIns="0" rIns="0" bIns="0" rtlCol="0" anchor="ctr"/>
          <a:lstStyle/>
          <a:p>
            <a:pPr indent="0" marL="0">
              <a:lnSpc>
                <a:spcPct val="125000"/>
              </a:lnSpc>
              <a:buNone/>
            </a:pPr>
            <a:r>
              <a:rPr lang="en-US" sz="1400" dirty="0">
                <a:solidFill>
                  <a:srgbClr val="201C15"/>
                </a:solidFill>
                <a:latin typeface="Calibri" pitchFamily="34" charset="0"/>
                <a:ea typeface="Calibri" pitchFamily="34" charset="-122"/>
                <a:cs typeface="Calibri" pitchFamily="34" charset="-120"/>
              </a:rPr>
              <a:t>Partner with EXMAN to become the association's preferred sponsorship-sales, media-curation and streaming partner — turning every member event into content, cash and channel inventory for Asiko TV.</a:t>
            </a:r>
            <a:endParaRPr lang="en-US" sz="1400" dirty="0"/>
          </a:p>
        </p:txBody>
      </p:sp>
      <p:sp>
        <p:nvSpPr>
          <p:cNvPr id="8" name="Text 6"/>
          <p:cNvSpPr txBox="1"/>
          <p:nvPr/>
        </p:nvSpPr>
        <p:spPr>
          <a:xfrm>
            <a:off x="7635240" y="1417320"/>
            <a:ext cx="1371600" cy="594360"/>
          </a:xfrm>
          <a:prstGeom prst="rect">
            <a:avLst/>
          </a:prstGeom>
          <a:noFill/>
          <a:ln/>
        </p:spPr>
        <p:txBody>
          <a:bodyPr wrap="square" lIns="0" tIns="0" rIns="0" bIns="0" rtlCol="0" anchor="ctr"/>
          <a:lstStyle/>
          <a:p>
            <a:pPr indent="0" marL="0">
              <a:buNone/>
            </a:pPr>
            <a:r>
              <a:rPr lang="en-US" sz="3200" b="1" dirty="0">
                <a:solidFill>
                  <a:srgbClr val="C99632"/>
                </a:solidFill>
                <a:latin typeface="Cambria" pitchFamily="34" charset="0"/>
                <a:ea typeface="Cambria" pitchFamily="34" charset="-122"/>
                <a:cs typeface="Cambria" pitchFamily="34" charset="-120"/>
              </a:rPr>
              <a:t>50+</a:t>
            </a:r>
            <a:endParaRPr lang="en-US" sz="3200" dirty="0"/>
          </a:p>
        </p:txBody>
      </p:sp>
      <p:sp>
        <p:nvSpPr>
          <p:cNvPr id="9" name="Text 7"/>
          <p:cNvSpPr txBox="1"/>
          <p:nvPr/>
        </p:nvSpPr>
        <p:spPr>
          <a:xfrm>
            <a:off x="8549640" y="1444752"/>
            <a:ext cx="2834640" cy="548640"/>
          </a:xfrm>
          <a:prstGeom prst="rect">
            <a:avLst/>
          </a:prstGeom>
          <a:noFill/>
          <a:ln/>
        </p:spPr>
        <p:txBody>
          <a:bodyPr wrap="square" lIns="0" tIns="0" rIns="0" bIns="0" rtlCol="0" anchor="ctr"/>
          <a:lstStyle/>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EXMAN member</a:t>
            </a:r>
            <a:endParaRPr lang="en-US" sz="1050" dirty="0"/>
          </a:p>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agencies to reach</a:t>
            </a:r>
            <a:endParaRPr lang="en-US" sz="1050" dirty="0"/>
          </a:p>
        </p:txBody>
      </p:sp>
      <p:sp>
        <p:nvSpPr>
          <p:cNvPr id="10" name="Text 8"/>
          <p:cNvSpPr txBox="1"/>
          <p:nvPr/>
        </p:nvSpPr>
        <p:spPr>
          <a:xfrm>
            <a:off x="7635240" y="2194560"/>
            <a:ext cx="1371600" cy="594360"/>
          </a:xfrm>
          <a:prstGeom prst="rect">
            <a:avLst/>
          </a:prstGeom>
          <a:noFill/>
          <a:ln/>
        </p:spPr>
        <p:txBody>
          <a:bodyPr wrap="square" lIns="0" tIns="0" rIns="0" bIns="0" rtlCol="0" anchor="ctr"/>
          <a:lstStyle/>
          <a:p>
            <a:pPr indent="0" marL="0">
              <a:buNone/>
            </a:pPr>
            <a:r>
              <a:rPr lang="en-US" sz="3200" b="1" dirty="0">
                <a:solidFill>
                  <a:srgbClr val="C99632"/>
                </a:solidFill>
                <a:latin typeface="Cambria" pitchFamily="34" charset="0"/>
                <a:ea typeface="Cambria" pitchFamily="34" charset="-122"/>
                <a:cs typeface="Cambria" pitchFamily="34" charset="-120"/>
              </a:rPr>
              <a:t>3</a:t>
            </a:r>
            <a:endParaRPr lang="en-US" sz="3200" dirty="0"/>
          </a:p>
        </p:txBody>
      </p:sp>
      <p:sp>
        <p:nvSpPr>
          <p:cNvPr id="11" name="Text 9"/>
          <p:cNvSpPr txBox="1"/>
          <p:nvPr/>
        </p:nvSpPr>
        <p:spPr>
          <a:xfrm>
            <a:off x="8549640" y="2221992"/>
            <a:ext cx="2834640" cy="548640"/>
          </a:xfrm>
          <a:prstGeom prst="rect">
            <a:avLst/>
          </a:prstGeom>
          <a:noFill/>
          <a:ln/>
        </p:spPr>
        <p:txBody>
          <a:bodyPr wrap="square" lIns="0" tIns="0" rIns="0" bIns="0" rtlCol="0" anchor="ctr"/>
          <a:lstStyle/>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revenue lines: sponsorship,</a:t>
            </a:r>
            <a:endParaRPr lang="en-US" sz="1050" dirty="0"/>
          </a:p>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media, streaming</a:t>
            </a:r>
            <a:endParaRPr lang="en-US" sz="1050" dirty="0"/>
          </a:p>
        </p:txBody>
      </p:sp>
      <p:sp>
        <p:nvSpPr>
          <p:cNvPr id="12" name="Text 10"/>
          <p:cNvSpPr txBox="1"/>
          <p:nvPr/>
        </p:nvSpPr>
        <p:spPr>
          <a:xfrm>
            <a:off x="7635240" y="2971800"/>
            <a:ext cx="1371600" cy="594360"/>
          </a:xfrm>
          <a:prstGeom prst="rect">
            <a:avLst/>
          </a:prstGeom>
          <a:noFill/>
          <a:ln/>
        </p:spPr>
        <p:txBody>
          <a:bodyPr wrap="square" lIns="0" tIns="0" rIns="0" bIns="0" rtlCol="0" anchor="ctr"/>
          <a:lstStyle/>
          <a:p>
            <a:pPr indent="0" marL="0">
              <a:buNone/>
            </a:pPr>
            <a:r>
              <a:rPr lang="en-US" sz="3200" b="1" dirty="0">
                <a:solidFill>
                  <a:srgbClr val="C99632"/>
                </a:solidFill>
                <a:latin typeface="Cambria" pitchFamily="34" charset="0"/>
                <a:ea typeface="Cambria" pitchFamily="34" charset="-122"/>
                <a:cs typeface="Cambria" pitchFamily="34" charset="-120"/>
              </a:rPr>
              <a:t>1</a:t>
            </a:r>
            <a:endParaRPr lang="en-US" sz="3200" dirty="0"/>
          </a:p>
        </p:txBody>
      </p:sp>
      <p:sp>
        <p:nvSpPr>
          <p:cNvPr id="13" name="Text 11"/>
          <p:cNvSpPr txBox="1"/>
          <p:nvPr/>
        </p:nvSpPr>
        <p:spPr>
          <a:xfrm>
            <a:off x="8549640" y="2999232"/>
            <a:ext cx="2834640" cy="548640"/>
          </a:xfrm>
          <a:prstGeom prst="rect">
            <a:avLst/>
          </a:prstGeom>
          <a:noFill/>
          <a:ln/>
        </p:spPr>
        <p:txBody>
          <a:bodyPr wrap="square" lIns="0" tIns="0" rIns="0" bIns="0" rtlCol="0" anchor="ctr"/>
          <a:lstStyle/>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warm relationship</a:t>
            </a:r>
            <a:endParaRPr lang="en-US" sz="1050" dirty="0"/>
          </a:p>
          <a:p>
            <a:pPr indent="0" marL="0">
              <a:lnSpc>
                <a:spcPct val="110000"/>
              </a:lnSpc>
              <a:buNone/>
            </a:pPr>
            <a:r>
              <a:rPr lang="en-US" sz="1050" dirty="0">
                <a:solidFill>
                  <a:srgbClr val="6E6A60"/>
                </a:solidFill>
                <a:latin typeface="Calibri" pitchFamily="34" charset="0"/>
                <a:ea typeface="Calibri" pitchFamily="34" charset="-122"/>
                <a:cs typeface="Calibri" pitchFamily="34" charset="-120"/>
              </a:rPr>
              <a:t>already open</a:t>
            </a:r>
            <a:endParaRPr lang="en-US" sz="1050" dirty="0"/>
          </a:p>
        </p:txBody>
      </p:sp>
      <p:sp>
        <p:nvSpPr>
          <p:cNvPr id="14" name="Shape 12"/>
          <p:cNvSpPr/>
          <p:nvPr/>
        </p:nvSpPr>
        <p:spPr>
          <a:xfrm>
            <a:off x="7269480" y="1417320"/>
            <a:ext cx="18288" cy="2423160"/>
          </a:xfrm>
          <a:prstGeom prst="rect">
            <a:avLst/>
          </a:prstGeom>
          <a:solidFill>
            <a:srgbClr val="E4DECE"/>
          </a:solidFill>
          <a:ln/>
        </p:spPr>
      </p:sp>
      <p:sp>
        <p:nvSpPr>
          <p:cNvPr id="15" name="Text 13"/>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02</a:t>
            </a:r>
            <a:endParaRPr lang="en-US" sz="900" dirty="0"/>
          </a:p>
        </p:txBody>
      </p:sp>
      <p:sp>
        <p:nvSpPr>
          <p:cNvPr id="16" name="Text 14"/>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PARTNER</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Why EXMAN Is the One Body to Own This With</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pic>
        <p:nvPicPr>
          <p:cNvPr id="5" name="Image 0" descr="/home/claude/exman-deck/icons/building_gold.png">    </p:cNvPr>
          <p:cNvPicPr>
            <a:picLocks noChangeAspect="1"/>
          </p:cNvPicPr>
          <p:nvPr/>
        </p:nvPicPr>
        <p:blipFill>
          <a:blip r:embed="rId1"/>
          <a:stretch>
            <a:fillRect/>
          </a:stretch>
        </p:blipFill>
        <p:spPr>
          <a:xfrm>
            <a:off x="548640" y="1691640"/>
            <a:ext cx="502920" cy="502920"/>
          </a:xfrm>
          <a:prstGeom prst="rect">
            <a:avLst/>
          </a:prstGeom>
        </p:spPr>
      </p:pic>
      <p:sp>
        <p:nvSpPr>
          <p:cNvPr id="6" name="Text 3"/>
          <p:cNvSpPr txBox="1"/>
          <p:nvPr/>
        </p:nvSpPr>
        <p:spPr>
          <a:xfrm>
            <a:off x="1188720" y="1737360"/>
            <a:ext cx="4572000" cy="365760"/>
          </a:xfrm>
          <a:prstGeom prst="rect">
            <a:avLst/>
          </a:prstGeom>
          <a:noFill/>
          <a:ln/>
        </p:spPr>
        <p:txBody>
          <a:bodyPr wrap="square" lIns="0" tIns="0" rIns="0" bIns="0" rtlCol="0" anchor="ctr"/>
          <a:lstStyle/>
          <a:p>
            <a:pPr indent="0" marL="0">
              <a:buNone/>
            </a:pPr>
            <a:r>
              <a:rPr lang="en-US" sz="1800" b="1" dirty="0">
                <a:solidFill>
                  <a:srgbClr val="201C15"/>
                </a:solidFill>
                <a:latin typeface="Cambria" pitchFamily="34" charset="0"/>
                <a:ea typeface="Cambria" pitchFamily="34" charset="-122"/>
                <a:cs typeface="Cambria" pitchFamily="34" charset="-120"/>
              </a:rPr>
              <a:t>What EXMAN Is</a:t>
            </a:r>
            <a:endParaRPr lang="en-US" sz="1800" dirty="0"/>
          </a:p>
        </p:txBody>
      </p:sp>
      <p:sp>
        <p:nvSpPr>
          <p:cNvPr id="7" name="Text 4"/>
          <p:cNvSpPr txBox="1"/>
          <p:nvPr/>
        </p:nvSpPr>
        <p:spPr>
          <a:xfrm>
            <a:off x="548640" y="2240280"/>
            <a:ext cx="5212080" cy="3840480"/>
          </a:xfrm>
          <a:prstGeom prst="rect">
            <a:avLst/>
          </a:prstGeom>
          <a:noFill/>
          <a:ln/>
        </p:spPr>
        <p:txBody>
          <a:bodyPr wrap="square" lIns="0" tIns="0" rIns="0" bIns="0" rtlCol="0" anchor="ctr"/>
          <a:lstStyle/>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The Experiential Marketers Association of Nigeria — the industry body for experiential and events agencies</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50+ agency members, spanning activation, brand experience, event production and field marketing</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Sets industry pricing benchmarks, governance frameworks and codes of practice for the sector</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Three decades of convening the industry through AGMs, agency inductions and certification programmes</a:t>
            </a:r>
            <a:endParaRPr lang="en-US" sz="1300" dirty="0"/>
          </a:p>
        </p:txBody>
      </p:sp>
      <p:pic>
        <p:nvPicPr>
          <p:cNvPr id="8" name="Image 1" descr="/home/claude/exman-deck/icons/gem_gold.png">    </p:cNvPr>
          <p:cNvPicPr>
            <a:picLocks noChangeAspect="1"/>
          </p:cNvPicPr>
          <p:nvPr/>
        </p:nvPicPr>
        <p:blipFill>
          <a:blip r:embed="rId2"/>
          <a:stretch>
            <a:fillRect/>
          </a:stretch>
        </p:blipFill>
        <p:spPr>
          <a:xfrm>
            <a:off x="6309360" y="1691640"/>
            <a:ext cx="502920" cy="502920"/>
          </a:xfrm>
          <a:prstGeom prst="rect">
            <a:avLst/>
          </a:prstGeom>
        </p:spPr>
      </p:pic>
      <p:sp>
        <p:nvSpPr>
          <p:cNvPr id="9" name="Text 5"/>
          <p:cNvSpPr txBox="1"/>
          <p:nvPr/>
        </p:nvSpPr>
        <p:spPr>
          <a:xfrm>
            <a:off x="6949440" y="1737360"/>
            <a:ext cx="4754880" cy="365760"/>
          </a:xfrm>
          <a:prstGeom prst="rect">
            <a:avLst/>
          </a:prstGeom>
          <a:noFill/>
          <a:ln/>
        </p:spPr>
        <p:txBody>
          <a:bodyPr wrap="square" lIns="0" tIns="0" rIns="0" bIns="0" rtlCol="0" anchor="ctr"/>
          <a:lstStyle/>
          <a:p>
            <a:pPr indent="0" marL="0">
              <a:buNone/>
            </a:pPr>
            <a:r>
              <a:rPr lang="en-US" sz="1800" b="1" dirty="0">
                <a:solidFill>
                  <a:srgbClr val="201C15"/>
                </a:solidFill>
                <a:latin typeface="Cambria" pitchFamily="34" charset="0"/>
                <a:ea typeface="Cambria" pitchFamily="34" charset="-122"/>
                <a:cs typeface="Cambria" pitchFamily="34" charset="-120"/>
              </a:rPr>
              <a:t>Why That Matters to Asiko TV</a:t>
            </a:r>
            <a:endParaRPr lang="en-US" sz="1800" dirty="0"/>
          </a:p>
        </p:txBody>
      </p:sp>
      <p:sp>
        <p:nvSpPr>
          <p:cNvPr id="10" name="Text 6"/>
          <p:cNvSpPr txBox="1"/>
          <p:nvPr/>
        </p:nvSpPr>
        <p:spPr>
          <a:xfrm>
            <a:off x="6309360" y="2240280"/>
            <a:ext cx="5212080" cy="3840480"/>
          </a:xfrm>
          <a:prstGeom prst="rect">
            <a:avLst/>
          </a:prstGeom>
          <a:noFill/>
          <a:ln/>
        </p:spPr>
        <p:txBody>
          <a:bodyPr wrap="square" lIns="0" tIns="0" rIns="0" bIns="0" rtlCol="0" anchor="ctr"/>
          <a:lstStyle/>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One door to the whole industry, instead of chasing 50+ agencies one relationship at a time</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Institutional credibility — an EXMAN-endorsed partner is a very different pitch to a cold one</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An aggregated event calendar becomes aggregated media inventory we can package and sell</a:t>
            </a:r>
            <a:endParaRPr lang="en-US" sz="1300" dirty="0"/>
          </a:p>
          <a:p>
            <a:pPr marL="177800" indent="-177800">
              <a:lnSpc>
                <a:spcPct val="125000"/>
              </a:lnSpc>
              <a:spcAft>
                <a:spcPts val="1000"/>
              </a:spcAft>
              <a:buSzPct val="100000"/>
              <a:buChar char="•"/>
            </a:pPr>
            <a:r>
              <a:rPr lang="en-US" sz="1300" dirty="0">
                <a:solidFill>
                  <a:srgbClr val="201C15"/>
                </a:solidFill>
                <a:latin typeface="Calibri" pitchFamily="34" charset="0"/>
                <a:ea typeface="Calibri" pitchFamily="34" charset="-122"/>
                <a:cs typeface="Calibri" pitchFamily="34" charset="-120"/>
              </a:rPr>
              <a:t>A seat at the table as EXMAN formalises pricing standards — we help shape rules that favour us</a:t>
            </a:r>
            <a:endParaRPr lang="en-US" sz="1300" dirty="0"/>
          </a:p>
        </p:txBody>
      </p:sp>
      <p:sp>
        <p:nvSpPr>
          <p:cNvPr id="11" name="Text 7"/>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03</a:t>
            </a:r>
            <a:endParaRPr lang="en-US" sz="900" dirty="0"/>
          </a:p>
        </p:txBody>
      </p:sp>
      <p:sp>
        <p:nvSpPr>
          <p:cNvPr id="12" name="Text 8"/>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1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F1D28A"/>
                </a:solidFill>
                <a:latin typeface="Calibri" pitchFamily="34" charset="0"/>
                <a:ea typeface="Calibri" pitchFamily="34" charset="-122"/>
                <a:cs typeface="Calibri" pitchFamily="34" charset="-120"/>
              </a:rPr>
              <a:t>OUR ADVANTAGE</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We Already Have a Foot in the Door</a:t>
            </a:r>
            <a:endParaRPr lang="en-US" sz="3000" dirty="0"/>
          </a:p>
        </p:txBody>
      </p:sp>
      <p:sp>
        <p:nvSpPr>
          <p:cNvPr id="4" name="Text 2"/>
          <p:cNvSpPr txBox="1"/>
          <p:nvPr/>
        </p:nvSpPr>
        <p:spPr>
          <a:xfrm>
            <a:off x="548640" y="1463040"/>
            <a:ext cx="5760720" cy="2103120"/>
          </a:xfrm>
          <a:prstGeom prst="rect">
            <a:avLst/>
          </a:prstGeom>
          <a:noFill/>
          <a:ln/>
        </p:spPr>
        <p:txBody>
          <a:bodyPr wrap="square" lIns="0" tIns="0" rIns="0" bIns="0" rtlCol="0" anchor="ctr"/>
          <a:lstStyle/>
          <a:p>
            <a:pPr indent="0" marL="0">
              <a:lnSpc>
                <a:spcPct val="135000"/>
              </a:lnSpc>
              <a:buNone/>
            </a:pPr>
            <a:r>
              <a:rPr lang="en-US" sz="1400" dirty="0">
                <a:solidFill>
                  <a:srgbClr val="D8D3C4"/>
                </a:solidFill>
                <a:latin typeface="Calibri" pitchFamily="34" charset="0"/>
                <a:ea typeface="Calibri" pitchFamily="34" charset="-122"/>
                <a:cs typeface="Calibri" pitchFamily="34" charset="-120"/>
              </a:rPr>
              <a:t>Tolulope Medebem is EXMAN's President — and CEO of Aster Integrated Marketing (AsterIML), the very company that owns and markets Dîner en Blanc Lagos, where Media Icons Africa / Tattase TV is already an active media, streaming and sponsorship partner through Asiko TV.</a:t>
            </a:r>
            <a:endParaRPr lang="en-US" sz="1400" dirty="0"/>
          </a:p>
        </p:txBody>
      </p:sp>
      <p:sp>
        <p:nvSpPr>
          <p:cNvPr id="5" name="Shape 3"/>
          <p:cNvSpPr/>
          <p:nvPr/>
        </p:nvSpPr>
        <p:spPr>
          <a:xfrm>
            <a:off x="548640" y="3794760"/>
            <a:ext cx="5760720" cy="1691640"/>
          </a:xfrm>
          <a:prstGeom prst="roundRect">
            <a:avLst>
              <a:gd name="adj" fmla="val 4324"/>
            </a:avLst>
          </a:prstGeom>
          <a:solidFill>
            <a:srgbClr val="232320"/>
          </a:solidFill>
          <a:ln w="12700">
            <a:solidFill>
              <a:srgbClr val="3A3A34"/>
            </a:solidFill>
            <a:prstDash val="solid"/>
          </a:ln>
        </p:spPr>
      </p:sp>
      <p:sp>
        <p:nvSpPr>
          <p:cNvPr id="6" name="Text 4"/>
          <p:cNvSpPr txBox="1"/>
          <p:nvPr/>
        </p:nvSpPr>
        <p:spPr>
          <a:xfrm>
            <a:off x="822960" y="3977640"/>
            <a:ext cx="3657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IMPLICATION</a:t>
            </a:r>
            <a:endParaRPr lang="en-US" sz="1100" dirty="0"/>
          </a:p>
        </p:txBody>
      </p:sp>
      <p:sp>
        <p:nvSpPr>
          <p:cNvPr id="7" name="Text 5"/>
          <p:cNvSpPr txBox="1"/>
          <p:nvPr/>
        </p:nvSpPr>
        <p:spPr>
          <a:xfrm>
            <a:off x="822960" y="4279392"/>
            <a:ext cx="5212080" cy="1097280"/>
          </a:xfrm>
          <a:prstGeom prst="rect">
            <a:avLst/>
          </a:prstGeom>
          <a:noFill/>
          <a:ln/>
        </p:spPr>
        <p:txBody>
          <a:bodyPr wrap="square" lIns="0" tIns="0" rIns="0" bIns="0" rtlCol="0" anchor="ctr"/>
          <a:lstStyle/>
          <a:p>
            <a:pPr indent="0" marL="0">
              <a:lnSpc>
                <a:spcPct val="130000"/>
              </a:lnSpc>
              <a:buNone/>
            </a:pPr>
            <a:r>
              <a:rPr lang="en-US" sz="1300" dirty="0">
                <a:solidFill>
                  <a:srgbClr val="F4F1EA"/>
                </a:solidFill>
                <a:latin typeface="Calibri" pitchFamily="34" charset="0"/>
                <a:ea typeface="Calibri" pitchFamily="34" charset="-122"/>
                <a:cs typeface="Calibri" pitchFamily="34" charset="-120"/>
              </a:rPr>
              <a:t>This is a warm, relationship-led approach — not a cold institutional pitch. We lead with proven delivery on Dîner en Blanc Lagos, then extend the conversation into an EXMAN-wide partnership.</a:t>
            </a:r>
            <a:endParaRPr lang="en-US" sz="1300" dirty="0"/>
          </a:p>
        </p:txBody>
      </p:sp>
      <p:sp>
        <p:nvSpPr>
          <p:cNvPr id="8" name="Shape 6"/>
          <p:cNvSpPr/>
          <p:nvPr/>
        </p:nvSpPr>
        <p:spPr>
          <a:xfrm>
            <a:off x="7360920" y="1417320"/>
            <a:ext cx="4160520" cy="868680"/>
          </a:xfrm>
          <a:prstGeom prst="roundRect">
            <a:avLst>
              <a:gd name="adj" fmla="val 6316"/>
            </a:avLst>
          </a:prstGeom>
          <a:solidFill>
            <a:srgbClr val="0A0A0A"/>
          </a:solidFill>
          <a:ln w="12700">
            <a:solidFill>
              <a:srgbClr val="C99632"/>
            </a:solidFill>
            <a:prstDash val="solid"/>
          </a:ln>
        </p:spPr>
      </p:sp>
      <p:sp>
        <p:nvSpPr>
          <p:cNvPr id="9" name="Text 7"/>
          <p:cNvSpPr txBox="1"/>
          <p:nvPr/>
        </p:nvSpPr>
        <p:spPr>
          <a:xfrm>
            <a:off x="7589520" y="1508760"/>
            <a:ext cx="3703320" cy="365760"/>
          </a:xfrm>
          <a:prstGeom prst="rect">
            <a:avLst/>
          </a:prstGeom>
          <a:noFill/>
          <a:ln/>
        </p:spPr>
        <p:txBody>
          <a:bodyPr wrap="square" lIns="0" tIns="0" rIns="0" bIns="0" rtlCol="0" anchor="ctr"/>
          <a:lstStyle/>
          <a:p>
            <a:pPr indent="0" marL="0">
              <a:lnSpc>
                <a:spcPct val="105000"/>
              </a:lnSpc>
              <a:buNone/>
            </a:pPr>
            <a:r>
              <a:rPr lang="en-US" sz="1300" b="1" dirty="0">
                <a:solidFill>
                  <a:srgbClr val="F1D28A"/>
                </a:solidFill>
                <a:latin typeface="Cambria" pitchFamily="34" charset="0"/>
                <a:ea typeface="Cambria" pitchFamily="34" charset="-122"/>
                <a:cs typeface="Cambria" pitchFamily="34" charset="-120"/>
              </a:rPr>
              <a:t>Tolulope Medebem</a:t>
            </a:r>
            <a:endParaRPr lang="en-US" sz="1300" dirty="0"/>
          </a:p>
        </p:txBody>
      </p:sp>
      <p:sp>
        <p:nvSpPr>
          <p:cNvPr id="10" name="Text 8"/>
          <p:cNvSpPr txBox="1"/>
          <p:nvPr/>
        </p:nvSpPr>
        <p:spPr>
          <a:xfrm>
            <a:off x="7589520" y="1920240"/>
            <a:ext cx="3703320" cy="320040"/>
          </a:xfrm>
          <a:prstGeom prst="rect">
            <a:avLst/>
          </a:prstGeom>
          <a:noFill/>
          <a:ln/>
        </p:spPr>
        <p:txBody>
          <a:bodyPr wrap="square" lIns="0" tIns="0" rIns="0" bIns="0" rtlCol="0" anchor="ctr"/>
          <a:lstStyle/>
          <a:p>
            <a:pPr indent="0" marL="0">
              <a:buNone/>
            </a:pPr>
            <a:r>
              <a:rPr lang="en-US" sz="1000" dirty="0">
                <a:solidFill>
                  <a:srgbClr val="AFA98F"/>
                </a:solidFill>
                <a:latin typeface="Calibri" pitchFamily="34" charset="0"/>
                <a:ea typeface="Calibri" pitchFamily="34" charset="-122"/>
                <a:cs typeface="Calibri" pitchFamily="34" charset="-120"/>
              </a:rPr>
              <a:t>President, EXMAN  ·  CEO, AsterIML</a:t>
            </a:r>
            <a:endParaRPr lang="en-US" sz="1000" dirty="0"/>
          </a:p>
        </p:txBody>
      </p:sp>
      <p:sp>
        <p:nvSpPr>
          <p:cNvPr id="11" name="Shape 9"/>
          <p:cNvSpPr/>
          <p:nvPr/>
        </p:nvSpPr>
        <p:spPr>
          <a:xfrm>
            <a:off x="9436608" y="2286000"/>
            <a:ext cx="914" cy="320040"/>
          </a:xfrm>
          <a:prstGeom prst="line">
            <a:avLst/>
          </a:prstGeom>
          <a:noFill/>
          <a:ln w="15875">
            <a:solidFill>
              <a:srgbClr val="C99632"/>
            </a:solidFill>
            <a:prstDash val="solid"/>
          </a:ln>
        </p:spPr>
      </p:sp>
      <p:sp>
        <p:nvSpPr>
          <p:cNvPr id="12" name="Shape 10"/>
          <p:cNvSpPr/>
          <p:nvPr/>
        </p:nvSpPr>
        <p:spPr>
          <a:xfrm>
            <a:off x="7360920" y="2606040"/>
            <a:ext cx="4160520" cy="868680"/>
          </a:xfrm>
          <a:prstGeom prst="roundRect">
            <a:avLst>
              <a:gd name="adj" fmla="val 6316"/>
            </a:avLst>
          </a:prstGeom>
          <a:solidFill>
            <a:srgbClr val="0A0A0A"/>
          </a:solidFill>
          <a:ln w="12700">
            <a:solidFill>
              <a:srgbClr val="C99632"/>
            </a:solidFill>
            <a:prstDash val="solid"/>
          </a:ln>
        </p:spPr>
      </p:sp>
      <p:sp>
        <p:nvSpPr>
          <p:cNvPr id="13" name="Text 11"/>
          <p:cNvSpPr txBox="1"/>
          <p:nvPr/>
        </p:nvSpPr>
        <p:spPr>
          <a:xfrm>
            <a:off x="7589520" y="2697480"/>
            <a:ext cx="3703320" cy="365760"/>
          </a:xfrm>
          <a:prstGeom prst="rect">
            <a:avLst/>
          </a:prstGeom>
          <a:noFill/>
          <a:ln/>
        </p:spPr>
        <p:txBody>
          <a:bodyPr wrap="square" lIns="0" tIns="0" rIns="0" bIns="0" rtlCol="0" anchor="ctr"/>
          <a:lstStyle/>
          <a:p>
            <a:pPr indent="0" marL="0">
              <a:lnSpc>
                <a:spcPct val="105000"/>
              </a:lnSpc>
              <a:buNone/>
            </a:pPr>
            <a:r>
              <a:rPr lang="en-US" sz="1300" b="1" dirty="0">
                <a:solidFill>
                  <a:srgbClr val="F1D28A"/>
                </a:solidFill>
                <a:latin typeface="Cambria" pitchFamily="34" charset="0"/>
                <a:ea typeface="Cambria" pitchFamily="34" charset="-122"/>
                <a:cs typeface="Cambria" pitchFamily="34" charset="-120"/>
              </a:rPr>
              <a:t>AsterIML</a:t>
            </a:r>
            <a:endParaRPr lang="en-US" sz="1300" dirty="0"/>
          </a:p>
        </p:txBody>
      </p:sp>
      <p:sp>
        <p:nvSpPr>
          <p:cNvPr id="14" name="Text 12"/>
          <p:cNvSpPr txBox="1"/>
          <p:nvPr/>
        </p:nvSpPr>
        <p:spPr>
          <a:xfrm>
            <a:off x="7589520" y="3108960"/>
            <a:ext cx="3703320" cy="320040"/>
          </a:xfrm>
          <a:prstGeom prst="rect">
            <a:avLst/>
          </a:prstGeom>
          <a:noFill/>
          <a:ln/>
        </p:spPr>
        <p:txBody>
          <a:bodyPr wrap="square" lIns="0" tIns="0" rIns="0" bIns="0" rtlCol="0" anchor="ctr"/>
          <a:lstStyle/>
          <a:p>
            <a:pPr indent="0" marL="0">
              <a:buNone/>
            </a:pPr>
            <a:r>
              <a:rPr lang="en-US" sz="1000" dirty="0">
                <a:solidFill>
                  <a:srgbClr val="AFA98F"/>
                </a:solidFill>
                <a:latin typeface="Calibri" pitchFamily="34" charset="0"/>
                <a:ea typeface="Calibri" pitchFamily="34" charset="-122"/>
                <a:cs typeface="Calibri" pitchFamily="34" charset="-120"/>
              </a:rPr>
              <a:t>Owns &amp; markets</a:t>
            </a:r>
            <a:endParaRPr lang="en-US" sz="1000" dirty="0"/>
          </a:p>
        </p:txBody>
      </p:sp>
      <p:sp>
        <p:nvSpPr>
          <p:cNvPr id="15" name="Shape 13"/>
          <p:cNvSpPr/>
          <p:nvPr/>
        </p:nvSpPr>
        <p:spPr>
          <a:xfrm>
            <a:off x="9436608" y="3474720"/>
            <a:ext cx="914" cy="320040"/>
          </a:xfrm>
          <a:prstGeom prst="line">
            <a:avLst/>
          </a:prstGeom>
          <a:noFill/>
          <a:ln w="15875">
            <a:solidFill>
              <a:srgbClr val="C99632"/>
            </a:solidFill>
            <a:prstDash val="solid"/>
          </a:ln>
        </p:spPr>
      </p:sp>
      <p:sp>
        <p:nvSpPr>
          <p:cNvPr id="16" name="Shape 14"/>
          <p:cNvSpPr/>
          <p:nvPr/>
        </p:nvSpPr>
        <p:spPr>
          <a:xfrm>
            <a:off x="7360920" y="3794760"/>
            <a:ext cx="4160520" cy="868680"/>
          </a:xfrm>
          <a:prstGeom prst="roundRect">
            <a:avLst>
              <a:gd name="adj" fmla="val 6316"/>
            </a:avLst>
          </a:prstGeom>
          <a:solidFill>
            <a:srgbClr val="0A0A0A"/>
          </a:solidFill>
          <a:ln w="12700">
            <a:solidFill>
              <a:srgbClr val="C99632"/>
            </a:solidFill>
            <a:prstDash val="solid"/>
          </a:ln>
        </p:spPr>
      </p:sp>
      <p:sp>
        <p:nvSpPr>
          <p:cNvPr id="17" name="Text 15"/>
          <p:cNvSpPr txBox="1"/>
          <p:nvPr/>
        </p:nvSpPr>
        <p:spPr>
          <a:xfrm>
            <a:off x="7589520" y="3886200"/>
            <a:ext cx="3703320" cy="365760"/>
          </a:xfrm>
          <a:prstGeom prst="rect">
            <a:avLst/>
          </a:prstGeom>
          <a:noFill/>
          <a:ln/>
        </p:spPr>
        <p:txBody>
          <a:bodyPr wrap="square" lIns="0" tIns="0" rIns="0" bIns="0" rtlCol="0" anchor="ctr"/>
          <a:lstStyle/>
          <a:p>
            <a:pPr indent="0" marL="0">
              <a:lnSpc>
                <a:spcPct val="105000"/>
              </a:lnSpc>
              <a:buNone/>
            </a:pPr>
            <a:r>
              <a:rPr lang="en-US" sz="1300" b="1" dirty="0">
                <a:solidFill>
                  <a:srgbClr val="F1D28A"/>
                </a:solidFill>
                <a:latin typeface="Cambria" pitchFamily="34" charset="0"/>
                <a:ea typeface="Cambria" pitchFamily="34" charset="-122"/>
                <a:cs typeface="Cambria" pitchFamily="34" charset="-120"/>
              </a:rPr>
              <a:t>Dîner en Blanc Lagos</a:t>
            </a:r>
            <a:endParaRPr lang="en-US" sz="1300" dirty="0"/>
          </a:p>
        </p:txBody>
      </p:sp>
      <p:sp>
        <p:nvSpPr>
          <p:cNvPr id="18" name="Text 16"/>
          <p:cNvSpPr txBox="1"/>
          <p:nvPr/>
        </p:nvSpPr>
        <p:spPr>
          <a:xfrm>
            <a:off x="7589520" y="4297680"/>
            <a:ext cx="3703320" cy="320040"/>
          </a:xfrm>
          <a:prstGeom prst="rect">
            <a:avLst/>
          </a:prstGeom>
          <a:noFill/>
          <a:ln/>
        </p:spPr>
        <p:txBody>
          <a:bodyPr wrap="square" lIns="0" tIns="0" rIns="0" bIns="0" rtlCol="0" anchor="ctr"/>
          <a:lstStyle/>
          <a:p>
            <a:pPr indent="0" marL="0">
              <a:buNone/>
            </a:pPr>
            <a:r>
              <a:rPr lang="en-US" sz="1000" dirty="0">
                <a:solidFill>
                  <a:srgbClr val="AFA98F"/>
                </a:solidFill>
                <a:latin typeface="Calibri" pitchFamily="34" charset="0"/>
                <a:ea typeface="Calibri" pitchFamily="34" charset="-122"/>
                <a:cs typeface="Calibri" pitchFamily="34" charset="-120"/>
              </a:rPr>
              <a:t>Nov 2026, Lagos</a:t>
            </a:r>
            <a:endParaRPr lang="en-US" sz="1000" dirty="0"/>
          </a:p>
        </p:txBody>
      </p:sp>
      <p:sp>
        <p:nvSpPr>
          <p:cNvPr id="19" name="Shape 17"/>
          <p:cNvSpPr/>
          <p:nvPr/>
        </p:nvSpPr>
        <p:spPr>
          <a:xfrm>
            <a:off x="9436608" y="4663440"/>
            <a:ext cx="914" cy="320040"/>
          </a:xfrm>
          <a:prstGeom prst="line">
            <a:avLst/>
          </a:prstGeom>
          <a:noFill/>
          <a:ln w="15875">
            <a:solidFill>
              <a:srgbClr val="C99632"/>
            </a:solidFill>
            <a:prstDash val="dash"/>
          </a:ln>
        </p:spPr>
      </p:sp>
      <p:sp>
        <p:nvSpPr>
          <p:cNvPr id="20" name="Shape 18"/>
          <p:cNvSpPr/>
          <p:nvPr/>
        </p:nvSpPr>
        <p:spPr>
          <a:xfrm>
            <a:off x="7360920" y="4983480"/>
            <a:ext cx="4160520" cy="868680"/>
          </a:xfrm>
          <a:prstGeom prst="roundRect">
            <a:avLst>
              <a:gd name="adj" fmla="val 6316"/>
            </a:avLst>
          </a:prstGeom>
          <a:solidFill>
            <a:srgbClr val="232320"/>
          </a:solidFill>
          <a:ln w="12700">
            <a:solidFill>
              <a:srgbClr val="3A3A34"/>
            </a:solidFill>
            <a:prstDash val="solid"/>
          </a:ln>
        </p:spPr>
      </p:sp>
      <p:sp>
        <p:nvSpPr>
          <p:cNvPr id="21" name="Text 19"/>
          <p:cNvSpPr txBox="1"/>
          <p:nvPr/>
        </p:nvSpPr>
        <p:spPr>
          <a:xfrm>
            <a:off x="7589520" y="5074920"/>
            <a:ext cx="3703320" cy="365760"/>
          </a:xfrm>
          <a:prstGeom prst="rect">
            <a:avLst/>
          </a:prstGeom>
          <a:noFill/>
          <a:ln/>
        </p:spPr>
        <p:txBody>
          <a:bodyPr wrap="square" lIns="0" tIns="0" rIns="0" bIns="0" rtlCol="0" anchor="ctr"/>
          <a:lstStyle/>
          <a:p>
            <a:pPr indent="0" marL="0">
              <a:lnSpc>
                <a:spcPct val="105000"/>
              </a:lnSpc>
              <a:buNone/>
            </a:pPr>
            <a:r>
              <a:rPr lang="en-US" sz="1300" b="1" dirty="0">
                <a:solidFill>
                  <a:srgbClr val="F1D28A"/>
                </a:solidFill>
                <a:latin typeface="Cambria" pitchFamily="34" charset="0"/>
                <a:ea typeface="Cambria" pitchFamily="34" charset="-122"/>
                <a:cs typeface="Cambria" pitchFamily="34" charset="-120"/>
              </a:rPr>
              <a:t>Media Icons Africa / Tattase TV — Asiko TV</a:t>
            </a:r>
            <a:endParaRPr lang="en-US" sz="1300" dirty="0"/>
          </a:p>
        </p:txBody>
      </p:sp>
      <p:sp>
        <p:nvSpPr>
          <p:cNvPr id="22" name="Text 20"/>
          <p:cNvSpPr txBox="1"/>
          <p:nvPr/>
        </p:nvSpPr>
        <p:spPr>
          <a:xfrm>
            <a:off x="7589520" y="5486400"/>
            <a:ext cx="3703320" cy="320040"/>
          </a:xfrm>
          <a:prstGeom prst="rect">
            <a:avLst/>
          </a:prstGeom>
          <a:noFill/>
          <a:ln/>
        </p:spPr>
        <p:txBody>
          <a:bodyPr wrap="square" lIns="0" tIns="0" rIns="0" bIns="0" rtlCol="0" anchor="ctr"/>
          <a:lstStyle/>
          <a:p>
            <a:pPr indent="0" marL="0">
              <a:buNone/>
            </a:pPr>
            <a:r>
              <a:rPr lang="en-US" sz="1000" dirty="0">
                <a:solidFill>
                  <a:srgbClr val="AFA98F"/>
                </a:solidFill>
                <a:latin typeface="Calibri" pitchFamily="34" charset="0"/>
                <a:ea typeface="Calibri" pitchFamily="34" charset="-122"/>
                <a:cs typeface="Calibri" pitchFamily="34" charset="-120"/>
              </a:rPr>
              <a:t>Existing media, streaming &amp; sponsorship partner</a:t>
            </a:r>
            <a:endParaRPr lang="en-US" sz="1000" dirty="0"/>
          </a:p>
        </p:txBody>
      </p:sp>
      <p:sp>
        <p:nvSpPr>
          <p:cNvPr id="23" name="Text 21"/>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8A8577"/>
                </a:solidFill>
                <a:latin typeface="Calibri" pitchFamily="34" charset="0"/>
                <a:ea typeface="Calibri" pitchFamily="34" charset="-122"/>
                <a:cs typeface="Calibri" pitchFamily="34" charset="-120"/>
              </a:rPr>
              <a:t>04</a:t>
            </a:r>
            <a:endParaRPr lang="en-US" sz="900" dirty="0"/>
          </a:p>
        </p:txBody>
      </p:sp>
      <p:sp>
        <p:nvSpPr>
          <p:cNvPr id="24" name="Text 22"/>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8A8577"/>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OFFER</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Three Pillars of the Partnership</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783080"/>
            <a:ext cx="3429000" cy="4023360"/>
          </a:xfrm>
          <a:prstGeom prst="roundRect">
            <a:avLst>
              <a:gd name="adj" fmla="val 2133"/>
            </a:avLst>
          </a:prstGeom>
          <a:solidFill>
            <a:srgbClr val="FBF8F0"/>
          </a:solidFill>
          <a:ln w="12700">
            <a:solidFill>
              <a:srgbClr val="E4DECE"/>
            </a:solidFill>
            <a:prstDash val="solid"/>
          </a:ln>
        </p:spPr>
      </p:sp>
      <p:sp>
        <p:nvSpPr>
          <p:cNvPr id="6" name="Shape 4"/>
          <p:cNvSpPr/>
          <p:nvPr/>
        </p:nvSpPr>
        <p:spPr>
          <a:xfrm>
            <a:off x="868680" y="2103120"/>
            <a:ext cx="777240" cy="777240"/>
          </a:xfrm>
          <a:prstGeom prst="ellipse">
            <a:avLst/>
          </a:prstGeom>
          <a:solidFill>
            <a:srgbClr val="0A0A0A"/>
          </a:solidFill>
          <a:ln/>
        </p:spPr>
      </p:sp>
      <p:pic>
        <p:nvPicPr>
          <p:cNvPr id="7" name="Image 0" descr="/home/claude/exman-deck/icons/bullhorn_gold.png">    </p:cNvPr>
          <p:cNvPicPr>
            <a:picLocks noChangeAspect="1"/>
          </p:cNvPicPr>
          <p:nvPr/>
        </p:nvPicPr>
        <p:blipFill>
          <a:blip r:embed="rId1"/>
          <a:stretch>
            <a:fillRect/>
          </a:stretch>
        </p:blipFill>
        <p:spPr>
          <a:xfrm>
            <a:off x="1051560" y="2286000"/>
            <a:ext cx="411480" cy="411480"/>
          </a:xfrm>
          <a:prstGeom prst="rect">
            <a:avLst/>
          </a:prstGeom>
        </p:spPr>
      </p:pic>
      <p:sp>
        <p:nvSpPr>
          <p:cNvPr id="8" name="Text 5"/>
          <p:cNvSpPr txBox="1"/>
          <p:nvPr/>
        </p:nvSpPr>
        <p:spPr>
          <a:xfrm>
            <a:off x="868680" y="3063240"/>
            <a:ext cx="2788920" cy="822960"/>
          </a:xfrm>
          <a:prstGeom prst="rect">
            <a:avLst/>
          </a:prstGeom>
          <a:noFill/>
          <a:ln/>
        </p:spPr>
        <p:txBody>
          <a:bodyPr wrap="square" lIns="0" tIns="0" rIns="0" bIns="0" rtlCol="0" anchor="ctr"/>
          <a:lstStyle/>
          <a:p>
            <a:pPr indent="0" marL="0">
              <a:lnSpc>
                <a:spcPct val="115000"/>
              </a:lnSpc>
              <a:buNone/>
            </a:pPr>
            <a:r>
              <a:rPr lang="en-US" sz="1600" b="1" dirty="0">
                <a:solidFill>
                  <a:srgbClr val="201C15"/>
                </a:solidFill>
                <a:latin typeface="Cambria" pitchFamily="34" charset="0"/>
                <a:ea typeface="Cambria" pitchFamily="34" charset="-122"/>
                <a:cs typeface="Cambria" pitchFamily="34" charset="-120"/>
              </a:rPr>
              <a:t>Sponsorship &amp; Partnership Sales</a:t>
            </a:r>
            <a:endParaRPr lang="en-US" sz="1600" dirty="0"/>
          </a:p>
        </p:txBody>
      </p:sp>
      <p:sp>
        <p:nvSpPr>
          <p:cNvPr id="9" name="Text 6"/>
          <p:cNvSpPr txBox="1"/>
          <p:nvPr/>
        </p:nvSpPr>
        <p:spPr>
          <a:xfrm>
            <a:off x="868680" y="3886200"/>
            <a:ext cx="2788920" cy="1737360"/>
          </a:xfrm>
          <a:prstGeom prst="rect">
            <a:avLst/>
          </a:prstGeom>
          <a:noFill/>
          <a:ln/>
        </p:spPr>
        <p:txBody>
          <a:bodyPr wrap="square" lIns="0" tIns="0" rIns="0" bIns="0" rtlCol="0" anchor="ctr"/>
          <a:lstStyle/>
          <a:p>
            <a:pPr indent="0" marL="0">
              <a:lnSpc>
                <a:spcPct val="130000"/>
              </a:lnSpc>
              <a:buNone/>
            </a:pPr>
            <a:r>
              <a:rPr lang="en-US" sz="1200" dirty="0">
                <a:solidFill>
                  <a:srgbClr val="6E6A60"/>
                </a:solidFill>
                <a:latin typeface="Calibri" pitchFamily="34" charset="0"/>
                <a:ea typeface="Calibri" pitchFamily="34" charset="-122"/>
                <a:cs typeface="Calibri" pitchFamily="34" charset="-120"/>
              </a:rPr>
              <a:t>Asiko TV curates and sells category-exclusive sponsorships across EXMAN member events, on the same 30-sector model already built for the platform.</a:t>
            </a:r>
            <a:endParaRPr lang="en-US" sz="1200" dirty="0"/>
          </a:p>
        </p:txBody>
      </p:sp>
      <p:sp>
        <p:nvSpPr>
          <p:cNvPr id="10" name="Shape 7"/>
          <p:cNvSpPr/>
          <p:nvPr/>
        </p:nvSpPr>
        <p:spPr>
          <a:xfrm>
            <a:off x="4206240" y="1783080"/>
            <a:ext cx="3429000" cy="4023360"/>
          </a:xfrm>
          <a:prstGeom prst="roundRect">
            <a:avLst>
              <a:gd name="adj" fmla="val 2133"/>
            </a:avLst>
          </a:prstGeom>
          <a:solidFill>
            <a:srgbClr val="FBF8F0"/>
          </a:solidFill>
          <a:ln w="12700">
            <a:solidFill>
              <a:srgbClr val="E4DECE"/>
            </a:solidFill>
            <a:prstDash val="solid"/>
          </a:ln>
        </p:spPr>
      </p:sp>
      <p:sp>
        <p:nvSpPr>
          <p:cNvPr id="11" name="Shape 8"/>
          <p:cNvSpPr/>
          <p:nvPr/>
        </p:nvSpPr>
        <p:spPr>
          <a:xfrm>
            <a:off x="4526280" y="2103120"/>
            <a:ext cx="777240" cy="777240"/>
          </a:xfrm>
          <a:prstGeom prst="ellipse">
            <a:avLst/>
          </a:prstGeom>
          <a:solidFill>
            <a:srgbClr val="0A0A0A"/>
          </a:solidFill>
          <a:ln/>
        </p:spPr>
      </p:sp>
      <p:pic>
        <p:nvPicPr>
          <p:cNvPr id="12" name="Image 1" descr="/home/claude/exman-deck/icons/coins_gold.png">    </p:cNvPr>
          <p:cNvPicPr>
            <a:picLocks noChangeAspect="1"/>
          </p:cNvPicPr>
          <p:nvPr/>
        </p:nvPicPr>
        <p:blipFill>
          <a:blip r:embed="rId2"/>
          <a:stretch>
            <a:fillRect/>
          </a:stretch>
        </p:blipFill>
        <p:spPr>
          <a:xfrm>
            <a:off x="4709160" y="2286000"/>
            <a:ext cx="411480" cy="411480"/>
          </a:xfrm>
          <a:prstGeom prst="rect">
            <a:avLst/>
          </a:prstGeom>
        </p:spPr>
      </p:pic>
      <p:sp>
        <p:nvSpPr>
          <p:cNvPr id="13" name="Text 9"/>
          <p:cNvSpPr txBox="1"/>
          <p:nvPr/>
        </p:nvSpPr>
        <p:spPr>
          <a:xfrm>
            <a:off x="4526280" y="3063240"/>
            <a:ext cx="2788920" cy="822960"/>
          </a:xfrm>
          <a:prstGeom prst="rect">
            <a:avLst/>
          </a:prstGeom>
          <a:noFill/>
          <a:ln/>
        </p:spPr>
        <p:txBody>
          <a:bodyPr wrap="square" lIns="0" tIns="0" rIns="0" bIns="0" rtlCol="0" anchor="ctr"/>
          <a:lstStyle/>
          <a:p>
            <a:pPr indent="0" marL="0">
              <a:lnSpc>
                <a:spcPct val="115000"/>
              </a:lnSpc>
              <a:buNone/>
            </a:pPr>
            <a:r>
              <a:rPr lang="en-US" sz="1600" b="1" dirty="0">
                <a:solidFill>
                  <a:srgbClr val="201C15"/>
                </a:solidFill>
                <a:latin typeface="Cambria" pitchFamily="34" charset="0"/>
                <a:ea typeface="Cambria" pitchFamily="34" charset="-122"/>
                <a:cs typeface="Cambria" pitchFamily="34" charset="-120"/>
              </a:rPr>
              <a:t>Media Inventory Curation &amp; Sales</a:t>
            </a:r>
            <a:endParaRPr lang="en-US" sz="1600" dirty="0"/>
          </a:p>
        </p:txBody>
      </p:sp>
      <p:sp>
        <p:nvSpPr>
          <p:cNvPr id="14" name="Text 10"/>
          <p:cNvSpPr txBox="1"/>
          <p:nvPr/>
        </p:nvSpPr>
        <p:spPr>
          <a:xfrm>
            <a:off x="4526280" y="3886200"/>
            <a:ext cx="2788920" cy="1737360"/>
          </a:xfrm>
          <a:prstGeom prst="rect">
            <a:avLst/>
          </a:prstGeom>
          <a:noFill/>
          <a:ln/>
        </p:spPr>
        <p:txBody>
          <a:bodyPr wrap="square" lIns="0" tIns="0" rIns="0" bIns="0" rtlCol="0" anchor="ctr"/>
          <a:lstStyle/>
          <a:p>
            <a:pPr indent="0" marL="0">
              <a:lnSpc>
                <a:spcPct val="130000"/>
              </a:lnSpc>
              <a:buNone/>
            </a:pPr>
            <a:r>
              <a:rPr lang="en-US" sz="1200" dirty="0">
                <a:solidFill>
                  <a:srgbClr val="6E6A60"/>
                </a:solidFill>
                <a:latin typeface="Calibri" pitchFamily="34" charset="0"/>
                <a:ea typeface="Calibri" pitchFamily="34" charset="-122"/>
                <a:cs typeface="Calibri" pitchFamily="34" charset="-120"/>
              </a:rPr>
              <a:t>Aggregate branding and ad inventory across dozens of EXMAN events a year into one sellable package brands can buy in a single conversation.</a:t>
            </a:r>
            <a:endParaRPr lang="en-US" sz="1200" dirty="0"/>
          </a:p>
        </p:txBody>
      </p:sp>
      <p:sp>
        <p:nvSpPr>
          <p:cNvPr id="15" name="Shape 11"/>
          <p:cNvSpPr/>
          <p:nvPr/>
        </p:nvSpPr>
        <p:spPr>
          <a:xfrm>
            <a:off x="7863840" y="1783080"/>
            <a:ext cx="3429000" cy="4023360"/>
          </a:xfrm>
          <a:prstGeom prst="roundRect">
            <a:avLst>
              <a:gd name="adj" fmla="val 2133"/>
            </a:avLst>
          </a:prstGeom>
          <a:solidFill>
            <a:srgbClr val="FBF8F0"/>
          </a:solidFill>
          <a:ln w="12700">
            <a:solidFill>
              <a:srgbClr val="E4DECE"/>
            </a:solidFill>
            <a:prstDash val="solid"/>
          </a:ln>
        </p:spPr>
      </p:sp>
      <p:sp>
        <p:nvSpPr>
          <p:cNvPr id="16" name="Shape 12"/>
          <p:cNvSpPr/>
          <p:nvPr/>
        </p:nvSpPr>
        <p:spPr>
          <a:xfrm>
            <a:off x="8183880" y="2103120"/>
            <a:ext cx="777240" cy="777240"/>
          </a:xfrm>
          <a:prstGeom prst="ellipse">
            <a:avLst/>
          </a:prstGeom>
          <a:solidFill>
            <a:srgbClr val="0A0A0A"/>
          </a:solidFill>
          <a:ln/>
        </p:spPr>
      </p:sp>
      <p:pic>
        <p:nvPicPr>
          <p:cNvPr id="17" name="Image 2" descr="/home/claude/exman-deck/icons/video_gold.png">    </p:cNvPr>
          <p:cNvPicPr>
            <a:picLocks noChangeAspect="1"/>
          </p:cNvPicPr>
          <p:nvPr/>
        </p:nvPicPr>
        <p:blipFill>
          <a:blip r:embed="rId3"/>
          <a:stretch>
            <a:fillRect/>
          </a:stretch>
        </p:blipFill>
        <p:spPr>
          <a:xfrm>
            <a:off x="8366760" y="2286000"/>
            <a:ext cx="411480" cy="411480"/>
          </a:xfrm>
          <a:prstGeom prst="rect">
            <a:avLst/>
          </a:prstGeom>
        </p:spPr>
      </p:pic>
      <p:sp>
        <p:nvSpPr>
          <p:cNvPr id="18" name="Text 13"/>
          <p:cNvSpPr txBox="1"/>
          <p:nvPr/>
        </p:nvSpPr>
        <p:spPr>
          <a:xfrm>
            <a:off x="8183880" y="3063240"/>
            <a:ext cx="2788920" cy="822960"/>
          </a:xfrm>
          <a:prstGeom prst="rect">
            <a:avLst/>
          </a:prstGeom>
          <a:noFill/>
          <a:ln/>
        </p:spPr>
        <p:txBody>
          <a:bodyPr wrap="square" lIns="0" tIns="0" rIns="0" bIns="0" rtlCol="0" anchor="ctr"/>
          <a:lstStyle/>
          <a:p>
            <a:pPr indent="0" marL="0">
              <a:lnSpc>
                <a:spcPct val="115000"/>
              </a:lnSpc>
              <a:buNone/>
            </a:pPr>
            <a:r>
              <a:rPr lang="en-US" sz="1600" b="1" dirty="0">
                <a:solidFill>
                  <a:srgbClr val="201C15"/>
                </a:solidFill>
                <a:latin typeface="Cambria" pitchFamily="34" charset="0"/>
                <a:ea typeface="Cambria" pitchFamily="34" charset="-122"/>
                <a:cs typeface="Cambria" pitchFamily="34" charset="-120"/>
              </a:rPr>
              <a:t>Content Capture &amp; Streaming</a:t>
            </a:r>
            <a:endParaRPr lang="en-US" sz="1600" dirty="0"/>
          </a:p>
        </p:txBody>
      </p:sp>
      <p:sp>
        <p:nvSpPr>
          <p:cNvPr id="19" name="Text 14"/>
          <p:cNvSpPr txBox="1"/>
          <p:nvPr/>
        </p:nvSpPr>
        <p:spPr>
          <a:xfrm>
            <a:off x="8183880" y="3886200"/>
            <a:ext cx="2788920" cy="1737360"/>
          </a:xfrm>
          <a:prstGeom prst="rect">
            <a:avLst/>
          </a:prstGeom>
          <a:noFill/>
          <a:ln/>
        </p:spPr>
        <p:txBody>
          <a:bodyPr wrap="square" lIns="0" tIns="0" rIns="0" bIns="0" rtlCol="0" anchor="ctr"/>
          <a:lstStyle/>
          <a:p>
            <a:pPr indent="0" marL="0">
              <a:lnSpc>
                <a:spcPct val="130000"/>
              </a:lnSpc>
              <a:buNone/>
            </a:pPr>
            <a:r>
              <a:rPr lang="en-US" sz="1200" dirty="0">
                <a:solidFill>
                  <a:srgbClr val="6E6A60"/>
                </a:solidFill>
                <a:latin typeface="Calibri" pitchFamily="34" charset="0"/>
                <a:ea typeface="Calibri" pitchFamily="34" charset="-122"/>
                <a:cs typeface="Calibri" pitchFamily="34" charset="-120"/>
              </a:rPr>
              <a:t>Every sponsored event becomes content — filmed, archived and streamed on a dedicated "EXMAN Events" channel, extending each event's life from one day to year-round.</a:t>
            </a:r>
            <a:endParaRPr lang="en-US" sz="1200" dirty="0"/>
          </a:p>
        </p:txBody>
      </p:sp>
      <p:sp>
        <p:nvSpPr>
          <p:cNvPr id="20" name="Text 15"/>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05</a:t>
            </a:r>
            <a:endParaRPr lang="en-US" sz="900" dirty="0"/>
          </a:p>
        </p:txBody>
      </p:sp>
      <p:sp>
        <p:nvSpPr>
          <p:cNvPr id="21" name="Text 16"/>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EXCHANGE</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A Two-Sided Value Exchange</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691640"/>
            <a:ext cx="5212080" cy="4206240"/>
          </a:xfrm>
          <a:prstGeom prst="roundRect">
            <a:avLst>
              <a:gd name="adj" fmla="val 1739"/>
            </a:avLst>
          </a:prstGeom>
          <a:solidFill>
            <a:srgbClr val="0A0A0A"/>
          </a:solidFill>
          <a:ln/>
        </p:spPr>
      </p:sp>
      <p:sp>
        <p:nvSpPr>
          <p:cNvPr id="6" name="Text 4"/>
          <p:cNvSpPr txBox="1"/>
          <p:nvPr/>
        </p:nvSpPr>
        <p:spPr>
          <a:xfrm>
            <a:off x="914400" y="1965960"/>
            <a:ext cx="4572000" cy="320040"/>
          </a:xfrm>
          <a:prstGeom prst="rect">
            <a:avLst/>
          </a:prstGeom>
          <a:noFill/>
          <a:ln/>
        </p:spPr>
        <p:txBody>
          <a:bodyPr wrap="square" lIns="0" tIns="0" rIns="0" bIns="0" rtlCol="0" anchor="ctr"/>
          <a:lstStyle/>
          <a:p>
            <a:pPr indent="0" marL="0">
              <a:buNone/>
            </a:pPr>
            <a:r>
              <a:rPr lang="en-US" sz="1100" b="1" spc="150" kern="0" dirty="0">
                <a:solidFill>
                  <a:srgbClr val="C99632"/>
                </a:solidFill>
                <a:latin typeface="Calibri" pitchFamily="34" charset="0"/>
                <a:ea typeface="Calibri" pitchFamily="34" charset="-122"/>
                <a:cs typeface="Calibri" pitchFamily="34" charset="-120"/>
              </a:rPr>
              <a:t>WHAT ASIKO TV BRINGS</a:t>
            </a:r>
            <a:endParaRPr lang="en-US" sz="1100" dirty="0"/>
          </a:p>
        </p:txBody>
      </p:sp>
      <p:sp>
        <p:nvSpPr>
          <p:cNvPr id="7" name="Text 5"/>
          <p:cNvSpPr txBox="1"/>
          <p:nvPr/>
        </p:nvSpPr>
        <p:spPr>
          <a:xfrm>
            <a:off x="914400" y="2423160"/>
            <a:ext cx="4480560" cy="3291840"/>
          </a:xfrm>
          <a:prstGeom prst="rect">
            <a:avLst/>
          </a:prstGeom>
          <a:noFill/>
          <a:ln/>
        </p:spPr>
        <p:txBody>
          <a:bodyPr wrap="square" lIns="0" tIns="0" rIns="0" bIns="0" rtlCol="0" anchor="ctr"/>
          <a:lstStyle/>
          <a:p>
            <a:pPr marL="177800" indent="-177800">
              <a:lnSpc>
                <a:spcPct val="130000"/>
              </a:lnSpc>
              <a:spcAft>
                <a:spcPts val="1200"/>
              </a:spcAft>
              <a:buSzPct val="100000"/>
              <a:buChar char="•"/>
            </a:pPr>
            <a:r>
              <a:rPr lang="en-US" sz="1250" dirty="0">
                <a:solidFill>
                  <a:srgbClr val="F4F1EA"/>
                </a:solidFill>
                <a:latin typeface="Calibri" pitchFamily="34" charset="0"/>
                <a:ea typeface="Calibri" pitchFamily="34" charset="-122"/>
                <a:cs typeface="Calibri" pitchFamily="34" charset="-120"/>
              </a:rPr>
              <a:t>A category-exclusive sponsorship model already tested across 30 sectors</a:t>
            </a:r>
            <a:endParaRPr lang="en-US" sz="1250" dirty="0"/>
          </a:p>
          <a:p>
            <a:pPr marL="177800" indent="-177800">
              <a:lnSpc>
                <a:spcPct val="130000"/>
              </a:lnSpc>
              <a:spcAft>
                <a:spcPts val="1200"/>
              </a:spcAft>
              <a:buSzPct val="100000"/>
              <a:buChar char="•"/>
            </a:pPr>
            <a:r>
              <a:rPr lang="en-US" sz="1250" dirty="0">
                <a:solidFill>
                  <a:srgbClr val="F4F1EA"/>
                </a:solidFill>
                <a:latin typeface="Calibri" pitchFamily="34" charset="0"/>
                <a:ea typeface="Calibri" pitchFamily="34" charset="-122"/>
                <a:cs typeface="Calibri" pitchFamily="34" charset="-120"/>
              </a:rPr>
              <a:t>FAST-channel distribution to a diaspora and pan-African audience</a:t>
            </a:r>
            <a:endParaRPr lang="en-US" sz="1250" dirty="0"/>
          </a:p>
          <a:p>
            <a:pPr marL="177800" indent="-177800">
              <a:lnSpc>
                <a:spcPct val="130000"/>
              </a:lnSpc>
              <a:spcAft>
                <a:spcPts val="1200"/>
              </a:spcAft>
              <a:buSzPct val="100000"/>
              <a:buChar char="•"/>
            </a:pPr>
            <a:r>
              <a:rPr lang="en-US" sz="1250" dirty="0">
                <a:solidFill>
                  <a:srgbClr val="F4F1EA"/>
                </a:solidFill>
                <a:latin typeface="Calibri" pitchFamily="34" charset="0"/>
                <a:ea typeface="Calibri" pitchFamily="34" charset="-122"/>
                <a:cs typeface="Calibri" pitchFamily="34" charset="-120"/>
              </a:rPr>
              <a:t>Production and content-capture capability via Studio Iconia &amp; Tattase TV crews</a:t>
            </a:r>
            <a:endParaRPr lang="en-US" sz="1250" dirty="0"/>
          </a:p>
          <a:p>
            <a:pPr marL="177800" indent="-177800">
              <a:lnSpc>
                <a:spcPct val="130000"/>
              </a:lnSpc>
              <a:spcAft>
                <a:spcPts val="1200"/>
              </a:spcAft>
              <a:buSzPct val="100000"/>
              <a:buChar char="•"/>
            </a:pPr>
            <a:r>
              <a:rPr lang="en-US" sz="1250" dirty="0">
                <a:solidFill>
                  <a:srgbClr val="F4F1EA"/>
                </a:solidFill>
                <a:latin typeface="Calibri" pitchFamily="34" charset="0"/>
                <a:ea typeface="Calibri" pitchFamily="34" charset="-122"/>
                <a:cs typeface="Calibri" pitchFamily="34" charset="-120"/>
              </a:rPr>
              <a:t>A proven partner track record — WoSA, Dîner en Blanc Lagos</a:t>
            </a:r>
            <a:endParaRPr lang="en-US" sz="1250" dirty="0"/>
          </a:p>
        </p:txBody>
      </p:sp>
      <p:sp>
        <p:nvSpPr>
          <p:cNvPr id="8" name="Shape 6"/>
          <p:cNvSpPr/>
          <p:nvPr/>
        </p:nvSpPr>
        <p:spPr>
          <a:xfrm>
            <a:off x="5989320" y="1691640"/>
            <a:ext cx="5212080" cy="4206240"/>
          </a:xfrm>
          <a:prstGeom prst="roundRect">
            <a:avLst>
              <a:gd name="adj" fmla="val 1739"/>
            </a:avLst>
          </a:prstGeom>
          <a:solidFill>
            <a:srgbClr val="FBF8F0"/>
          </a:solidFill>
          <a:ln w="12700">
            <a:solidFill>
              <a:srgbClr val="E4DECE"/>
            </a:solidFill>
            <a:prstDash val="solid"/>
          </a:ln>
        </p:spPr>
      </p:sp>
      <p:sp>
        <p:nvSpPr>
          <p:cNvPr id="9" name="Text 7"/>
          <p:cNvSpPr txBox="1"/>
          <p:nvPr/>
        </p:nvSpPr>
        <p:spPr>
          <a:xfrm>
            <a:off x="6355080" y="1965960"/>
            <a:ext cx="4572000" cy="320040"/>
          </a:xfrm>
          <a:prstGeom prst="rect">
            <a:avLst/>
          </a:prstGeom>
          <a:noFill/>
          <a:ln/>
        </p:spPr>
        <p:txBody>
          <a:bodyPr wrap="square" lIns="0" tIns="0" rIns="0" bIns="0" rtlCol="0" anchor="ctr"/>
          <a:lstStyle/>
          <a:p>
            <a:pPr indent="0" marL="0">
              <a:buNone/>
            </a:pPr>
            <a:r>
              <a:rPr lang="en-US" sz="1100" b="1" spc="150" kern="0" dirty="0">
                <a:solidFill>
                  <a:srgbClr val="9B7419"/>
                </a:solidFill>
                <a:latin typeface="Calibri" pitchFamily="34" charset="0"/>
                <a:ea typeface="Calibri" pitchFamily="34" charset="-122"/>
                <a:cs typeface="Calibri" pitchFamily="34" charset="-120"/>
              </a:rPr>
              <a:t>WHAT EXMAN BRINGS</a:t>
            </a:r>
            <a:endParaRPr lang="en-US" sz="1100" dirty="0"/>
          </a:p>
        </p:txBody>
      </p:sp>
      <p:sp>
        <p:nvSpPr>
          <p:cNvPr id="10" name="Text 8"/>
          <p:cNvSpPr txBox="1"/>
          <p:nvPr/>
        </p:nvSpPr>
        <p:spPr>
          <a:xfrm>
            <a:off x="6355080" y="2423160"/>
            <a:ext cx="4480560" cy="3291840"/>
          </a:xfrm>
          <a:prstGeom prst="rect">
            <a:avLst/>
          </a:prstGeom>
          <a:noFill/>
          <a:ln/>
        </p:spPr>
        <p:txBody>
          <a:bodyPr wrap="square" lIns="0" tIns="0" rIns="0" bIns="0" rtlCol="0" anchor="ctr"/>
          <a:lstStyle/>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Direct access to 50+ member agencies and their annual event calendars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Industry credibility and endorsement, in place of a cold agency-by-agency pitch</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Aggregated deal flow instead of chasing one-off event sponsorships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A governance seat as EXMAN formalises industry pricing standards</a:t>
            </a:r>
            <a:endParaRPr lang="en-US" sz="1250" dirty="0"/>
          </a:p>
        </p:txBody>
      </p:sp>
      <p:sp>
        <p:nvSpPr>
          <p:cNvPr id="11" name="Text 9"/>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06</a:t>
            </a:r>
            <a:endParaRPr lang="en-US" sz="900" dirty="0"/>
          </a:p>
        </p:txBody>
      </p:sp>
      <p:sp>
        <p:nvSpPr>
          <p:cNvPr id="12" name="Text 10"/>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STRUCTURE</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How We Structure This, Together — Three Options</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691640"/>
            <a:ext cx="3520440" cy="4160520"/>
          </a:xfrm>
          <a:prstGeom prst="roundRect">
            <a:avLst>
              <a:gd name="adj" fmla="val 1818"/>
            </a:avLst>
          </a:prstGeom>
          <a:solidFill>
            <a:srgbClr val="FBF8F0"/>
          </a:solidFill>
          <a:ln w="12700">
            <a:solidFill>
              <a:srgbClr val="E4DECE"/>
            </a:solidFill>
            <a:prstDash val="solid"/>
          </a:ln>
        </p:spPr>
      </p:sp>
      <p:sp>
        <p:nvSpPr>
          <p:cNvPr id="6" name="Text 4"/>
          <p:cNvSpPr txBox="1"/>
          <p:nvPr/>
        </p:nvSpPr>
        <p:spPr>
          <a:xfrm>
            <a:off x="777240" y="187452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201C15"/>
                </a:solidFill>
                <a:latin typeface="Cambria" pitchFamily="34" charset="0"/>
                <a:ea typeface="Cambria" pitchFamily="34" charset="-122"/>
                <a:cs typeface="Cambria" pitchFamily="34" charset="-120"/>
              </a:rPr>
              <a:t>A. Preferred Partner Agreement</a:t>
            </a:r>
            <a:endParaRPr lang="en-US" sz="1350" dirty="0"/>
          </a:p>
        </p:txBody>
      </p:sp>
      <p:sp>
        <p:nvSpPr>
          <p:cNvPr id="7" name="Text 5"/>
          <p:cNvSpPr txBox="1"/>
          <p:nvPr/>
        </p:nvSpPr>
        <p:spPr>
          <a:xfrm>
            <a:off x="777240" y="2395728"/>
            <a:ext cx="3063240" cy="685800"/>
          </a:xfrm>
          <a:prstGeom prst="rect">
            <a:avLst/>
          </a:prstGeom>
          <a:noFill/>
          <a:ln/>
        </p:spPr>
        <p:txBody>
          <a:bodyPr wrap="square" lIns="0" tIns="0" rIns="0" bIns="0" rtlCol="0" anchor="ctr"/>
          <a:lstStyle/>
          <a:p>
            <a:pPr indent="0" marL="0">
              <a:lnSpc>
                <a:spcPct val="120000"/>
              </a:lnSpc>
              <a:buNone/>
            </a:pPr>
            <a:r>
              <a:rPr lang="en-US" sz="1000" i="1" dirty="0">
                <a:solidFill>
                  <a:srgbClr val="6E6A60"/>
                </a:solidFill>
                <a:latin typeface="Calibri" pitchFamily="34" charset="0"/>
                <a:ea typeface="Calibri" pitchFamily="34" charset="-122"/>
                <a:cs typeface="Calibri" pitchFamily="34" charset="-120"/>
              </a:rPr>
              <a:t>EXMAN endorses Asiko TV as its official sponsorship, media and streaming partner</a:t>
            </a:r>
            <a:endParaRPr lang="en-US" sz="1000" dirty="0"/>
          </a:p>
        </p:txBody>
      </p:sp>
      <p:sp>
        <p:nvSpPr>
          <p:cNvPr id="8" name="Shape 6"/>
          <p:cNvSpPr/>
          <p:nvPr/>
        </p:nvSpPr>
        <p:spPr>
          <a:xfrm>
            <a:off x="777240" y="3127248"/>
            <a:ext cx="3063240" cy="914"/>
          </a:xfrm>
          <a:prstGeom prst="line">
            <a:avLst/>
          </a:prstGeom>
          <a:noFill/>
          <a:ln w="9525">
            <a:solidFill>
              <a:srgbClr val="E4DECE"/>
            </a:solidFill>
            <a:prstDash val="solid"/>
          </a:ln>
        </p:spPr>
      </p:sp>
      <p:sp>
        <p:nvSpPr>
          <p:cNvPr id="9" name="Text 7"/>
          <p:cNvSpPr txBox="1"/>
          <p:nvPr/>
        </p:nvSpPr>
        <p:spPr>
          <a:xfrm>
            <a:off x="777240" y="3218688"/>
            <a:ext cx="1828800" cy="228600"/>
          </a:xfrm>
          <a:prstGeom prst="rect">
            <a:avLst/>
          </a:prstGeom>
          <a:noFill/>
          <a:ln/>
        </p:spPr>
        <p:txBody>
          <a:bodyPr wrap="square" lIns="0" tIns="0" rIns="0" bIns="0" rtlCol="0" anchor="ctr"/>
          <a:lstStyle/>
          <a:p>
            <a:pPr indent="0" marL="0">
              <a:buNone/>
            </a:pPr>
            <a:r>
              <a:rPr lang="en-US" sz="950" b="1" spc="100" kern="0" dirty="0">
                <a:solidFill>
                  <a:srgbClr val="2E6B3E"/>
                </a:solidFill>
                <a:latin typeface="Calibri" pitchFamily="34" charset="0"/>
                <a:ea typeface="Calibri" pitchFamily="34" charset="-122"/>
                <a:cs typeface="Calibri" pitchFamily="34" charset="-120"/>
              </a:rPr>
              <a:t>PROS</a:t>
            </a:r>
            <a:endParaRPr lang="en-US" sz="950" dirty="0"/>
          </a:p>
        </p:txBody>
      </p:sp>
      <p:sp>
        <p:nvSpPr>
          <p:cNvPr id="10" name="Text 8"/>
          <p:cNvSpPr txBox="1"/>
          <p:nvPr/>
        </p:nvSpPr>
        <p:spPr>
          <a:xfrm>
            <a:off x="777240" y="3474720"/>
            <a:ext cx="3108960" cy="96012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Fastest to launch</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Low legal complexity</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No new entity required</a:t>
            </a:r>
            <a:endParaRPr lang="en-US" sz="1050" dirty="0"/>
          </a:p>
        </p:txBody>
      </p:sp>
      <p:sp>
        <p:nvSpPr>
          <p:cNvPr id="11" name="Text 9"/>
          <p:cNvSpPr txBox="1"/>
          <p:nvPr/>
        </p:nvSpPr>
        <p:spPr>
          <a:xfrm>
            <a:off x="777240" y="4434840"/>
            <a:ext cx="1828800" cy="228600"/>
          </a:xfrm>
          <a:prstGeom prst="rect">
            <a:avLst/>
          </a:prstGeom>
          <a:noFill/>
          <a:ln/>
        </p:spPr>
        <p:txBody>
          <a:bodyPr wrap="square" lIns="0" tIns="0" rIns="0" bIns="0" rtlCol="0" anchor="ctr"/>
          <a:lstStyle/>
          <a:p>
            <a:pPr indent="0" marL="0">
              <a:buNone/>
            </a:pPr>
            <a:r>
              <a:rPr lang="en-US" sz="950" b="1" spc="100" kern="0" dirty="0">
                <a:solidFill>
                  <a:srgbClr val="9B3327"/>
                </a:solidFill>
                <a:latin typeface="Calibri" pitchFamily="34" charset="0"/>
                <a:ea typeface="Calibri" pitchFamily="34" charset="-122"/>
                <a:cs typeface="Calibri" pitchFamily="34" charset="-120"/>
              </a:rPr>
              <a:t>CONS</a:t>
            </a:r>
            <a:endParaRPr lang="en-US" sz="950" dirty="0"/>
          </a:p>
        </p:txBody>
      </p:sp>
      <p:sp>
        <p:nvSpPr>
          <p:cNvPr id="12" name="Text 10"/>
          <p:cNvSpPr txBox="1"/>
          <p:nvPr/>
        </p:nvSpPr>
        <p:spPr>
          <a:xfrm>
            <a:off x="777240" y="4690872"/>
            <a:ext cx="3108960" cy="105156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Non-exclusive by nature</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Members can opt out per event</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Upside capped by commission</a:t>
            </a:r>
            <a:endParaRPr lang="en-US" sz="1050" dirty="0"/>
          </a:p>
        </p:txBody>
      </p:sp>
      <p:sp>
        <p:nvSpPr>
          <p:cNvPr id="13" name="Shape 11"/>
          <p:cNvSpPr/>
          <p:nvPr/>
        </p:nvSpPr>
        <p:spPr>
          <a:xfrm>
            <a:off x="4297680" y="1691640"/>
            <a:ext cx="3520440" cy="4160520"/>
          </a:xfrm>
          <a:prstGeom prst="roundRect">
            <a:avLst>
              <a:gd name="adj" fmla="val 1818"/>
            </a:avLst>
          </a:prstGeom>
          <a:solidFill>
            <a:srgbClr val="FBF8F0"/>
          </a:solidFill>
          <a:ln w="12700">
            <a:solidFill>
              <a:srgbClr val="E4DECE"/>
            </a:solidFill>
            <a:prstDash val="solid"/>
          </a:ln>
        </p:spPr>
      </p:sp>
      <p:sp>
        <p:nvSpPr>
          <p:cNvPr id="14" name="Text 12"/>
          <p:cNvSpPr txBox="1"/>
          <p:nvPr/>
        </p:nvSpPr>
        <p:spPr>
          <a:xfrm>
            <a:off x="4526280" y="187452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201C15"/>
                </a:solidFill>
                <a:latin typeface="Cambria" pitchFamily="34" charset="0"/>
                <a:ea typeface="Cambria" pitchFamily="34" charset="-122"/>
                <a:cs typeface="Cambria" pitchFamily="34" charset="-120"/>
              </a:rPr>
              <a:t>B. Joint Venture / SPE</a:t>
            </a:r>
            <a:endParaRPr lang="en-US" sz="1350" dirty="0"/>
          </a:p>
        </p:txBody>
      </p:sp>
      <p:sp>
        <p:nvSpPr>
          <p:cNvPr id="15" name="Text 13"/>
          <p:cNvSpPr txBox="1"/>
          <p:nvPr/>
        </p:nvSpPr>
        <p:spPr>
          <a:xfrm>
            <a:off x="4526280" y="2395728"/>
            <a:ext cx="3063240" cy="685800"/>
          </a:xfrm>
          <a:prstGeom prst="rect">
            <a:avLst/>
          </a:prstGeom>
          <a:noFill/>
          <a:ln/>
        </p:spPr>
        <p:txBody>
          <a:bodyPr wrap="square" lIns="0" tIns="0" rIns="0" bIns="0" rtlCol="0" anchor="ctr"/>
          <a:lstStyle/>
          <a:p>
            <a:pPr indent="0" marL="0">
              <a:lnSpc>
                <a:spcPct val="120000"/>
              </a:lnSpc>
              <a:buNone/>
            </a:pPr>
            <a:r>
              <a:rPr lang="en-US" sz="1000" i="1" dirty="0">
                <a:solidFill>
                  <a:srgbClr val="6E6A60"/>
                </a:solidFill>
                <a:latin typeface="Calibri" pitchFamily="34" charset="0"/>
                <a:ea typeface="Calibri" pitchFamily="34" charset="-122"/>
                <a:cs typeface="Calibri" pitchFamily="34" charset="-120"/>
              </a:rPr>
              <a:t>“EXMAN Media &amp; Events Exchange” — jointly owned sponsorship &amp; streaming desk</a:t>
            </a:r>
            <a:endParaRPr lang="en-US" sz="1000" dirty="0"/>
          </a:p>
        </p:txBody>
      </p:sp>
      <p:sp>
        <p:nvSpPr>
          <p:cNvPr id="16" name="Shape 14"/>
          <p:cNvSpPr/>
          <p:nvPr/>
        </p:nvSpPr>
        <p:spPr>
          <a:xfrm>
            <a:off x="4526280" y="3127248"/>
            <a:ext cx="3063240" cy="914"/>
          </a:xfrm>
          <a:prstGeom prst="line">
            <a:avLst/>
          </a:prstGeom>
          <a:noFill/>
          <a:ln w="9525">
            <a:solidFill>
              <a:srgbClr val="E4DECE"/>
            </a:solidFill>
            <a:prstDash val="solid"/>
          </a:ln>
        </p:spPr>
      </p:sp>
      <p:sp>
        <p:nvSpPr>
          <p:cNvPr id="17" name="Text 15"/>
          <p:cNvSpPr txBox="1"/>
          <p:nvPr/>
        </p:nvSpPr>
        <p:spPr>
          <a:xfrm>
            <a:off x="4526280" y="3218688"/>
            <a:ext cx="1828800" cy="228600"/>
          </a:xfrm>
          <a:prstGeom prst="rect">
            <a:avLst/>
          </a:prstGeom>
          <a:noFill/>
          <a:ln/>
        </p:spPr>
        <p:txBody>
          <a:bodyPr wrap="square" lIns="0" tIns="0" rIns="0" bIns="0" rtlCol="0" anchor="ctr"/>
          <a:lstStyle/>
          <a:p>
            <a:pPr indent="0" marL="0">
              <a:buNone/>
            </a:pPr>
            <a:r>
              <a:rPr lang="en-US" sz="950" b="1" spc="100" kern="0" dirty="0">
                <a:solidFill>
                  <a:srgbClr val="2E6B3E"/>
                </a:solidFill>
                <a:latin typeface="Calibri" pitchFamily="34" charset="0"/>
                <a:ea typeface="Calibri" pitchFamily="34" charset="-122"/>
                <a:cs typeface="Calibri" pitchFamily="34" charset="-120"/>
              </a:rPr>
              <a:t>PROS</a:t>
            </a:r>
            <a:endParaRPr lang="en-US" sz="950" dirty="0"/>
          </a:p>
        </p:txBody>
      </p:sp>
      <p:sp>
        <p:nvSpPr>
          <p:cNvPr id="18" name="Text 16"/>
          <p:cNvSpPr txBox="1"/>
          <p:nvPr/>
        </p:nvSpPr>
        <p:spPr>
          <a:xfrm>
            <a:off x="4526280" y="3474720"/>
            <a:ext cx="3108960" cy="96012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Shared ownership &amp; upside</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Formalises exclusivity</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Strongest long-term moat</a:t>
            </a:r>
            <a:endParaRPr lang="en-US" sz="1050" dirty="0"/>
          </a:p>
        </p:txBody>
      </p:sp>
      <p:sp>
        <p:nvSpPr>
          <p:cNvPr id="19" name="Text 17"/>
          <p:cNvSpPr txBox="1"/>
          <p:nvPr/>
        </p:nvSpPr>
        <p:spPr>
          <a:xfrm>
            <a:off x="4526280" y="4434840"/>
            <a:ext cx="1828800" cy="228600"/>
          </a:xfrm>
          <a:prstGeom prst="rect">
            <a:avLst/>
          </a:prstGeom>
          <a:noFill/>
          <a:ln/>
        </p:spPr>
        <p:txBody>
          <a:bodyPr wrap="square" lIns="0" tIns="0" rIns="0" bIns="0" rtlCol="0" anchor="ctr"/>
          <a:lstStyle/>
          <a:p>
            <a:pPr indent="0" marL="0">
              <a:buNone/>
            </a:pPr>
            <a:r>
              <a:rPr lang="en-US" sz="950" b="1" spc="100" kern="0" dirty="0">
                <a:solidFill>
                  <a:srgbClr val="9B3327"/>
                </a:solidFill>
                <a:latin typeface="Calibri" pitchFamily="34" charset="0"/>
                <a:ea typeface="Calibri" pitchFamily="34" charset="-122"/>
                <a:cs typeface="Calibri" pitchFamily="34" charset="-120"/>
              </a:rPr>
              <a:t>CONS</a:t>
            </a:r>
            <a:endParaRPr lang="en-US" sz="950" dirty="0"/>
          </a:p>
        </p:txBody>
      </p:sp>
      <p:sp>
        <p:nvSpPr>
          <p:cNvPr id="20" name="Text 18"/>
          <p:cNvSpPr txBox="1"/>
          <p:nvPr/>
        </p:nvSpPr>
        <p:spPr>
          <a:xfrm>
            <a:off x="4526280" y="4690872"/>
            <a:ext cx="3108960" cy="105156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Slower to set up</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Needs legal &amp; governance work</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Requires full board buy-in</a:t>
            </a:r>
            <a:endParaRPr lang="en-US" sz="1050" dirty="0"/>
          </a:p>
        </p:txBody>
      </p:sp>
      <p:sp>
        <p:nvSpPr>
          <p:cNvPr id="21" name="Shape 19"/>
          <p:cNvSpPr/>
          <p:nvPr/>
        </p:nvSpPr>
        <p:spPr>
          <a:xfrm>
            <a:off x="8046720" y="1691640"/>
            <a:ext cx="3520440" cy="4160520"/>
          </a:xfrm>
          <a:prstGeom prst="roundRect">
            <a:avLst>
              <a:gd name="adj" fmla="val 1818"/>
            </a:avLst>
          </a:prstGeom>
          <a:solidFill>
            <a:srgbClr val="FBF8F0"/>
          </a:solidFill>
          <a:ln w="12700">
            <a:solidFill>
              <a:srgbClr val="E4DECE"/>
            </a:solidFill>
            <a:prstDash val="solid"/>
          </a:ln>
        </p:spPr>
      </p:sp>
      <p:sp>
        <p:nvSpPr>
          <p:cNvPr id="22" name="Text 20"/>
          <p:cNvSpPr txBox="1"/>
          <p:nvPr/>
        </p:nvSpPr>
        <p:spPr>
          <a:xfrm>
            <a:off x="8275320" y="1874520"/>
            <a:ext cx="3063240" cy="502920"/>
          </a:xfrm>
          <a:prstGeom prst="rect">
            <a:avLst/>
          </a:prstGeom>
          <a:noFill/>
          <a:ln/>
        </p:spPr>
        <p:txBody>
          <a:bodyPr wrap="square" lIns="0" tIns="0" rIns="0" bIns="0" rtlCol="0" anchor="ctr"/>
          <a:lstStyle/>
          <a:p>
            <a:pPr indent="0" marL="0">
              <a:lnSpc>
                <a:spcPct val="110000"/>
              </a:lnSpc>
              <a:buNone/>
            </a:pPr>
            <a:r>
              <a:rPr lang="en-US" sz="1350" b="1" dirty="0">
                <a:solidFill>
                  <a:srgbClr val="201C15"/>
                </a:solidFill>
                <a:latin typeface="Cambria" pitchFamily="34" charset="0"/>
                <a:ea typeface="Cambria" pitchFamily="34" charset="-122"/>
                <a:cs typeface="Cambria" pitchFamily="34" charset="-120"/>
              </a:rPr>
              <a:t>C. Revenue-Share Licence</a:t>
            </a:r>
            <a:endParaRPr lang="en-US" sz="1350" dirty="0"/>
          </a:p>
        </p:txBody>
      </p:sp>
      <p:sp>
        <p:nvSpPr>
          <p:cNvPr id="23" name="Text 21"/>
          <p:cNvSpPr txBox="1"/>
          <p:nvPr/>
        </p:nvSpPr>
        <p:spPr>
          <a:xfrm>
            <a:off x="8275320" y="2395728"/>
            <a:ext cx="3063240" cy="685800"/>
          </a:xfrm>
          <a:prstGeom prst="rect">
            <a:avLst/>
          </a:prstGeom>
          <a:noFill/>
          <a:ln/>
        </p:spPr>
        <p:txBody>
          <a:bodyPr wrap="square" lIns="0" tIns="0" rIns="0" bIns="0" rtlCol="0" anchor="ctr"/>
          <a:lstStyle/>
          <a:p>
            <a:pPr indent="0" marL="0">
              <a:lnSpc>
                <a:spcPct val="120000"/>
              </a:lnSpc>
              <a:buNone/>
            </a:pPr>
            <a:r>
              <a:rPr lang="en-US" sz="1000" i="1" dirty="0">
                <a:solidFill>
                  <a:srgbClr val="6E6A60"/>
                </a:solidFill>
                <a:latin typeface="Calibri" pitchFamily="34" charset="0"/>
                <a:ea typeface="Calibri" pitchFamily="34" charset="-122"/>
                <a:cs typeface="Calibri" pitchFamily="34" charset="-120"/>
              </a:rPr>
              <a:t>EXMAN licenses Asiko TV to sell and stream on its behalf for a fixed share</a:t>
            </a:r>
            <a:endParaRPr lang="en-US" sz="1000" dirty="0"/>
          </a:p>
        </p:txBody>
      </p:sp>
      <p:sp>
        <p:nvSpPr>
          <p:cNvPr id="24" name="Shape 22"/>
          <p:cNvSpPr/>
          <p:nvPr/>
        </p:nvSpPr>
        <p:spPr>
          <a:xfrm>
            <a:off x="8275320" y="3127248"/>
            <a:ext cx="3063240" cy="914"/>
          </a:xfrm>
          <a:prstGeom prst="line">
            <a:avLst/>
          </a:prstGeom>
          <a:noFill/>
          <a:ln w="9525">
            <a:solidFill>
              <a:srgbClr val="E4DECE"/>
            </a:solidFill>
            <a:prstDash val="solid"/>
          </a:ln>
        </p:spPr>
      </p:sp>
      <p:sp>
        <p:nvSpPr>
          <p:cNvPr id="25" name="Text 23"/>
          <p:cNvSpPr txBox="1"/>
          <p:nvPr/>
        </p:nvSpPr>
        <p:spPr>
          <a:xfrm>
            <a:off x="8275320" y="3218688"/>
            <a:ext cx="1828800" cy="228600"/>
          </a:xfrm>
          <a:prstGeom prst="rect">
            <a:avLst/>
          </a:prstGeom>
          <a:noFill/>
          <a:ln/>
        </p:spPr>
        <p:txBody>
          <a:bodyPr wrap="square" lIns="0" tIns="0" rIns="0" bIns="0" rtlCol="0" anchor="ctr"/>
          <a:lstStyle/>
          <a:p>
            <a:pPr indent="0" marL="0">
              <a:buNone/>
            </a:pPr>
            <a:r>
              <a:rPr lang="en-US" sz="950" b="1" spc="100" kern="0" dirty="0">
                <a:solidFill>
                  <a:srgbClr val="2E6B3E"/>
                </a:solidFill>
                <a:latin typeface="Calibri" pitchFamily="34" charset="0"/>
                <a:ea typeface="Calibri" pitchFamily="34" charset="-122"/>
                <a:cs typeface="Calibri" pitchFamily="34" charset="-120"/>
              </a:rPr>
              <a:t>PROS</a:t>
            </a:r>
            <a:endParaRPr lang="en-US" sz="950" dirty="0"/>
          </a:p>
        </p:txBody>
      </p:sp>
      <p:sp>
        <p:nvSpPr>
          <p:cNvPr id="26" name="Text 24"/>
          <p:cNvSpPr txBox="1"/>
          <p:nvPr/>
        </p:nvSpPr>
        <p:spPr>
          <a:xfrm>
            <a:off x="8275320" y="3474720"/>
            <a:ext cx="3108960" cy="96012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Simple to agree</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EXMAN earns passively</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Easy renewal terms</a:t>
            </a:r>
            <a:endParaRPr lang="en-US" sz="1050" dirty="0"/>
          </a:p>
        </p:txBody>
      </p:sp>
      <p:sp>
        <p:nvSpPr>
          <p:cNvPr id="27" name="Text 25"/>
          <p:cNvSpPr txBox="1"/>
          <p:nvPr/>
        </p:nvSpPr>
        <p:spPr>
          <a:xfrm>
            <a:off x="8275320" y="4434840"/>
            <a:ext cx="1828800" cy="228600"/>
          </a:xfrm>
          <a:prstGeom prst="rect">
            <a:avLst/>
          </a:prstGeom>
          <a:noFill/>
          <a:ln/>
        </p:spPr>
        <p:txBody>
          <a:bodyPr wrap="square" lIns="0" tIns="0" rIns="0" bIns="0" rtlCol="0" anchor="ctr"/>
          <a:lstStyle/>
          <a:p>
            <a:pPr indent="0" marL="0">
              <a:buNone/>
            </a:pPr>
            <a:r>
              <a:rPr lang="en-US" sz="950" b="1" spc="100" kern="0" dirty="0">
                <a:solidFill>
                  <a:srgbClr val="9B3327"/>
                </a:solidFill>
                <a:latin typeface="Calibri" pitchFamily="34" charset="0"/>
                <a:ea typeface="Calibri" pitchFamily="34" charset="-122"/>
                <a:cs typeface="Calibri" pitchFamily="34" charset="-120"/>
              </a:rPr>
              <a:t>CONS</a:t>
            </a:r>
            <a:endParaRPr lang="en-US" sz="950" dirty="0"/>
          </a:p>
        </p:txBody>
      </p:sp>
      <p:sp>
        <p:nvSpPr>
          <p:cNvPr id="28" name="Text 26"/>
          <p:cNvSpPr txBox="1"/>
          <p:nvPr/>
        </p:nvSpPr>
        <p:spPr>
          <a:xfrm>
            <a:off x="8275320" y="4690872"/>
            <a:ext cx="3108960" cy="1051560"/>
          </a:xfrm>
          <a:prstGeom prst="rect">
            <a:avLst/>
          </a:prstGeom>
          <a:noFill/>
          <a:ln/>
        </p:spPr>
        <p:txBody>
          <a:bodyPr wrap="square" lIns="0" tIns="0" rIns="0" bIns="0" rtlCol="0" anchor="ctr"/>
          <a:lstStyle/>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Weakest strategic control</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Less EXMAN incentive to champion</a:t>
            </a:r>
            <a:endParaRPr lang="en-US" sz="1050" dirty="0"/>
          </a:p>
          <a:p>
            <a:pPr marL="152400" indent="-152400">
              <a:lnSpc>
                <a:spcPct val="115000"/>
              </a:lnSpc>
              <a:spcAft>
                <a:spcPts val="400"/>
              </a:spcAft>
              <a:buSzPct val="100000"/>
              <a:buChar char="•"/>
            </a:pPr>
            <a:r>
              <a:rPr lang="en-US" sz="1050" dirty="0">
                <a:solidFill>
                  <a:srgbClr val="201C15"/>
                </a:solidFill>
                <a:latin typeface="Calibri" pitchFamily="34" charset="0"/>
                <a:ea typeface="Calibri" pitchFamily="34" charset="-122"/>
                <a:cs typeface="Calibri" pitchFamily="34" charset="-120"/>
              </a:rPr>
              <a:t>Easiest to walk away from</a:t>
            </a:r>
            <a:endParaRPr lang="en-US" sz="1050" dirty="0"/>
          </a:p>
        </p:txBody>
      </p:sp>
      <p:sp>
        <p:nvSpPr>
          <p:cNvPr id="29" name="Text 27"/>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07</a:t>
            </a:r>
            <a:endParaRPr lang="en-US" sz="900" dirty="0"/>
          </a:p>
        </p:txBody>
      </p:sp>
      <p:sp>
        <p:nvSpPr>
          <p:cNvPr id="30" name="Text 28"/>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RECOMMENDATION</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Start as Partner, Build Toward Joint Venture</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828800"/>
            <a:ext cx="457200" cy="457200"/>
          </a:xfrm>
          <a:prstGeom prst="ellipse">
            <a:avLst/>
          </a:prstGeom>
          <a:solidFill>
            <a:srgbClr val="0A0A0A"/>
          </a:solidFill>
          <a:ln/>
        </p:spPr>
      </p:sp>
      <p:sp>
        <p:nvSpPr>
          <p:cNvPr id="6" name="Text 4"/>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600" b="1" dirty="0">
                <a:solidFill>
                  <a:srgbClr val="C99632"/>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777240" y="2377440"/>
            <a:ext cx="914" cy="777240"/>
          </a:xfrm>
          <a:prstGeom prst="line">
            <a:avLst/>
          </a:prstGeom>
          <a:noFill/>
          <a:ln w="19050">
            <a:solidFill>
              <a:srgbClr val="E4DECE"/>
            </a:solidFill>
            <a:prstDash val="solid"/>
          </a:ln>
        </p:spPr>
      </p:sp>
      <p:sp>
        <p:nvSpPr>
          <p:cNvPr id="8" name="Text 6"/>
          <p:cNvSpPr txBox="1"/>
          <p:nvPr/>
        </p:nvSpPr>
        <p:spPr>
          <a:xfrm>
            <a:off x="1234440" y="1783080"/>
            <a:ext cx="9418320" cy="274320"/>
          </a:xfrm>
          <a:prstGeom prst="rect">
            <a:avLst/>
          </a:prstGeom>
          <a:noFill/>
          <a:ln/>
        </p:spPr>
        <p:txBody>
          <a:bodyPr wrap="square" lIns="0" tIns="0" rIns="0" bIns="0" rtlCol="0" anchor="ctr"/>
          <a:lstStyle/>
          <a:p>
            <a:pPr indent="0" marL="0">
              <a:buNone/>
            </a:pPr>
            <a:r>
              <a:rPr lang="en-US" sz="1050" b="1" spc="150" kern="0" dirty="0">
                <a:solidFill>
                  <a:srgbClr val="C99632"/>
                </a:solidFill>
                <a:latin typeface="Calibri" pitchFamily="34" charset="0"/>
                <a:ea typeface="Calibri" pitchFamily="34" charset="-122"/>
                <a:cs typeface="Calibri" pitchFamily="34" charset="-120"/>
              </a:rPr>
              <a:t>PHASE 1  ·  MONTHS 1–6</a:t>
            </a:r>
            <a:endParaRPr lang="en-US" sz="1050" dirty="0"/>
          </a:p>
        </p:txBody>
      </p:sp>
      <p:sp>
        <p:nvSpPr>
          <p:cNvPr id="9" name="Text 7"/>
          <p:cNvSpPr txBox="1"/>
          <p:nvPr/>
        </p:nvSpPr>
        <p:spPr>
          <a:xfrm>
            <a:off x="1234440" y="2057400"/>
            <a:ext cx="9418320" cy="365760"/>
          </a:xfrm>
          <a:prstGeom prst="rect">
            <a:avLst/>
          </a:prstGeom>
          <a:noFill/>
          <a:ln/>
        </p:spPr>
        <p:txBody>
          <a:bodyPr wrap="square" lIns="0" tIns="0" rIns="0" bIns="0" rtlCol="0" anchor="ctr"/>
          <a:lstStyle/>
          <a:p>
            <a:pPr indent="0" marL="0">
              <a:buNone/>
            </a:pPr>
            <a:r>
              <a:rPr lang="en-US" sz="1600" b="1" dirty="0">
                <a:solidFill>
                  <a:srgbClr val="201C15"/>
                </a:solidFill>
                <a:latin typeface="Cambria" pitchFamily="34" charset="0"/>
                <a:ea typeface="Cambria" pitchFamily="34" charset="-122"/>
                <a:cs typeface="Cambria" pitchFamily="34" charset="-120"/>
              </a:rPr>
              <a:t>Preferred Partner Agreement</a:t>
            </a:r>
            <a:endParaRPr lang="en-US" sz="1600" dirty="0"/>
          </a:p>
        </p:txBody>
      </p:sp>
      <p:sp>
        <p:nvSpPr>
          <p:cNvPr id="10" name="Text 8"/>
          <p:cNvSpPr txBox="1"/>
          <p:nvPr/>
        </p:nvSpPr>
        <p:spPr>
          <a:xfrm>
            <a:off x="1234440" y="2441448"/>
            <a:ext cx="9418320" cy="548640"/>
          </a:xfrm>
          <a:prstGeom prst="rect">
            <a:avLst/>
          </a:prstGeom>
          <a:noFill/>
          <a:ln/>
        </p:spPr>
        <p:txBody>
          <a:bodyPr wrap="square" lIns="0" tIns="0" rIns="0" bIns="0" rtlCol="0" anchor="ctr"/>
          <a:lstStyle/>
          <a:p>
            <a:pPr indent="0" marL="0">
              <a:lnSpc>
                <a:spcPct val="125000"/>
              </a:lnSpc>
              <a:buNone/>
            </a:pPr>
            <a:r>
              <a:rPr lang="en-US" sz="1200" dirty="0">
                <a:solidFill>
                  <a:srgbClr val="6E6A60"/>
                </a:solidFill>
                <a:latin typeface="Calibri" pitchFamily="34" charset="0"/>
                <a:ea typeface="Calibri" pitchFamily="34" charset="-122"/>
                <a:cs typeface="Calibri" pitchFamily="34" charset="-120"/>
              </a:rPr>
              <a:t>Pilot with 5–10 flagship EXMAN member events — including the EXMAN AGM and Dîner en Blanc Lagos — to prove the model with real numbers.</a:t>
            </a:r>
            <a:endParaRPr lang="en-US" sz="1200" dirty="0"/>
          </a:p>
        </p:txBody>
      </p:sp>
      <p:sp>
        <p:nvSpPr>
          <p:cNvPr id="11" name="Shape 9"/>
          <p:cNvSpPr/>
          <p:nvPr/>
        </p:nvSpPr>
        <p:spPr>
          <a:xfrm>
            <a:off x="548640" y="3291840"/>
            <a:ext cx="457200" cy="457200"/>
          </a:xfrm>
          <a:prstGeom prst="ellipse">
            <a:avLst/>
          </a:prstGeom>
          <a:solidFill>
            <a:srgbClr val="0A0A0A"/>
          </a:solidFill>
          <a:ln/>
        </p:spPr>
      </p:sp>
      <p:sp>
        <p:nvSpPr>
          <p:cNvPr id="12" name="Text 10"/>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600" b="1" dirty="0">
                <a:solidFill>
                  <a:srgbClr val="C99632"/>
                </a:solidFill>
                <a:latin typeface="Cambria" pitchFamily="34" charset="0"/>
                <a:ea typeface="Cambria" pitchFamily="34" charset="-122"/>
                <a:cs typeface="Cambria" pitchFamily="34" charset="-120"/>
              </a:rPr>
              <a:t>2</a:t>
            </a:r>
            <a:endParaRPr lang="en-US" sz="1600" dirty="0"/>
          </a:p>
        </p:txBody>
      </p:sp>
      <p:sp>
        <p:nvSpPr>
          <p:cNvPr id="13" name="Shape 11"/>
          <p:cNvSpPr/>
          <p:nvPr/>
        </p:nvSpPr>
        <p:spPr>
          <a:xfrm>
            <a:off x="777240" y="3840480"/>
            <a:ext cx="914" cy="777240"/>
          </a:xfrm>
          <a:prstGeom prst="line">
            <a:avLst/>
          </a:prstGeom>
          <a:noFill/>
          <a:ln w="19050">
            <a:solidFill>
              <a:srgbClr val="E4DECE"/>
            </a:solidFill>
            <a:prstDash val="solid"/>
          </a:ln>
        </p:spPr>
      </p:sp>
      <p:sp>
        <p:nvSpPr>
          <p:cNvPr id="14" name="Text 12"/>
          <p:cNvSpPr txBox="1"/>
          <p:nvPr/>
        </p:nvSpPr>
        <p:spPr>
          <a:xfrm>
            <a:off x="1234440" y="3246120"/>
            <a:ext cx="9418320" cy="274320"/>
          </a:xfrm>
          <a:prstGeom prst="rect">
            <a:avLst/>
          </a:prstGeom>
          <a:noFill/>
          <a:ln/>
        </p:spPr>
        <p:txBody>
          <a:bodyPr wrap="square" lIns="0" tIns="0" rIns="0" bIns="0" rtlCol="0" anchor="ctr"/>
          <a:lstStyle/>
          <a:p>
            <a:pPr indent="0" marL="0">
              <a:buNone/>
            </a:pPr>
            <a:r>
              <a:rPr lang="en-US" sz="1050" b="1" spc="150" kern="0" dirty="0">
                <a:solidFill>
                  <a:srgbClr val="C99632"/>
                </a:solidFill>
                <a:latin typeface="Calibri" pitchFamily="34" charset="0"/>
                <a:ea typeface="Calibri" pitchFamily="34" charset="-122"/>
                <a:cs typeface="Calibri" pitchFamily="34" charset="-120"/>
              </a:rPr>
              <a:t>PHASE 2  ·  MONTHS 6–18</a:t>
            </a:r>
            <a:endParaRPr lang="en-US" sz="1050" dirty="0"/>
          </a:p>
        </p:txBody>
      </p:sp>
      <p:sp>
        <p:nvSpPr>
          <p:cNvPr id="15" name="Text 13"/>
          <p:cNvSpPr txBox="1"/>
          <p:nvPr/>
        </p:nvSpPr>
        <p:spPr>
          <a:xfrm>
            <a:off x="1234440" y="3520440"/>
            <a:ext cx="9418320" cy="365760"/>
          </a:xfrm>
          <a:prstGeom prst="rect">
            <a:avLst/>
          </a:prstGeom>
          <a:noFill/>
          <a:ln/>
        </p:spPr>
        <p:txBody>
          <a:bodyPr wrap="square" lIns="0" tIns="0" rIns="0" bIns="0" rtlCol="0" anchor="ctr"/>
          <a:lstStyle/>
          <a:p>
            <a:pPr indent="0" marL="0">
              <a:buNone/>
            </a:pPr>
            <a:r>
              <a:rPr lang="en-US" sz="1600" b="1" dirty="0">
                <a:solidFill>
                  <a:srgbClr val="201C15"/>
                </a:solidFill>
                <a:latin typeface="Cambria" pitchFamily="34" charset="0"/>
                <a:ea typeface="Cambria" pitchFamily="34" charset="-122"/>
                <a:cs typeface="Cambria" pitchFamily="34" charset="-120"/>
              </a:rPr>
              <a:t>“EXMAN Media &amp; Events Exchange”</a:t>
            </a:r>
            <a:endParaRPr lang="en-US" sz="1600" dirty="0"/>
          </a:p>
        </p:txBody>
      </p:sp>
      <p:sp>
        <p:nvSpPr>
          <p:cNvPr id="16" name="Text 14"/>
          <p:cNvSpPr txBox="1"/>
          <p:nvPr/>
        </p:nvSpPr>
        <p:spPr>
          <a:xfrm>
            <a:off x="1234440" y="3904488"/>
            <a:ext cx="9418320" cy="548640"/>
          </a:xfrm>
          <a:prstGeom prst="rect">
            <a:avLst/>
          </a:prstGeom>
          <a:noFill/>
          <a:ln/>
        </p:spPr>
        <p:txBody>
          <a:bodyPr wrap="square" lIns="0" tIns="0" rIns="0" bIns="0" rtlCol="0" anchor="ctr"/>
          <a:lstStyle/>
          <a:p>
            <a:pPr indent="0" marL="0">
              <a:lnSpc>
                <a:spcPct val="125000"/>
              </a:lnSpc>
              <a:buNone/>
            </a:pPr>
            <a:r>
              <a:rPr lang="en-US" sz="1200" dirty="0">
                <a:solidFill>
                  <a:srgbClr val="6E6A60"/>
                </a:solidFill>
                <a:latin typeface="Calibri" pitchFamily="34" charset="0"/>
                <a:ea typeface="Calibri" pitchFamily="34" charset="-122"/>
                <a:cs typeface="Calibri" pitchFamily="34" charset="-120"/>
              </a:rPr>
              <a:t>Formalise into a jointly branded sponsorship &amp; streaming desk. EXMAN holds a revenue share or equity stake; Asiko TV operates it day to day.</a:t>
            </a:r>
            <a:endParaRPr lang="en-US" sz="1200" dirty="0"/>
          </a:p>
        </p:txBody>
      </p:sp>
      <p:sp>
        <p:nvSpPr>
          <p:cNvPr id="17" name="Shape 15"/>
          <p:cNvSpPr/>
          <p:nvPr/>
        </p:nvSpPr>
        <p:spPr>
          <a:xfrm>
            <a:off x="548640" y="4754880"/>
            <a:ext cx="457200" cy="457200"/>
          </a:xfrm>
          <a:prstGeom prst="ellipse">
            <a:avLst/>
          </a:prstGeom>
          <a:solidFill>
            <a:srgbClr val="0A0A0A"/>
          </a:solidFill>
          <a:ln/>
        </p:spPr>
      </p:sp>
      <p:sp>
        <p:nvSpPr>
          <p:cNvPr id="18" name="Text 16"/>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rgbClr val="C99632"/>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234440" y="4709160"/>
            <a:ext cx="9418320" cy="274320"/>
          </a:xfrm>
          <a:prstGeom prst="rect">
            <a:avLst/>
          </a:prstGeom>
          <a:noFill/>
          <a:ln/>
        </p:spPr>
        <p:txBody>
          <a:bodyPr wrap="square" lIns="0" tIns="0" rIns="0" bIns="0" rtlCol="0" anchor="ctr"/>
          <a:lstStyle/>
          <a:p>
            <a:pPr indent="0" marL="0">
              <a:buNone/>
            </a:pPr>
            <a:r>
              <a:rPr lang="en-US" sz="1050" b="1" spc="150" kern="0" dirty="0">
                <a:solidFill>
                  <a:srgbClr val="C99632"/>
                </a:solidFill>
                <a:latin typeface="Calibri" pitchFamily="34" charset="0"/>
                <a:ea typeface="Calibri" pitchFamily="34" charset="-122"/>
                <a:cs typeface="Calibri" pitchFamily="34" charset="-120"/>
              </a:rPr>
              <a:t>PHASE 3  ·  18+ MONTHS</a:t>
            </a:r>
            <a:endParaRPr lang="en-US" sz="1050" dirty="0"/>
          </a:p>
        </p:txBody>
      </p:sp>
      <p:sp>
        <p:nvSpPr>
          <p:cNvPr id="20" name="Text 18"/>
          <p:cNvSpPr txBox="1"/>
          <p:nvPr/>
        </p:nvSpPr>
        <p:spPr>
          <a:xfrm>
            <a:off x="1234440" y="4983480"/>
            <a:ext cx="9418320" cy="365760"/>
          </a:xfrm>
          <a:prstGeom prst="rect">
            <a:avLst/>
          </a:prstGeom>
          <a:noFill/>
          <a:ln/>
        </p:spPr>
        <p:txBody>
          <a:bodyPr wrap="square" lIns="0" tIns="0" rIns="0" bIns="0" rtlCol="0" anchor="ctr"/>
          <a:lstStyle/>
          <a:p>
            <a:pPr indent="0" marL="0">
              <a:buNone/>
            </a:pPr>
            <a:r>
              <a:rPr lang="en-US" sz="1600" b="1" dirty="0">
                <a:solidFill>
                  <a:srgbClr val="201C15"/>
                </a:solidFill>
                <a:latin typeface="Cambria" pitchFamily="34" charset="0"/>
                <a:ea typeface="Cambria" pitchFamily="34" charset="-122"/>
                <a:cs typeface="Cambria" pitchFamily="34" charset="-120"/>
              </a:rPr>
              <a:t>Extend Beyond Nigeria</a:t>
            </a:r>
            <a:endParaRPr lang="en-US" sz="1600" dirty="0"/>
          </a:p>
        </p:txBody>
      </p:sp>
      <p:sp>
        <p:nvSpPr>
          <p:cNvPr id="21" name="Text 19"/>
          <p:cNvSpPr txBox="1"/>
          <p:nvPr/>
        </p:nvSpPr>
        <p:spPr>
          <a:xfrm>
            <a:off x="1234440" y="5367528"/>
            <a:ext cx="9418320" cy="548640"/>
          </a:xfrm>
          <a:prstGeom prst="rect">
            <a:avLst/>
          </a:prstGeom>
          <a:noFill/>
          <a:ln/>
        </p:spPr>
        <p:txBody>
          <a:bodyPr wrap="square" lIns="0" tIns="0" rIns="0" bIns="0" rtlCol="0" anchor="ctr"/>
          <a:lstStyle/>
          <a:p>
            <a:pPr indent="0" marL="0">
              <a:lnSpc>
                <a:spcPct val="125000"/>
              </a:lnSpc>
              <a:buNone/>
            </a:pPr>
            <a:r>
              <a:rPr lang="en-US" sz="1200" dirty="0">
                <a:solidFill>
                  <a:srgbClr val="6E6A60"/>
                </a:solidFill>
                <a:latin typeface="Calibri" pitchFamily="34" charset="0"/>
                <a:ea typeface="Calibri" pitchFamily="34" charset="-122"/>
                <a:cs typeface="Calibri" pitchFamily="34" charset="-120"/>
              </a:rPr>
              <a:t>Mirror Dîner en Blanc's Nigeria + Ghana footprint — extend the model to EXMAN's regional counterparts and pan-African events.</a:t>
            </a:r>
            <a:endParaRPr lang="en-US" sz="1200" dirty="0"/>
          </a:p>
        </p:txBody>
      </p:sp>
      <p:sp>
        <p:nvSpPr>
          <p:cNvPr id="22" name="Text 20"/>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08</a:t>
            </a:r>
            <a:endParaRPr lang="en-US" sz="900" dirty="0"/>
          </a:p>
        </p:txBody>
      </p:sp>
      <p:sp>
        <p:nvSpPr>
          <p:cNvPr id="23" name="Text 21"/>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HOW WE APPROACH THEM</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From Relationship to Ratified Proposal</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783080"/>
            <a:ext cx="10241280" cy="749808"/>
          </a:xfrm>
          <a:prstGeom prst="roundRect">
            <a:avLst>
              <a:gd name="adj" fmla="val 7317"/>
            </a:avLst>
          </a:prstGeom>
          <a:solidFill>
            <a:srgbClr val="FBF8F0"/>
          </a:solidFill>
          <a:ln w="9525">
            <a:solidFill>
              <a:srgbClr val="E4DECE"/>
            </a:solidFill>
            <a:prstDash val="solid"/>
          </a:ln>
        </p:spPr>
      </p:sp>
      <p:sp>
        <p:nvSpPr>
          <p:cNvPr id="6" name="Shape 4"/>
          <p:cNvSpPr/>
          <p:nvPr/>
        </p:nvSpPr>
        <p:spPr>
          <a:xfrm>
            <a:off x="749808" y="1929384"/>
            <a:ext cx="457200" cy="457200"/>
          </a:xfrm>
          <a:prstGeom prst="ellipse">
            <a:avLst/>
          </a:prstGeom>
          <a:solidFill>
            <a:srgbClr val="0A0A0A"/>
          </a:solidFill>
          <a:ln/>
        </p:spPr>
      </p:sp>
      <p:sp>
        <p:nvSpPr>
          <p:cNvPr id="7" name="Text 5"/>
          <p:cNvSpPr txBox="1"/>
          <p:nvPr/>
        </p:nvSpPr>
        <p:spPr>
          <a:xfrm>
            <a:off x="749808" y="1929384"/>
            <a:ext cx="457200" cy="457200"/>
          </a:xfrm>
          <a:prstGeom prst="rect">
            <a:avLst/>
          </a:prstGeom>
          <a:noFill/>
          <a:ln/>
        </p:spPr>
        <p:txBody>
          <a:bodyPr wrap="square" lIns="0" tIns="0" rIns="0" bIns="0" rtlCol="0" anchor="ctr"/>
          <a:lstStyle/>
          <a:p>
            <a:pPr algn="ctr" indent="0" marL="0">
              <a:buNone/>
            </a:pPr>
            <a:r>
              <a:rPr lang="en-US" sz="1500" b="1" dirty="0">
                <a:solidFill>
                  <a:srgbClr val="C99632"/>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856232"/>
            <a:ext cx="3383280" cy="621792"/>
          </a:xfrm>
          <a:prstGeom prst="rect">
            <a:avLst/>
          </a:prstGeom>
          <a:noFill/>
          <a:ln/>
        </p:spPr>
        <p:txBody>
          <a:bodyPr wrap="square" lIns="0" tIns="0" rIns="0" bIns="0" rtlCol="0" anchor="ctr"/>
          <a:lstStyle/>
          <a:p>
            <a:pPr indent="0" marL="0">
              <a:lnSpc>
                <a:spcPct val="110000"/>
              </a:lnSpc>
              <a:buNone/>
            </a:pPr>
            <a:r>
              <a:rPr lang="en-US" sz="1300" b="1" dirty="0">
                <a:solidFill>
                  <a:srgbClr val="201C15"/>
                </a:solidFill>
                <a:latin typeface="Cambria" pitchFamily="34" charset="0"/>
                <a:ea typeface="Cambria" pitchFamily="34" charset="-122"/>
                <a:cs typeface="Cambria" pitchFamily="34" charset="-120"/>
              </a:rPr>
              <a:t>Lead with performance</a:t>
            </a:r>
            <a:endParaRPr lang="en-US" sz="1300" dirty="0"/>
          </a:p>
        </p:txBody>
      </p:sp>
      <p:sp>
        <p:nvSpPr>
          <p:cNvPr id="9" name="Text 7"/>
          <p:cNvSpPr txBox="1"/>
          <p:nvPr/>
        </p:nvSpPr>
        <p:spPr>
          <a:xfrm>
            <a:off x="4937760" y="1856232"/>
            <a:ext cx="5669280" cy="621792"/>
          </a:xfrm>
          <a:prstGeom prst="rect">
            <a:avLst/>
          </a:prstGeom>
          <a:noFill/>
          <a:ln/>
        </p:spPr>
        <p:txBody>
          <a:bodyPr wrap="square" lIns="0" tIns="0" rIns="0" bIns="0" rtlCol="0" anchor="ctr"/>
          <a:lstStyle/>
          <a:p>
            <a:pPr indent="0" marL="0">
              <a:lnSpc>
                <a:spcPct val="115000"/>
              </a:lnSpc>
              <a:buNone/>
            </a:pPr>
            <a:r>
              <a:rPr lang="en-US" sz="1150" dirty="0">
                <a:solidFill>
                  <a:srgbClr val="6E6A60"/>
                </a:solidFill>
                <a:latin typeface="Calibri" pitchFamily="34" charset="0"/>
                <a:ea typeface="Calibri" pitchFamily="34" charset="-122"/>
                <a:cs typeface="Calibri" pitchFamily="34" charset="-120"/>
              </a:rPr>
              <a:t>Use the Dîner en Blanc Lagos partnership as live proof of delivery, before EXMAN is ever raised as a topic.</a:t>
            </a:r>
            <a:endParaRPr lang="en-US" sz="1150" dirty="0"/>
          </a:p>
        </p:txBody>
      </p:sp>
      <p:sp>
        <p:nvSpPr>
          <p:cNvPr id="10" name="Shape 8"/>
          <p:cNvSpPr/>
          <p:nvPr/>
        </p:nvSpPr>
        <p:spPr>
          <a:xfrm>
            <a:off x="548640" y="2679192"/>
            <a:ext cx="10241280" cy="749808"/>
          </a:xfrm>
          <a:prstGeom prst="roundRect">
            <a:avLst>
              <a:gd name="adj" fmla="val 7317"/>
            </a:avLst>
          </a:prstGeom>
          <a:solidFill>
            <a:srgbClr val="FFFFFF"/>
          </a:solidFill>
          <a:ln w="9525">
            <a:solidFill>
              <a:srgbClr val="E4DECE"/>
            </a:solidFill>
            <a:prstDash val="solid"/>
          </a:ln>
        </p:spPr>
      </p:sp>
      <p:sp>
        <p:nvSpPr>
          <p:cNvPr id="11" name="Shape 9"/>
          <p:cNvSpPr/>
          <p:nvPr/>
        </p:nvSpPr>
        <p:spPr>
          <a:xfrm>
            <a:off x="749808" y="2825496"/>
            <a:ext cx="457200" cy="457200"/>
          </a:xfrm>
          <a:prstGeom prst="ellipse">
            <a:avLst/>
          </a:prstGeom>
          <a:solidFill>
            <a:srgbClr val="0A0A0A"/>
          </a:solidFill>
          <a:ln/>
        </p:spPr>
      </p:sp>
      <p:sp>
        <p:nvSpPr>
          <p:cNvPr id="12" name="Text 10"/>
          <p:cNvSpPr txBox="1"/>
          <p:nvPr/>
        </p:nvSpPr>
        <p:spPr>
          <a:xfrm>
            <a:off x="749808" y="2825496"/>
            <a:ext cx="457200" cy="457200"/>
          </a:xfrm>
          <a:prstGeom prst="rect">
            <a:avLst/>
          </a:prstGeom>
          <a:noFill/>
          <a:ln/>
        </p:spPr>
        <p:txBody>
          <a:bodyPr wrap="square" lIns="0" tIns="0" rIns="0" bIns="0" rtlCol="0" anchor="ctr"/>
          <a:lstStyle/>
          <a:p>
            <a:pPr algn="ctr" indent="0" marL="0">
              <a:buNone/>
            </a:pPr>
            <a:r>
              <a:rPr lang="en-US" sz="1500" b="1" dirty="0">
                <a:solidFill>
                  <a:srgbClr val="C99632"/>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417320" y="2752344"/>
            <a:ext cx="3383280" cy="621792"/>
          </a:xfrm>
          <a:prstGeom prst="rect">
            <a:avLst/>
          </a:prstGeom>
          <a:noFill/>
          <a:ln/>
        </p:spPr>
        <p:txBody>
          <a:bodyPr wrap="square" lIns="0" tIns="0" rIns="0" bIns="0" rtlCol="0" anchor="ctr"/>
          <a:lstStyle/>
          <a:p>
            <a:pPr indent="0" marL="0">
              <a:lnSpc>
                <a:spcPct val="110000"/>
              </a:lnSpc>
              <a:buNone/>
            </a:pPr>
            <a:r>
              <a:rPr lang="en-US" sz="1300" b="1" dirty="0">
                <a:solidFill>
                  <a:srgbClr val="201C15"/>
                </a:solidFill>
                <a:latin typeface="Cambria" pitchFamily="34" charset="0"/>
                <a:ea typeface="Cambria" pitchFamily="34" charset="-122"/>
                <a:cs typeface="Cambria" pitchFamily="34" charset="-120"/>
              </a:rPr>
              <a:t>Request time with Tolulope Medebem</a:t>
            </a:r>
            <a:endParaRPr lang="en-US" sz="1300" dirty="0"/>
          </a:p>
        </p:txBody>
      </p:sp>
      <p:sp>
        <p:nvSpPr>
          <p:cNvPr id="14" name="Text 12"/>
          <p:cNvSpPr txBox="1"/>
          <p:nvPr/>
        </p:nvSpPr>
        <p:spPr>
          <a:xfrm>
            <a:off x="4937760" y="2752344"/>
            <a:ext cx="5669280" cy="621792"/>
          </a:xfrm>
          <a:prstGeom prst="rect">
            <a:avLst/>
          </a:prstGeom>
          <a:noFill/>
          <a:ln/>
        </p:spPr>
        <p:txBody>
          <a:bodyPr wrap="square" lIns="0" tIns="0" rIns="0" bIns="0" rtlCol="0" anchor="ctr"/>
          <a:lstStyle/>
          <a:p>
            <a:pPr indent="0" marL="0">
              <a:lnSpc>
                <a:spcPct val="115000"/>
              </a:lnSpc>
              <a:buNone/>
            </a:pPr>
            <a:r>
              <a:rPr lang="en-US" sz="1150" dirty="0">
                <a:solidFill>
                  <a:srgbClr val="6E6A60"/>
                </a:solidFill>
                <a:latin typeface="Calibri" pitchFamily="34" charset="0"/>
                <a:ea typeface="Calibri" pitchFamily="34" charset="-122"/>
                <a:cs typeface="Calibri" pitchFamily="34" charset="-120"/>
              </a:rPr>
              <a:t>Approach in her AsterIML capacity first, to informally socialise the EXMAN-wide idea one-to-one.</a:t>
            </a:r>
            <a:endParaRPr lang="en-US" sz="1150" dirty="0"/>
          </a:p>
        </p:txBody>
      </p:sp>
      <p:sp>
        <p:nvSpPr>
          <p:cNvPr id="15" name="Shape 13"/>
          <p:cNvSpPr/>
          <p:nvPr/>
        </p:nvSpPr>
        <p:spPr>
          <a:xfrm>
            <a:off x="548640" y="3575304"/>
            <a:ext cx="10241280" cy="749808"/>
          </a:xfrm>
          <a:prstGeom prst="roundRect">
            <a:avLst>
              <a:gd name="adj" fmla="val 7317"/>
            </a:avLst>
          </a:prstGeom>
          <a:solidFill>
            <a:srgbClr val="FBF8F0"/>
          </a:solidFill>
          <a:ln w="9525">
            <a:solidFill>
              <a:srgbClr val="E4DECE"/>
            </a:solidFill>
            <a:prstDash val="solid"/>
          </a:ln>
        </p:spPr>
      </p:sp>
      <p:sp>
        <p:nvSpPr>
          <p:cNvPr id="16" name="Shape 14"/>
          <p:cNvSpPr/>
          <p:nvPr/>
        </p:nvSpPr>
        <p:spPr>
          <a:xfrm>
            <a:off x="749808" y="3721608"/>
            <a:ext cx="457200" cy="457200"/>
          </a:xfrm>
          <a:prstGeom prst="ellipse">
            <a:avLst/>
          </a:prstGeom>
          <a:solidFill>
            <a:srgbClr val="0A0A0A"/>
          </a:solidFill>
          <a:ln/>
        </p:spPr>
      </p:sp>
      <p:sp>
        <p:nvSpPr>
          <p:cNvPr id="17" name="Text 15"/>
          <p:cNvSpPr txBox="1"/>
          <p:nvPr/>
        </p:nvSpPr>
        <p:spPr>
          <a:xfrm>
            <a:off x="749808" y="3721608"/>
            <a:ext cx="457200" cy="457200"/>
          </a:xfrm>
          <a:prstGeom prst="rect">
            <a:avLst/>
          </a:prstGeom>
          <a:noFill/>
          <a:ln/>
        </p:spPr>
        <p:txBody>
          <a:bodyPr wrap="square" lIns="0" tIns="0" rIns="0" bIns="0" rtlCol="0" anchor="ctr"/>
          <a:lstStyle/>
          <a:p>
            <a:pPr algn="ctr" indent="0" marL="0">
              <a:buNone/>
            </a:pPr>
            <a:r>
              <a:rPr lang="en-US" sz="1500" b="1" dirty="0">
                <a:solidFill>
                  <a:srgbClr val="C99632"/>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648456"/>
            <a:ext cx="3383280" cy="621792"/>
          </a:xfrm>
          <a:prstGeom prst="rect">
            <a:avLst/>
          </a:prstGeom>
          <a:noFill/>
          <a:ln/>
        </p:spPr>
        <p:txBody>
          <a:bodyPr wrap="square" lIns="0" tIns="0" rIns="0" bIns="0" rtlCol="0" anchor="ctr"/>
          <a:lstStyle/>
          <a:p>
            <a:pPr indent="0" marL="0">
              <a:lnSpc>
                <a:spcPct val="110000"/>
              </a:lnSpc>
              <a:buNone/>
            </a:pPr>
            <a:r>
              <a:rPr lang="en-US" sz="1300" b="1" dirty="0">
                <a:solidFill>
                  <a:srgbClr val="201C15"/>
                </a:solidFill>
                <a:latin typeface="Cambria" pitchFamily="34" charset="0"/>
                <a:ea typeface="Cambria" pitchFamily="34" charset="-122"/>
                <a:cs typeface="Cambria" pitchFamily="34" charset="-120"/>
              </a:rPr>
              <a:t>Prepare a formal proposal for the EXMAN Exco</a:t>
            </a:r>
            <a:endParaRPr lang="en-US" sz="1300" dirty="0"/>
          </a:p>
        </p:txBody>
      </p:sp>
      <p:sp>
        <p:nvSpPr>
          <p:cNvPr id="19" name="Text 17"/>
          <p:cNvSpPr txBox="1"/>
          <p:nvPr/>
        </p:nvSpPr>
        <p:spPr>
          <a:xfrm>
            <a:off x="4937760" y="3648456"/>
            <a:ext cx="5669280" cy="621792"/>
          </a:xfrm>
          <a:prstGeom prst="rect">
            <a:avLst/>
          </a:prstGeom>
          <a:noFill/>
          <a:ln/>
        </p:spPr>
        <p:txBody>
          <a:bodyPr wrap="square" lIns="0" tIns="0" rIns="0" bIns="0" rtlCol="0" anchor="ctr"/>
          <a:lstStyle/>
          <a:p>
            <a:pPr indent="0" marL="0">
              <a:lnSpc>
                <a:spcPct val="115000"/>
              </a:lnSpc>
              <a:buNone/>
            </a:pPr>
            <a:r>
              <a:rPr lang="en-US" sz="1150" dirty="0">
                <a:solidFill>
                  <a:srgbClr val="6E6A60"/>
                </a:solidFill>
                <a:latin typeface="Calibri" pitchFamily="34" charset="0"/>
                <a:ea typeface="Calibri" pitchFamily="34" charset="-122"/>
                <a:cs typeface="Calibri" pitchFamily="34" charset="-120"/>
              </a:rPr>
              <a:t>The Executive Council — not the President alone — must ratify any association-wide partnership.</a:t>
            </a:r>
            <a:endParaRPr lang="en-US" sz="1150" dirty="0"/>
          </a:p>
        </p:txBody>
      </p:sp>
      <p:sp>
        <p:nvSpPr>
          <p:cNvPr id="20" name="Shape 18"/>
          <p:cNvSpPr/>
          <p:nvPr/>
        </p:nvSpPr>
        <p:spPr>
          <a:xfrm>
            <a:off x="548640" y="4471416"/>
            <a:ext cx="10241280" cy="749808"/>
          </a:xfrm>
          <a:prstGeom prst="roundRect">
            <a:avLst>
              <a:gd name="adj" fmla="val 7317"/>
            </a:avLst>
          </a:prstGeom>
          <a:solidFill>
            <a:srgbClr val="FFFFFF"/>
          </a:solidFill>
          <a:ln w="9525">
            <a:solidFill>
              <a:srgbClr val="E4DECE"/>
            </a:solidFill>
            <a:prstDash val="solid"/>
          </a:ln>
        </p:spPr>
      </p:sp>
      <p:sp>
        <p:nvSpPr>
          <p:cNvPr id="21" name="Shape 19"/>
          <p:cNvSpPr/>
          <p:nvPr/>
        </p:nvSpPr>
        <p:spPr>
          <a:xfrm>
            <a:off x="749808" y="4617720"/>
            <a:ext cx="457200" cy="457200"/>
          </a:xfrm>
          <a:prstGeom prst="ellipse">
            <a:avLst/>
          </a:prstGeom>
          <a:solidFill>
            <a:srgbClr val="0A0A0A"/>
          </a:solidFill>
          <a:ln/>
        </p:spPr>
      </p:sp>
      <p:sp>
        <p:nvSpPr>
          <p:cNvPr id="22" name="Text 20"/>
          <p:cNvSpPr txBox="1"/>
          <p:nvPr/>
        </p:nvSpPr>
        <p:spPr>
          <a:xfrm>
            <a:off x="749808" y="4617720"/>
            <a:ext cx="457200" cy="457200"/>
          </a:xfrm>
          <a:prstGeom prst="rect">
            <a:avLst/>
          </a:prstGeom>
          <a:noFill/>
          <a:ln/>
        </p:spPr>
        <p:txBody>
          <a:bodyPr wrap="square" lIns="0" tIns="0" rIns="0" bIns="0" rtlCol="0" anchor="ctr"/>
          <a:lstStyle/>
          <a:p>
            <a:pPr algn="ctr" indent="0" marL="0">
              <a:buNone/>
            </a:pPr>
            <a:r>
              <a:rPr lang="en-US" sz="1500" b="1" dirty="0">
                <a:solidFill>
                  <a:srgbClr val="C99632"/>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417320" y="4544568"/>
            <a:ext cx="3383280" cy="621792"/>
          </a:xfrm>
          <a:prstGeom prst="rect">
            <a:avLst/>
          </a:prstGeom>
          <a:noFill/>
          <a:ln/>
        </p:spPr>
        <p:txBody>
          <a:bodyPr wrap="square" lIns="0" tIns="0" rIns="0" bIns="0" rtlCol="0" anchor="ctr"/>
          <a:lstStyle/>
          <a:p>
            <a:pPr indent="0" marL="0">
              <a:lnSpc>
                <a:spcPct val="110000"/>
              </a:lnSpc>
              <a:buNone/>
            </a:pPr>
            <a:r>
              <a:rPr lang="en-US" sz="1300" b="1" dirty="0">
                <a:solidFill>
                  <a:srgbClr val="201C15"/>
                </a:solidFill>
                <a:latin typeface="Cambria" pitchFamily="34" charset="0"/>
                <a:ea typeface="Cambria" pitchFamily="34" charset="-122"/>
                <a:cs typeface="Cambria" pitchFamily="34" charset="-120"/>
              </a:rPr>
              <a:t>Propose a pilot at the next AGM or flagship event</a:t>
            </a:r>
            <a:endParaRPr lang="en-US" sz="1300" dirty="0"/>
          </a:p>
        </p:txBody>
      </p:sp>
      <p:sp>
        <p:nvSpPr>
          <p:cNvPr id="24" name="Text 22"/>
          <p:cNvSpPr txBox="1"/>
          <p:nvPr/>
        </p:nvSpPr>
        <p:spPr>
          <a:xfrm>
            <a:off x="4937760" y="4544568"/>
            <a:ext cx="5669280" cy="621792"/>
          </a:xfrm>
          <a:prstGeom prst="rect">
            <a:avLst/>
          </a:prstGeom>
          <a:noFill/>
          <a:ln/>
        </p:spPr>
        <p:txBody>
          <a:bodyPr wrap="square" lIns="0" tIns="0" rIns="0" bIns="0" rtlCol="0" anchor="ctr"/>
          <a:lstStyle/>
          <a:p>
            <a:pPr indent="0" marL="0">
              <a:lnSpc>
                <a:spcPct val="115000"/>
              </a:lnSpc>
              <a:buNone/>
            </a:pPr>
            <a:r>
              <a:rPr lang="en-US" sz="1150" dirty="0">
                <a:solidFill>
                  <a:srgbClr val="6E6A60"/>
                </a:solidFill>
                <a:latin typeface="Calibri" pitchFamily="34" charset="0"/>
                <a:ea typeface="Calibri" pitchFamily="34" charset="-122"/>
                <a:cs typeface="Calibri" pitchFamily="34" charset="-120"/>
              </a:rPr>
              <a:t>A low-risk proof point, visible to all 50+ member agencies at once.</a:t>
            </a:r>
            <a:endParaRPr lang="en-US" sz="1150" dirty="0"/>
          </a:p>
        </p:txBody>
      </p:sp>
      <p:sp>
        <p:nvSpPr>
          <p:cNvPr id="25" name="Shape 23"/>
          <p:cNvSpPr/>
          <p:nvPr/>
        </p:nvSpPr>
        <p:spPr>
          <a:xfrm>
            <a:off x="548640" y="5367528"/>
            <a:ext cx="10241280" cy="749808"/>
          </a:xfrm>
          <a:prstGeom prst="roundRect">
            <a:avLst>
              <a:gd name="adj" fmla="val 7317"/>
            </a:avLst>
          </a:prstGeom>
          <a:solidFill>
            <a:srgbClr val="FBF8F0"/>
          </a:solidFill>
          <a:ln w="9525">
            <a:solidFill>
              <a:srgbClr val="E4DECE"/>
            </a:solidFill>
            <a:prstDash val="solid"/>
          </a:ln>
        </p:spPr>
      </p:sp>
      <p:sp>
        <p:nvSpPr>
          <p:cNvPr id="26" name="Shape 24"/>
          <p:cNvSpPr/>
          <p:nvPr/>
        </p:nvSpPr>
        <p:spPr>
          <a:xfrm>
            <a:off x="749808" y="5513832"/>
            <a:ext cx="457200" cy="457200"/>
          </a:xfrm>
          <a:prstGeom prst="ellipse">
            <a:avLst/>
          </a:prstGeom>
          <a:solidFill>
            <a:srgbClr val="0A0A0A"/>
          </a:solidFill>
          <a:ln/>
        </p:spPr>
      </p:sp>
      <p:sp>
        <p:nvSpPr>
          <p:cNvPr id="27" name="Text 25"/>
          <p:cNvSpPr txBox="1"/>
          <p:nvPr/>
        </p:nvSpPr>
        <p:spPr>
          <a:xfrm>
            <a:off x="749808" y="5513832"/>
            <a:ext cx="457200" cy="457200"/>
          </a:xfrm>
          <a:prstGeom prst="rect">
            <a:avLst/>
          </a:prstGeom>
          <a:noFill/>
          <a:ln/>
        </p:spPr>
        <p:txBody>
          <a:bodyPr wrap="square" lIns="0" tIns="0" rIns="0" bIns="0" rtlCol="0" anchor="ctr"/>
          <a:lstStyle/>
          <a:p>
            <a:pPr algn="ctr" indent="0" marL="0">
              <a:buNone/>
            </a:pPr>
            <a:r>
              <a:rPr lang="en-US" sz="1500" b="1" dirty="0">
                <a:solidFill>
                  <a:srgbClr val="C99632"/>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1417320" y="5440680"/>
            <a:ext cx="3383280" cy="621792"/>
          </a:xfrm>
          <a:prstGeom prst="rect">
            <a:avLst/>
          </a:prstGeom>
          <a:noFill/>
          <a:ln/>
        </p:spPr>
        <p:txBody>
          <a:bodyPr wrap="square" lIns="0" tIns="0" rIns="0" bIns="0" rtlCol="0" anchor="ctr"/>
          <a:lstStyle/>
          <a:p>
            <a:pPr indent="0" marL="0">
              <a:lnSpc>
                <a:spcPct val="110000"/>
              </a:lnSpc>
              <a:buNone/>
            </a:pPr>
            <a:r>
              <a:rPr lang="en-US" sz="1300" b="1" dirty="0">
                <a:solidFill>
                  <a:srgbClr val="201C15"/>
                </a:solidFill>
                <a:latin typeface="Cambria" pitchFamily="34" charset="0"/>
                <a:ea typeface="Cambria" pitchFamily="34" charset="-122"/>
                <a:cs typeface="Cambria" pitchFamily="34" charset="-120"/>
              </a:rPr>
              <a:t>Convert pilot results into a signed agreement</a:t>
            </a:r>
            <a:endParaRPr lang="en-US" sz="1300" dirty="0"/>
          </a:p>
        </p:txBody>
      </p:sp>
      <p:sp>
        <p:nvSpPr>
          <p:cNvPr id="29" name="Text 27"/>
          <p:cNvSpPr txBox="1"/>
          <p:nvPr/>
        </p:nvSpPr>
        <p:spPr>
          <a:xfrm>
            <a:off x="4937760" y="5440680"/>
            <a:ext cx="5669280" cy="621792"/>
          </a:xfrm>
          <a:prstGeom prst="rect">
            <a:avLst/>
          </a:prstGeom>
          <a:noFill/>
          <a:ln/>
        </p:spPr>
        <p:txBody>
          <a:bodyPr wrap="square" lIns="0" tIns="0" rIns="0" bIns="0" rtlCol="0" anchor="ctr"/>
          <a:lstStyle/>
          <a:p>
            <a:pPr indent="0" marL="0">
              <a:lnSpc>
                <a:spcPct val="115000"/>
              </a:lnSpc>
              <a:buNone/>
            </a:pPr>
            <a:r>
              <a:rPr lang="en-US" sz="1150" dirty="0">
                <a:solidFill>
                  <a:srgbClr val="6E6A60"/>
                </a:solidFill>
                <a:latin typeface="Calibri" pitchFamily="34" charset="0"/>
                <a:ea typeface="Calibri" pitchFamily="34" charset="-122"/>
                <a:cs typeface="Calibri" pitchFamily="34" charset="-120"/>
              </a:rPr>
              <a:t>Move from Phase 1 preferred-partner terms toward the Phase 2 joint structure.</a:t>
            </a:r>
            <a:endParaRPr lang="en-US" sz="1150" dirty="0"/>
          </a:p>
        </p:txBody>
      </p:sp>
      <p:sp>
        <p:nvSpPr>
          <p:cNvPr id="30" name="Text 28"/>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09</a:t>
            </a:r>
            <a:endParaRPr lang="en-US" sz="900" dirty="0"/>
          </a:p>
        </p:txBody>
      </p:sp>
      <p:sp>
        <p:nvSpPr>
          <p:cNvPr id="31" name="Text 29"/>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WHAT WE OFFER</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Commercial Terms &amp; Conditions</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Text 3"/>
          <p:cNvSpPr txBox="1"/>
          <p:nvPr/>
        </p:nvSpPr>
        <p:spPr>
          <a:xfrm>
            <a:off x="548640" y="1691640"/>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Term</a:t>
            </a:r>
            <a:endParaRPr lang="en-US" sz="1250" dirty="0"/>
          </a:p>
        </p:txBody>
      </p:sp>
      <p:sp>
        <p:nvSpPr>
          <p:cNvPr id="6" name="Text 4"/>
          <p:cNvSpPr txBox="1"/>
          <p:nvPr/>
        </p:nvSpPr>
        <p:spPr>
          <a:xfrm>
            <a:off x="3520440" y="1691640"/>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2-year initial term, renewable by mutual agreement</a:t>
            </a:r>
            <a:endParaRPr lang="en-US" sz="1200" dirty="0"/>
          </a:p>
        </p:txBody>
      </p:sp>
      <p:sp>
        <p:nvSpPr>
          <p:cNvPr id="7" name="Shape 5"/>
          <p:cNvSpPr/>
          <p:nvPr/>
        </p:nvSpPr>
        <p:spPr>
          <a:xfrm>
            <a:off x="548640" y="2221992"/>
            <a:ext cx="10149840" cy="914"/>
          </a:xfrm>
          <a:prstGeom prst="line">
            <a:avLst/>
          </a:prstGeom>
          <a:noFill/>
          <a:ln w="6350">
            <a:solidFill>
              <a:srgbClr val="E4DECE"/>
            </a:solidFill>
            <a:prstDash val="solid"/>
          </a:ln>
        </p:spPr>
      </p:sp>
      <p:sp>
        <p:nvSpPr>
          <p:cNvPr id="8" name="Text 6"/>
          <p:cNvSpPr txBox="1"/>
          <p:nvPr/>
        </p:nvSpPr>
        <p:spPr>
          <a:xfrm>
            <a:off x="548640" y="2313432"/>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Exclusivity</a:t>
            </a:r>
            <a:endParaRPr lang="en-US" sz="1250" dirty="0"/>
          </a:p>
        </p:txBody>
      </p:sp>
      <p:sp>
        <p:nvSpPr>
          <p:cNvPr id="9" name="Text 7"/>
          <p:cNvSpPr txBox="1"/>
          <p:nvPr/>
        </p:nvSpPr>
        <p:spPr>
          <a:xfrm>
            <a:off x="3520440" y="2313432"/>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Asiko TV named as EXMAN's preferred (not exclusive) sponsorship-sales &amp; streaming partner</a:t>
            </a:r>
            <a:endParaRPr lang="en-US" sz="1200" dirty="0"/>
          </a:p>
        </p:txBody>
      </p:sp>
      <p:sp>
        <p:nvSpPr>
          <p:cNvPr id="10" name="Shape 8"/>
          <p:cNvSpPr/>
          <p:nvPr/>
        </p:nvSpPr>
        <p:spPr>
          <a:xfrm>
            <a:off x="548640" y="2843784"/>
            <a:ext cx="10149840" cy="914"/>
          </a:xfrm>
          <a:prstGeom prst="line">
            <a:avLst/>
          </a:prstGeom>
          <a:noFill/>
          <a:ln w="6350">
            <a:solidFill>
              <a:srgbClr val="E4DECE"/>
            </a:solidFill>
            <a:prstDash val="solid"/>
          </a:ln>
        </p:spPr>
      </p:sp>
      <p:sp>
        <p:nvSpPr>
          <p:cNvPr id="11" name="Text 9"/>
          <p:cNvSpPr txBox="1"/>
          <p:nvPr/>
        </p:nvSpPr>
        <p:spPr>
          <a:xfrm>
            <a:off x="548640" y="2935224"/>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Revenue share to EXMAN</a:t>
            </a:r>
            <a:endParaRPr lang="en-US" sz="1250" dirty="0"/>
          </a:p>
        </p:txBody>
      </p:sp>
      <p:sp>
        <p:nvSpPr>
          <p:cNvPr id="12" name="Text 10"/>
          <p:cNvSpPr txBox="1"/>
          <p:nvPr/>
        </p:nvSpPr>
        <p:spPr>
          <a:xfrm>
            <a:off x="3520440" y="2935224"/>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10–15% of net sponsorship &amp; media revenue generated through the partnership, paid quarterly</a:t>
            </a:r>
            <a:endParaRPr lang="en-US" sz="1200" dirty="0"/>
          </a:p>
        </p:txBody>
      </p:sp>
      <p:sp>
        <p:nvSpPr>
          <p:cNvPr id="13" name="Shape 11"/>
          <p:cNvSpPr/>
          <p:nvPr/>
        </p:nvSpPr>
        <p:spPr>
          <a:xfrm>
            <a:off x="548640" y="3465576"/>
            <a:ext cx="10149840" cy="914"/>
          </a:xfrm>
          <a:prstGeom prst="line">
            <a:avLst/>
          </a:prstGeom>
          <a:noFill/>
          <a:ln w="6350">
            <a:solidFill>
              <a:srgbClr val="E4DECE"/>
            </a:solidFill>
            <a:prstDash val="solid"/>
          </a:ln>
        </p:spPr>
      </p:sp>
      <p:sp>
        <p:nvSpPr>
          <p:cNvPr id="14" name="Text 12"/>
          <p:cNvSpPr txBox="1"/>
          <p:nvPr/>
        </p:nvSpPr>
        <p:spPr>
          <a:xfrm>
            <a:off x="548640" y="3557016"/>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Content ownership</a:t>
            </a:r>
            <a:endParaRPr lang="en-US" sz="1250" dirty="0"/>
          </a:p>
        </p:txBody>
      </p:sp>
      <p:sp>
        <p:nvSpPr>
          <p:cNvPr id="15" name="Text 13"/>
          <p:cNvSpPr txBox="1"/>
          <p:nvPr/>
        </p:nvSpPr>
        <p:spPr>
          <a:xfrm>
            <a:off x="3520440" y="3557016"/>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Asiko TV holds streaming/archival rights to captured footage; underlying event IP stays with the event owner</a:t>
            </a:r>
            <a:endParaRPr lang="en-US" sz="1200" dirty="0"/>
          </a:p>
        </p:txBody>
      </p:sp>
      <p:sp>
        <p:nvSpPr>
          <p:cNvPr id="16" name="Shape 14"/>
          <p:cNvSpPr/>
          <p:nvPr/>
        </p:nvSpPr>
        <p:spPr>
          <a:xfrm>
            <a:off x="548640" y="4087368"/>
            <a:ext cx="10149840" cy="914"/>
          </a:xfrm>
          <a:prstGeom prst="line">
            <a:avLst/>
          </a:prstGeom>
          <a:noFill/>
          <a:ln w="6350">
            <a:solidFill>
              <a:srgbClr val="E4DECE"/>
            </a:solidFill>
            <a:prstDash val="solid"/>
          </a:ln>
        </p:spPr>
      </p:sp>
      <p:sp>
        <p:nvSpPr>
          <p:cNvPr id="17" name="Text 15"/>
          <p:cNvSpPr txBox="1"/>
          <p:nvPr/>
        </p:nvSpPr>
        <p:spPr>
          <a:xfrm>
            <a:off x="548640" y="4178808"/>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Member participation</a:t>
            </a:r>
            <a:endParaRPr lang="en-US" sz="1250" dirty="0"/>
          </a:p>
        </p:txBody>
      </p:sp>
      <p:sp>
        <p:nvSpPr>
          <p:cNvPr id="18" name="Text 16"/>
          <p:cNvSpPr txBox="1"/>
          <p:nvPr/>
        </p:nvSpPr>
        <p:spPr>
          <a:xfrm>
            <a:off x="3520440" y="4178808"/>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Opt-in per event — no EXMAN member agency is obligated to take part</a:t>
            </a:r>
            <a:endParaRPr lang="en-US" sz="1200" dirty="0"/>
          </a:p>
        </p:txBody>
      </p:sp>
      <p:sp>
        <p:nvSpPr>
          <p:cNvPr id="19" name="Shape 17"/>
          <p:cNvSpPr/>
          <p:nvPr/>
        </p:nvSpPr>
        <p:spPr>
          <a:xfrm>
            <a:off x="548640" y="4709160"/>
            <a:ext cx="10149840" cy="914"/>
          </a:xfrm>
          <a:prstGeom prst="line">
            <a:avLst/>
          </a:prstGeom>
          <a:noFill/>
          <a:ln w="6350">
            <a:solidFill>
              <a:srgbClr val="E4DECE"/>
            </a:solidFill>
            <a:prstDash val="solid"/>
          </a:ln>
        </p:spPr>
      </p:sp>
      <p:sp>
        <p:nvSpPr>
          <p:cNvPr id="20" name="Text 18"/>
          <p:cNvSpPr txBox="1"/>
          <p:nvPr/>
        </p:nvSpPr>
        <p:spPr>
          <a:xfrm>
            <a:off x="548640" y="4800600"/>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Branding</a:t>
            </a:r>
            <a:endParaRPr lang="en-US" sz="1250" dirty="0"/>
          </a:p>
        </p:txBody>
      </p:sp>
      <p:sp>
        <p:nvSpPr>
          <p:cNvPr id="21" name="Text 19"/>
          <p:cNvSpPr txBox="1"/>
          <p:nvPr/>
        </p:nvSpPr>
        <p:spPr>
          <a:xfrm>
            <a:off x="3520440" y="4800600"/>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Every participating activation carries “In partnership with Asiko TV / Media Icons Africa”</a:t>
            </a:r>
            <a:endParaRPr lang="en-US" sz="1200" dirty="0"/>
          </a:p>
        </p:txBody>
      </p:sp>
      <p:sp>
        <p:nvSpPr>
          <p:cNvPr id="22" name="Shape 20"/>
          <p:cNvSpPr/>
          <p:nvPr/>
        </p:nvSpPr>
        <p:spPr>
          <a:xfrm>
            <a:off x="548640" y="5330952"/>
            <a:ext cx="10149840" cy="914"/>
          </a:xfrm>
          <a:prstGeom prst="line">
            <a:avLst/>
          </a:prstGeom>
          <a:noFill/>
          <a:ln w="6350">
            <a:solidFill>
              <a:srgbClr val="E4DECE"/>
            </a:solidFill>
            <a:prstDash val="solid"/>
          </a:ln>
        </p:spPr>
      </p:sp>
      <p:sp>
        <p:nvSpPr>
          <p:cNvPr id="23" name="Text 21"/>
          <p:cNvSpPr txBox="1"/>
          <p:nvPr/>
        </p:nvSpPr>
        <p:spPr>
          <a:xfrm>
            <a:off x="548640" y="5422392"/>
            <a:ext cx="2834640" cy="548640"/>
          </a:xfrm>
          <a:prstGeom prst="rect">
            <a:avLst/>
          </a:prstGeom>
          <a:noFill/>
          <a:ln/>
        </p:spPr>
        <p:txBody>
          <a:bodyPr wrap="square" lIns="0" tIns="0" rIns="0" bIns="0" rtlCol="0" anchor="t"/>
          <a:lstStyle/>
          <a:p>
            <a:pPr indent="0" marL="0">
              <a:buNone/>
            </a:pPr>
            <a:r>
              <a:rPr lang="en-US" sz="1250" b="1" dirty="0">
                <a:solidFill>
                  <a:srgbClr val="C99632"/>
                </a:solidFill>
                <a:latin typeface="Cambria" pitchFamily="34" charset="0"/>
                <a:ea typeface="Cambria" pitchFamily="34" charset="-122"/>
                <a:cs typeface="Cambria" pitchFamily="34" charset="-120"/>
              </a:rPr>
              <a:t>Termination</a:t>
            </a:r>
            <a:endParaRPr lang="en-US" sz="1250" dirty="0"/>
          </a:p>
        </p:txBody>
      </p:sp>
      <p:sp>
        <p:nvSpPr>
          <p:cNvPr id="24" name="Text 22"/>
          <p:cNvSpPr txBox="1"/>
          <p:nvPr/>
        </p:nvSpPr>
        <p:spPr>
          <a:xfrm>
            <a:off x="3520440" y="5422392"/>
            <a:ext cx="7315200" cy="548640"/>
          </a:xfrm>
          <a:prstGeom prst="rect">
            <a:avLst/>
          </a:prstGeom>
          <a:noFill/>
          <a:ln/>
        </p:spPr>
        <p:txBody>
          <a:bodyPr wrap="square" lIns="0" tIns="0" rIns="0" bIns="0" rtlCol="0" anchor="ctr"/>
          <a:lstStyle/>
          <a:p>
            <a:pPr indent="0" marL="0">
              <a:lnSpc>
                <a:spcPct val="120000"/>
              </a:lnSpc>
              <a:buNone/>
            </a:pPr>
            <a:r>
              <a:rPr lang="en-US" sz="1200" dirty="0">
                <a:solidFill>
                  <a:srgbClr val="201C15"/>
                </a:solidFill>
                <a:latin typeface="Calibri" pitchFamily="34" charset="0"/>
                <a:ea typeface="Calibri" pitchFamily="34" charset="-122"/>
                <a:cs typeface="Calibri" pitchFamily="34" charset="-120"/>
              </a:rPr>
              <a:t>Either party may exit with 90 days' notice after the initial term</a:t>
            </a:r>
            <a:endParaRPr lang="en-US" sz="1200" dirty="0"/>
          </a:p>
        </p:txBody>
      </p:sp>
      <p:sp>
        <p:nvSpPr>
          <p:cNvPr id="25" name="Text 23"/>
          <p:cNvSpPr txBox="1"/>
          <p:nvPr/>
        </p:nvSpPr>
        <p:spPr>
          <a:xfrm>
            <a:off x="548640" y="6089904"/>
            <a:ext cx="10241280" cy="274320"/>
          </a:xfrm>
          <a:prstGeom prst="rect">
            <a:avLst/>
          </a:prstGeom>
          <a:noFill/>
          <a:ln/>
        </p:spPr>
        <p:txBody>
          <a:bodyPr wrap="square" lIns="0" tIns="0" rIns="0" bIns="0" rtlCol="0" anchor="ctr"/>
          <a:lstStyle/>
          <a:p>
            <a:pPr indent="0" marL="0">
              <a:buNone/>
            </a:pPr>
            <a:r>
              <a:rPr lang="en-US" sz="1000" i="1" dirty="0">
                <a:solidFill>
                  <a:srgbClr val="6E6A60"/>
                </a:solidFill>
                <a:latin typeface="Calibri" pitchFamily="34" charset="0"/>
                <a:ea typeface="Calibri" pitchFamily="34" charset="-122"/>
                <a:cs typeface="Calibri" pitchFamily="34" charset="-120"/>
              </a:rPr>
              <a:t>Indicative terms for negotiation — to be finalised with EXMAN's Executive Council and legal counsel.</a:t>
            </a:r>
            <a:endParaRPr lang="en-US" sz="1000" dirty="0"/>
          </a:p>
        </p:txBody>
      </p:sp>
      <p:sp>
        <p:nvSpPr>
          <p:cNvPr id="26" name="Text 24"/>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10</a:t>
            </a:r>
            <a:endParaRPr lang="en-US" sz="900" dirty="0"/>
          </a:p>
        </p:txBody>
      </p:sp>
      <p:sp>
        <p:nvSpPr>
          <p:cNvPr id="27" name="Text 25"/>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INVESTMENT</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What It Costs Us to Build This</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737360"/>
            <a:ext cx="5074920" cy="1234440"/>
          </a:xfrm>
          <a:prstGeom prst="roundRect">
            <a:avLst>
              <a:gd name="adj" fmla="val 5185"/>
            </a:avLst>
          </a:prstGeom>
          <a:solidFill>
            <a:srgbClr val="FBF8F0"/>
          </a:solidFill>
          <a:ln w="12700">
            <a:solidFill>
              <a:srgbClr val="E4DECE"/>
            </a:solidFill>
            <a:prstDash val="solid"/>
          </a:ln>
        </p:spPr>
      </p:sp>
      <p:sp>
        <p:nvSpPr>
          <p:cNvPr id="6" name="Shape 4"/>
          <p:cNvSpPr/>
          <p:nvPr/>
        </p:nvSpPr>
        <p:spPr>
          <a:xfrm>
            <a:off x="749808" y="1938528"/>
            <a:ext cx="594360" cy="594360"/>
          </a:xfrm>
          <a:prstGeom prst="ellipse">
            <a:avLst/>
          </a:prstGeom>
          <a:solidFill>
            <a:srgbClr val="0A0A0A"/>
          </a:solidFill>
          <a:ln/>
        </p:spPr>
      </p:sp>
      <p:pic>
        <p:nvPicPr>
          <p:cNvPr id="7" name="Image 0" descr="/home/claude/exman-deck/icons/video_gold.png">    </p:cNvPr>
          <p:cNvPicPr>
            <a:picLocks noChangeAspect="1"/>
          </p:cNvPicPr>
          <p:nvPr/>
        </p:nvPicPr>
        <p:blipFill>
          <a:blip r:embed="rId1"/>
          <a:stretch>
            <a:fillRect/>
          </a:stretch>
        </p:blipFill>
        <p:spPr>
          <a:xfrm>
            <a:off x="877824" y="2066544"/>
            <a:ext cx="338328" cy="338328"/>
          </a:xfrm>
          <a:prstGeom prst="rect">
            <a:avLst/>
          </a:prstGeom>
        </p:spPr>
      </p:pic>
      <p:sp>
        <p:nvSpPr>
          <p:cNvPr id="8" name="Text 5"/>
          <p:cNvSpPr txBox="1"/>
          <p:nvPr/>
        </p:nvSpPr>
        <p:spPr>
          <a:xfrm>
            <a:off x="1508760" y="1874520"/>
            <a:ext cx="3017520" cy="365760"/>
          </a:xfrm>
          <a:prstGeom prst="rect">
            <a:avLst/>
          </a:prstGeom>
          <a:noFill/>
          <a:ln/>
        </p:spPr>
        <p:txBody>
          <a:bodyPr wrap="square" lIns="0" tIns="0" rIns="0" bIns="0" rtlCol="0" anchor="ctr"/>
          <a:lstStyle/>
          <a:p>
            <a:pPr indent="0" marL="0">
              <a:lnSpc>
                <a:spcPct val="105000"/>
              </a:lnSpc>
              <a:buNone/>
            </a:pPr>
            <a:r>
              <a:rPr lang="en-US" sz="1250" b="1" dirty="0">
                <a:solidFill>
                  <a:srgbClr val="201C15"/>
                </a:solidFill>
                <a:latin typeface="Cambria" pitchFamily="34" charset="0"/>
                <a:ea typeface="Cambria" pitchFamily="34" charset="-122"/>
                <a:cs typeface="Cambria" pitchFamily="34" charset="-120"/>
              </a:rPr>
              <a:t>Production &amp; Content Capture</a:t>
            </a:r>
            <a:endParaRPr lang="en-US" sz="1250" dirty="0"/>
          </a:p>
        </p:txBody>
      </p:sp>
      <p:sp>
        <p:nvSpPr>
          <p:cNvPr id="9" name="Text 6"/>
          <p:cNvSpPr txBox="1"/>
          <p:nvPr/>
        </p:nvSpPr>
        <p:spPr>
          <a:xfrm>
            <a:off x="1508760" y="2240280"/>
            <a:ext cx="3017520" cy="640080"/>
          </a:xfrm>
          <a:prstGeom prst="rect">
            <a:avLst/>
          </a:prstGeom>
          <a:noFill/>
          <a:ln/>
        </p:spPr>
        <p:txBody>
          <a:bodyPr wrap="square" lIns="0" tIns="0" rIns="0" bIns="0" rtlCol="0" anchor="ctr"/>
          <a:lstStyle/>
          <a:p>
            <a:pPr indent="0" marL="0">
              <a:lnSpc>
                <a:spcPct val="120000"/>
              </a:lnSpc>
              <a:buNone/>
            </a:pPr>
            <a:r>
              <a:rPr lang="en-US" sz="950" dirty="0">
                <a:solidFill>
                  <a:srgbClr val="6E6A60"/>
                </a:solidFill>
                <a:latin typeface="Calibri" pitchFamily="34" charset="0"/>
                <a:ea typeface="Calibri" pitchFamily="34" charset="-122"/>
                <a:cs typeface="Calibri" pitchFamily="34" charset="-120"/>
              </a:rPr>
              <a:t>Crew, equipment and edit for coverage across pilot events</a:t>
            </a:r>
            <a:endParaRPr lang="en-US" sz="950" dirty="0"/>
          </a:p>
        </p:txBody>
      </p:sp>
      <p:sp>
        <p:nvSpPr>
          <p:cNvPr id="10" name="Text 7"/>
          <p:cNvSpPr txBox="1"/>
          <p:nvPr/>
        </p:nvSpPr>
        <p:spPr>
          <a:xfrm>
            <a:off x="4480560" y="1874520"/>
            <a:ext cx="1051560" cy="457200"/>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₦12.0M</a:t>
            </a:r>
            <a:endParaRPr lang="en-US" sz="1500" dirty="0"/>
          </a:p>
        </p:txBody>
      </p:sp>
      <p:sp>
        <p:nvSpPr>
          <p:cNvPr id="11" name="Shape 8"/>
          <p:cNvSpPr/>
          <p:nvPr/>
        </p:nvSpPr>
        <p:spPr>
          <a:xfrm>
            <a:off x="5897880" y="1737360"/>
            <a:ext cx="5074920" cy="1234440"/>
          </a:xfrm>
          <a:prstGeom prst="roundRect">
            <a:avLst>
              <a:gd name="adj" fmla="val 5185"/>
            </a:avLst>
          </a:prstGeom>
          <a:solidFill>
            <a:srgbClr val="FBF8F0"/>
          </a:solidFill>
          <a:ln w="12700">
            <a:solidFill>
              <a:srgbClr val="E4DECE"/>
            </a:solidFill>
            <a:prstDash val="solid"/>
          </a:ln>
        </p:spPr>
      </p:sp>
      <p:sp>
        <p:nvSpPr>
          <p:cNvPr id="12" name="Shape 9"/>
          <p:cNvSpPr/>
          <p:nvPr/>
        </p:nvSpPr>
        <p:spPr>
          <a:xfrm>
            <a:off x="6099048" y="1938528"/>
            <a:ext cx="594360" cy="594360"/>
          </a:xfrm>
          <a:prstGeom prst="ellipse">
            <a:avLst/>
          </a:prstGeom>
          <a:solidFill>
            <a:srgbClr val="0A0A0A"/>
          </a:solidFill>
          <a:ln/>
        </p:spPr>
      </p:sp>
      <p:pic>
        <p:nvPicPr>
          <p:cNvPr id="13" name="Image 1" descr="/home/claude/exman-deck/icons/users_gold.png">    </p:cNvPr>
          <p:cNvPicPr>
            <a:picLocks noChangeAspect="1"/>
          </p:cNvPicPr>
          <p:nvPr/>
        </p:nvPicPr>
        <p:blipFill>
          <a:blip r:embed="rId2"/>
          <a:stretch>
            <a:fillRect/>
          </a:stretch>
        </p:blipFill>
        <p:spPr>
          <a:xfrm>
            <a:off x="6227064" y="2066544"/>
            <a:ext cx="338328" cy="338328"/>
          </a:xfrm>
          <a:prstGeom prst="rect">
            <a:avLst/>
          </a:prstGeom>
        </p:spPr>
      </p:pic>
      <p:sp>
        <p:nvSpPr>
          <p:cNvPr id="14" name="Text 10"/>
          <p:cNvSpPr txBox="1"/>
          <p:nvPr/>
        </p:nvSpPr>
        <p:spPr>
          <a:xfrm>
            <a:off x="6858000" y="1874520"/>
            <a:ext cx="3017520" cy="365760"/>
          </a:xfrm>
          <a:prstGeom prst="rect">
            <a:avLst/>
          </a:prstGeom>
          <a:noFill/>
          <a:ln/>
        </p:spPr>
        <p:txBody>
          <a:bodyPr wrap="square" lIns="0" tIns="0" rIns="0" bIns="0" rtlCol="0" anchor="ctr"/>
          <a:lstStyle/>
          <a:p>
            <a:pPr indent="0" marL="0">
              <a:lnSpc>
                <a:spcPct val="105000"/>
              </a:lnSpc>
              <a:buNone/>
            </a:pPr>
            <a:r>
              <a:rPr lang="en-US" sz="1250" b="1" dirty="0">
                <a:solidFill>
                  <a:srgbClr val="201C15"/>
                </a:solidFill>
                <a:latin typeface="Cambria" pitchFamily="34" charset="0"/>
                <a:ea typeface="Cambria" pitchFamily="34" charset="-122"/>
                <a:cs typeface="Cambria" pitchFamily="34" charset="-120"/>
              </a:rPr>
              <a:t>Dedicated EXMAN Account &amp; Sales Team</a:t>
            </a:r>
            <a:endParaRPr lang="en-US" sz="1250" dirty="0"/>
          </a:p>
        </p:txBody>
      </p:sp>
      <p:sp>
        <p:nvSpPr>
          <p:cNvPr id="15" name="Text 11"/>
          <p:cNvSpPr txBox="1"/>
          <p:nvPr/>
        </p:nvSpPr>
        <p:spPr>
          <a:xfrm>
            <a:off x="6858000" y="2240280"/>
            <a:ext cx="3017520" cy="640080"/>
          </a:xfrm>
          <a:prstGeom prst="rect">
            <a:avLst/>
          </a:prstGeom>
          <a:noFill/>
          <a:ln/>
        </p:spPr>
        <p:txBody>
          <a:bodyPr wrap="square" lIns="0" tIns="0" rIns="0" bIns="0" rtlCol="0" anchor="ctr"/>
          <a:lstStyle/>
          <a:p>
            <a:pPr indent="0" marL="0">
              <a:lnSpc>
                <a:spcPct val="120000"/>
              </a:lnSpc>
              <a:buNone/>
            </a:pPr>
            <a:r>
              <a:rPr lang="en-US" sz="950" dirty="0">
                <a:solidFill>
                  <a:srgbClr val="6E6A60"/>
                </a:solidFill>
                <a:latin typeface="Calibri" pitchFamily="34" charset="0"/>
                <a:ea typeface="Calibri" pitchFamily="34" charset="-122"/>
                <a:cs typeface="Calibri" pitchFamily="34" charset="-120"/>
              </a:rPr>
              <a:t>2 staff for 12 months, managing the relationship and sponsor sales</a:t>
            </a:r>
            <a:endParaRPr lang="en-US" sz="950" dirty="0"/>
          </a:p>
        </p:txBody>
      </p:sp>
      <p:sp>
        <p:nvSpPr>
          <p:cNvPr id="16" name="Text 12"/>
          <p:cNvSpPr txBox="1"/>
          <p:nvPr/>
        </p:nvSpPr>
        <p:spPr>
          <a:xfrm>
            <a:off x="9829800" y="1874520"/>
            <a:ext cx="1051560" cy="457200"/>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₦18.0M</a:t>
            </a:r>
            <a:endParaRPr lang="en-US" sz="1500" dirty="0"/>
          </a:p>
        </p:txBody>
      </p:sp>
      <p:sp>
        <p:nvSpPr>
          <p:cNvPr id="17" name="Shape 13"/>
          <p:cNvSpPr/>
          <p:nvPr/>
        </p:nvSpPr>
        <p:spPr>
          <a:xfrm>
            <a:off x="548640" y="3154680"/>
            <a:ext cx="5074920" cy="1234440"/>
          </a:xfrm>
          <a:prstGeom prst="roundRect">
            <a:avLst>
              <a:gd name="adj" fmla="val 5185"/>
            </a:avLst>
          </a:prstGeom>
          <a:solidFill>
            <a:srgbClr val="FBF8F0"/>
          </a:solidFill>
          <a:ln w="12700">
            <a:solidFill>
              <a:srgbClr val="E4DECE"/>
            </a:solidFill>
            <a:prstDash val="solid"/>
          </a:ln>
        </p:spPr>
      </p:sp>
      <p:sp>
        <p:nvSpPr>
          <p:cNvPr id="18" name="Shape 14"/>
          <p:cNvSpPr/>
          <p:nvPr/>
        </p:nvSpPr>
        <p:spPr>
          <a:xfrm>
            <a:off x="749808" y="3355848"/>
            <a:ext cx="594360" cy="594360"/>
          </a:xfrm>
          <a:prstGeom prst="ellipse">
            <a:avLst/>
          </a:prstGeom>
          <a:solidFill>
            <a:srgbClr val="0A0A0A"/>
          </a:solidFill>
          <a:ln/>
        </p:spPr>
      </p:sp>
      <p:pic>
        <p:nvPicPr>
          <p:cNvPr id="19" name="Image 2" descr="/home/claude/exman-deck/icons/tower_gold.png">    </p:cNvPr>
          <p:cNvPicPr>
            <a:picLocks noChangeAspect="1"/>
          </p:cNvPicPr>
          <p:nvPr/>
        </p:nvPicPr>
        <p:blipFill>
          <a:blip r:embed="rId3"/>
          <a:stretch>
            <a:fillRect/>
          </a:stretch>
        </p:blipFill>
        <p:spPr>
          <a:xfrm>
            <a:off x="877824" y="3483864"/>
            <a:ext cx="338328" cy="338328"/>
          </a:xfrm>
          <a:prstGeom prst="rect">
            <a:avLst/>
          </a:prstGeom>
        </p:spPr>
      </p:pic>
      <p:sp>
        <p:nvSpPr>
          <p:cNvPr id="20" name="Text 15"/>
          <p:cNvSpPr txBox="1"/>
          <p:nvPr/>
        </p:nvSpPr>
        <p:spPr>
          <a:xfrm>
            <a:off x="1508760" y="3291840"/>
            <a:ext cx="3017520" cy="365760"/>
          </a:xfrm>
          <a:prstGeom prst="rect">
            <a:avLst/>
          </a:prstGeom>
          <a:noFill/>
          <a:ln/>
        </p:spPr>
        <p:txBody>
          <a:bodyPr wrap="square" lIns="0" tIns="0" rIns="0" bIns="0" rtlCol="0" anchor="ctr"/>
          <a:lstStyle/>
          <a:p>
            <a:pPr indent="0" marL="0">
              <a:lnSpc>
                <a:spcPct val="105000"/>
              </a:lnSpc>
              <a:buNone/>
            </a:pPr>
            <a:r>
              <a:rPr lang="en-US" sz="1250" b="1" dirty="0">
                <a:solidFill>
                  <a:srgbClr val="201C15"/>
                </a:solidFill>
                <a:latin typeface="Cambria" pitchFamily="34" charset="0"/>
                <a:ea typeface="Cambria" pitchFamily="34" charset="-122"/>
                <a:cs typeface="Cambria" pitchFamily="34" charset="-120"/>
              </a:rPr>
              <a:t>Platform &amp; Streaming Infrastructure</a:t>
            </a:r>
            <a:endParaRPr lang="en-US" sz="1250" dirty="0"/>
          </a:p>
        </p:txBody>
      </p:sp>
      <p:sp>
        <p:nvSpPr>
          <p:cNvPr id="21" name="Text 16"/>
          <p:cNvSpPr txBox="1"/>
          <p:nvPr/>
        </p:nvSpPr>
        <p:spPr>
          <a:xfrm>
            <a:off x="1508760" y="3657600"/>
            <a:ext cx="3017520" cy="640080"/>
          </a:xfrm>
          <a:prstGeom prst="rect">
            <a:avLst/>
          </a:prstGeom>
          <a:noFill/>
          <a:ln/>
        </p:spPr>
        <p:txBody>
          <a:bodyPr wrap="square" lIns="0" tIns="0" rIns="0" bIns="0" rtlCol="0" anchor="ctr"/>
          <a:lstStyle/>
          <a:p>
            <a:pPr indent="0" marL="0">
              <a:lnSpc>
                <a:spcPct val="120000"/>
              </a:lnSpc>
              <a:buNone/>
            </a:pPr>
            <a:r>
              <a:rPr lang="en-US" sz="950" dirty="0">
                <a:solidFill>
                  <a:srgbClr val="6E6A60"/>
                </a:solidFill>
                <a:latin typeface="Calibri" pitchFamily="34" charset="0"/>
                <a:ea typeface="Calibri" pitchFamily="34" charset="-122"/>
                <a:cs typeface="Calibri" pitchFamily="34" charset="-120"/>
              </a:rPr>
              <a:t>Shared allocation from existing Asiko TV / FOA infrastructure</a:t>
            </a:r>
            <a:endParaRPr lang="en-US" sz="950" dirty="0"/>
          </a:p>
        </p:txBody>
      </p:sp>
      <p:sp>
        <p:nvSpPr>
          <p:cNvPr id="22" name="Text 17"/>
          <p:cNvSpPr txBox="1"/>
          <p:nvPr/>
        </p:nvSpPr>
        <p:spPr>
          <a:xfrm>
            <a:off x="4480560" y="3291840"/>
            <a:ext cx="1051560" cy="457200"/>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₦6.0M</a:t>
            </a:r>
            <a:endParaRPr lang="en-US" sz="1500" dirty="0"/>
          </a:p>
        </p:txBody>
      </p:sp>
      <p:sp>
        <p:nvSpPr>
          <p:cNvPr id="23" name="Shape 18"/>
          <p:cNvSpPr/>
          <p:nvPr/>
        </p:nvSpPr>
        <p:spPr>
          <a:xfrm>
            <a:off x="5897880" y="3154680"/>
            <a:ext cx="5074920" cy="1234440"/>
          </a:xfrm>
          <a:prstGeom prst="roundRect">
            <a:avLst>
              <a:gd name="adj" fmla="val 5185"/>
            </a:avLst>
          </a:prstGeom>
          <a:solidFill>
            <a:srgbClr val="FBF8F0"/>
          </a:solidFill>
          <a:ln w="12700">
            <a:solidFill>
              <a:srgbClr val="E4DECE"/>
            </a:solidFill>
            <a:prstDash val="solid"/>
          </a:ln>
        </p:spPr>
      </p:sp>
      <p:sp>
        <p:nvSpPr>
          <p:cNvPr id="24" name="Shape 19"/>
          <p:cNvSpPr/>
          <p:nvPr/>
        </p:nvSpPr>
        <p:spPr>
          <a:xfrm>
            <a:off x="6099048" y="3355848"/>
            <a:ext cx="594360" cy="594360"/>
          </a:xfrm>
          <a:prstGeom prst="ellipse">
            <a:avLst/>
          </a:prstGeom>
          <a:solidFill>
            <a:srgbClr val="0A0A0A"/>
          </a:solidFill>
          <a:ln/>
        </p:spPr>
      </p:sp>
      <p:pic>
        <p:nvPicPr>
          <p:cNvPr id="25" name="Image 3" descr="/home/claude/exman-deck/icons/bullhorn_gold.png">    </p:cNvPr>
          <p:cNvPicPr>
            <a:picLocks noChangeAspect="1"/>
          </p:cNvPicPr>
          <p:nvPr/>
        </p:nvPicPr>
        <p:blipFill>
          <a:blip r:embed="rId4"/>
          <a:stretch>
            <a:fillRect/>
          </a:stretch>
        </p:blipFill>
        <p:spPr>
          <a:xfrm>
            <a:off x="6227064" y="3483864"/>
            <a:ext cx="338328" cy="338328"/>
          </a:xfrm>
          <a:prstGeom prst="rect">
            <a:avLst/>
          </a:prstGeom>
        </p:spPr>
      </p:pic>
      <p:sp>
        <p:nvSpPr>
          <p:cNvPr id="26" name="Text 20"/>
          <p:cNvSpPr txBox="1"/>
          <p:nvPr/>
        </p:nvSpPr>
        <p:spPr>
          <a:xfrm>
            <a:off x="6858000" y="3291840"/>
            <a:ext cx="3017520" cy="365760"/>
          </a:xfrm>
          <a:prstGeom prst="rect">
            <a:avLst/>
          </a:prstGeom>
          <a:noFill/>
          <a:ln/>
        </p:spPr>
        <p:txBody>
          <a:bodyPr wrap="square" lIns="0" tIns="0" rIns="0" bIns="0" rtlCol="0" anchor="ctr"/>
          <a:lstStyle/>
          <a:p>
            <a:pPr indent="0" marL="0">
              <a:lnSpc>
                <a:spcPct val="105000"/>
              </a:lnSpc>
              <a:buNone/>
            </a:pPr>
            <a:r>
              <a:rPr lang="en-US" sz="1250" b="1" dirty="0">
                <a:solidFill>
                  <a:srgbClr val="201C15"/>
                </a:solidFill>
                <a:latin typeface="Cambria" pitchFamily="34" charset="0"/>
                <a:ea typeface="Cambria" pitchFamily="34" charset="-122"/>
                <a:cs typeface="Cambria" pitchFamily="34" charset="-120"/>
              </a:rPr>
              <a:t>Marketing &amp; Relationship Management</a:t>
            </a:r>
            <a:endParaRPr lang="en-US" sz="1250" dirty="0"/>
          </a:p>
        </p:txBody>
      </p:sp>
      <p:sp>
        <p:nvSpPr>
          <p:cNvPr id="27" name="Text 21"/>
          <p:cNvSpPr txBox="1"/>
          <p:nvPr/>
        </p:nvSpPr>
        <p:spPr>
          <a:xfrm>
            <a:off x="6858000" y="3657600"/>
            <a:ext cx="3017520" cy="640080"/>
          </a:xfrm>
          <a:prstGeom prst="rect">
            <a:avLst/>
          </a:prstGeom>
          <a:noFill/>
          <a:ln/>
        </p:spPr>
        <p:txBody>
          <a:bodyPr wrap="square" lIns="0" tIns="0" rIns="0" bIns="0" rtlCol="0" anchor="ctr"/>
          <a:lstStyle/>
          <a:p>
            <a:pPr indent="0" marL="0">
              <a:lnSpc>
                <a:spcPct val="120000"/>
              </a:lnSpc>
              <a:buNone/>
            </a:pPr>
            <a:r>
              <a:rPr lang="en-US" sz="950" dirty="0">
                <a:solidFill>
                  <a:srgbClr val="6E6A60"/>
                </a:solidFill>
                <a:latin typeface="Calibri" pitchFamily="34" charset="0"/>
                <a:ea typeface="Calibri" pitchFamily="34" charset="-122"/>
                <a:cs typeface="Calibri" pitchFamily="34" charset="-120"/>
              </a:rPr>
              <a:t>Proposal development, hosting, travel and stakeholder engagement</a:t>
            </a:r>
            <a:endParaRPr lang="en-US" sz="950" dirty="0"/>
          </a:p>
        </p:txBody>
      </p:sp>
      <p:sp>
        <p:nvSpPr>
          <p:cNvPr id="28" name="Text 22"/>
          <p:cNvSpPr txBox="1"/>
          <p:nvPr/>
        </p:nvSpPr>
        <p:spPr>
          <a:xfrm>
            <a:off x="9829800" y="3291840"/>
            <a:ext cx="1051560" cy="457200"/>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₦5.0M</a:t>
            </a:r>
            <a:endParaRPr lang="en-US" sz="1500" dirty="0"/>
          </a:p>
        </p:txBody>
      </p:sp>
      <p:sp>
        <p:nvSpPr>
          <p:cNvPr id="29" name="Shape 23"/>
          <p:cNvSpPr/>
          <p:nvPr/>
        </p:nvSpPr>
        <p:spPr>
          <a:xfrm>
            <a:off x="548640" y="4572000"/>
            <a:ext cx="5074920" cy="1234440"/>
          </a:xfrm>
          <a:prstGeom prst="roundRect">
            <a:avLst>
              <a:gd name="adj" fmla="val 5185"/>
            </a:avLst>
          </a:prstGeom>
          <a:solidFill>
            <a:srgbClr val="FBF8F0"/>
          </a:solidFill>
          <a:ln w="12700">
            <a:solidFill>
              <a:srgbClr val="E4DECE"/>
            </a:solidFill>
            <a:prstDash val="solid"/>
          </a:ln>
        </p:spPr>
      </p:sp>
      <p:sp>
        <p:nvSpPr>
          <p:cNvPr id="30" name="Shape 24"/>
          <p:cNvSpPr/>
          <p:nvPr/>
        </p:nvSpPr>
        <p:spPr>
          <a:xfrm>
            <a:off x="749808" y="4773168"/>
            <a:ext cx="594360" cy="594360"/>
          </a:xfrm>
          <a:prstGeom prst="ellipse">
            <a:avLst/>
          </a:prstGeom>
          <a:solidFill>
            <a:srgbClr val="0A0A0A"/>
          </a:solidFill>
          <a:ln/>
        </p:spPr>
      </p:sp>
      <p:pic>
        <p:nvPicPr>
          <p:cNvPr id="31" name="Image 4" descr="/home/claude/exman-deck/icons/handshake_gold.png">    </p:cNvPr>
          <p:cNvPicPr>
            <a:picLocks noChangeAspect="1"/>
          </p:cNvPicPr>
          <p:nvPr/>
        </p:nvPicPr>
        <p:blipFill>
          <a:blip r:embed="rId5"/>
          <a:stretch>
            <a:fillRect/>
          </a:stretch>
        </p:blipFill>
        <p:spPr>
          <a:xfrm>
            <a:off x="877824" y="4901184"/>
            <a:ext cx="338328" cy="338328"/>
          </a:xfrm>
          <a:prstGeom prst="rect">
            <a:avLst/>
          </a:prstGeom>
        </p:spPr>
      </p:pic>
      <p:sp>
        <p:nvSpPr>
          <p:cNvPr id="32" name="Text 25"/>
          <p:cNvSpPr txBox="1"/>
          <p:nvPr/>
        </p:nvSpPr>
        <p:spPr>
          <a:xfrm>
            <a:off x="1508760" y="4709160"/>
            <a:ext cx="3017520" cy="365760"/>
          </a:xfrm>
          <a:prstGeom prst="rect">
            <a:avLst/>
          </a:prstGeom>
          <a:noFill/>
          <a:ln/>
        </p:spPr>
        <p:txBody>
          <a:bodyPr wrap="square" lIns="0" tIns="0" rIns="0" bIns="0" rtlCol="0" anchor="ctr"/>
          <a:lstStyle/>
          <a:p>
            <a:pPr indent="0" marL="0">
              <a:lnSpc>
                <a:spcPct val="105000"/>
              </a:lnSpc>
              <a:buNone/>
            </a:pPr>
            <a:r>
              <a:rPr lang="en-US" sz="1250" b="1" dirty="0">
                <a:solidFill>
                  <a:srgbClr val="201C15"/>
                </a:solidFill>
                <a:latin typeface="Cambria" pitchFamily="34" charset="0"/>
                <a:ea typeface="Cambria" pitchFamily="34" charset="-122"/>
                <a:cs typeface="Cambria" pitchFamily="34" charset="-120"/>
              </a:rPr>
              <a:t>Revenue Share Payout to EXMAN</a:t>
            </a:r>
            <a:endParaRPr lang="en-US" sz="1250" dirty="0"/>
          </a:p>
        </p:txBody>
      </p:sp>
      <p:sp>
        <p:nvSpPr>
          <p:cNvPr id="33" name="Text 26"/>
          <p:cNvSpPr txBox="1"/>
          <p:nvPr/>
        </p:nvSpPr>
        <p:spPr>
          <a:xfrm>
            <a:off x="1508760" y="5074920"/>
            <a:ext cx="3017520" cy="640080"/>
          </a:xfrm>
          <a:prstGeom prst="rect">
            <a:avLst/>
          </a:prstGeom>
          <a:noFill/>
          <a:ln/>
        </p:spPr>
        <p:txBody>
          <a:bodyPr wrap="square" lIns="0" tIns="0" rIns="0" bIns="0" rtlCol="0" anchor="ctr"/>
          <a:lstStyle/>
          <a:p>
            <a:pPr indent="0" marL="0">
              <a:lnSpc>
                <a:spcPct val="120000"/>
              </a:lnSpc>
              <a:buNone/>
            </a:pPr>
            <a:r>
              <a:rPr lang="en-US" sz="950" dirty="0">
                <a:solidFill>
                  <a:srgbClr val="6E6A60"/>
                </a:solidFill>
                <a:latin typeface="Calibri" pitchFamily="34" charset="0"/>
                <a:ea typeface="Calibri" pitchFamily="34" charset="-122"/>
                <a:cs typeface="Calibri" pitchFamily="34" charset="-120"/>
              </a:rPr>
              <a:t>~12% of total revenue generated, paid quarterly</a:t>
            </a:r>
            <a:endParaRPr lang="en-US" sz="950" dirty="0"/>
          </a:p>
        </p:txBody>
      </p:sp>
      <p:sp>
        <p:nvSpPr>
          <p:cNvPr id="34" name="Text 27"/>
          <p:cNvSpPr txBox="1"/>
          <p:nvPr/>
        </p:nvSpPr>
        <p:spPr>
          <a:xfrm>
            <a:off x="4480560" y="4709160"/>
            <a:ext cx="1051560" cy="457200"/>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₦8.7M</a:t>
            </a:r>
            <a:endParaRPr lang="en-US" sz="1500" dirty="0"/>
          </a:p>
        </p:txBody>
      </p:sp>
      <p:sp>
        <p:nvSpPr>
          <p:cNvPr id="35" name="Text 28"/>
          <p:cNvSpPr txBox="1"/>
          <p:nvPr/>
        </p:nvSpPr>
        <p:spPr>
          <a:xfrm>
            <a:off x="548640" y="6080760"/>
            <a:ext cx="10241280" cy="274320"/>
          </a:xfrm>
          <a:prstGeom prst="rect">
            <a:avLst/>
          </a:prstGeom>
          <a:noFill/>
          <a:ln/>
        </p:spPr>
        <p:txBody>
          <a:bodyPr wrap="square" lIns="0" tIns="0" rIns="0" bIns="0" rtlCol="0" anchor="ctr"/>
          <a:lstStyle/>
          <a:p>
            <a:pPr indent="0" marL="0">
              <a:buNone/>
            </a:pPr>
            <a:r>
              <a:rPr lang="en-US" sz="1000" i="1" dirty="0">
                <a:solidFill>
                  <a:srgbClr val="6E6A60"/>
                </a:solidFill>
                <a:latin typeface="Calibri" pitchFamily="34" charset="0"/>
                <a:ea typeface="Calibri" pitchFamily="34" charset="-122"/>
                <a:cs typeface="Calibri" pitchFamily="34" charset="-120"/>
              </a:rPr>
              <a:t>Illustrative Year-1 pilot investment (10 flagship events) — to be validated once EXMAN's confirmed event calendar and deal sizes are known.</a:t>
            </a:r>
            <a:endParaRPr lang="en-US" sz="1000" dirty="0"/>
          </a:p>
        </p:txBody>
      </p:sp>
      <p:sp>
        <p:nvSpPr>
          <p:cNvPr id="36" name="Text 29"/>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11</a:t>
            </a:r>
            <a:endParaRPr lang="en-US" sz="900" dirty="0"/>
          </a:p>
        </p:txBody>
      </p:sp>
      <p:sp>
        <p:nvSpPr>
          <p:cNvPr id="37" name="Text 30"/>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NUMBERS</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Illustrative Year-1 Pilot P&amp;L</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Text 3"/>
          <p:cNvSpPr txBox="1"/>
          <p:nvPr/>
        </p:nvSpPr>
        <p:spPr>
          <a:xfrm>
            <a:off x="548640" y="1691640"/>
            <a:ext cx="4572000" cy="274320"/>
          </a:xfrm>
          <a:prstGeom prst="rect">
            <a:avLst/>
          </a:prstGeom>
          <a:noFill/>
          <a:ln/>
        </p:spPr>
        <p:txBody>
          <a:bodyPr wrap="square" lIns="0" tIns="0" rIns="0" bIns="0" rtlCol="0" anchor="ctr"/>
          <a:lstStyle/>
          <a:p>
            <a:pPr indent="0" marL="0">
              <a:buNone/>
            </a:pPr>
            <a:r>
              <a:rPr lang="en-US" sz="1100" b="1" spc="150" kern="0" dirty="0">
                <a:solidFill>
                  <a:srgbClr val="2E6B3E"/>
                </a:solidFill>
                <a:latin typeface="Calibri" pitchFamily="34" charset="0"/>
                <a:ea typeface="Calibri" pitchFamily="34" charset="-122"/>
                <a:cs typeface="Calibri" pitchFamily="34" charset="-120"/>
              </a:rPr>
              <a:t>REVENUE</a:t>
            </a:r>
            <a:endParaRPr lang="en-US" sz="1100" dirty="0"/>
          </a:p>
        </p:txBody>
      </p:sp>
      <p:sp>
        <p:nvSpPr>
          <p:cNvPr id="6" name="Text 4"/>
          <p:cNvSpPr txBox="1"/>
          <p:nvPr/>
        </p:nvSpPr>
        <p:spPr>
          <a:xfrm>
            <a:off x="548640" y="2011680"/>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Sponsorship brokerage commission</a:t>
            </a:r>
            <a:endParaRPr lang="en-US" sz="1150" dirty="0"/>
          </a:p>
        </p:txBody>
      </p:sp>
      <p:sp>
        <p:nvSpPr>
          <p:cNvPr id="7" name="Text 5"/>
          <p:cNvSpPr txBox="1"/>
          <p:nvPr/>
        </p:nvSpPr>
        <p:spPr>
          <a:xfrm>
            <a:off x="548640" y="2304288"/>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15% of ₦150M gross sponsorship deals closed</a:t>
            </a:r>
            <a:endParaRPr lang="en-US" sz="900" dirty="0"/>
          </a:p>
        </p:txBody>
      </p:sp>
      <p:sp>
        <p:nvSpPr>
          <p:cNvPr id="8" name="Text 6"/>
          <p:cNvSpPr txBox="1"/>
          <p:nvPr/>
        </p:nvSpPr>
        <p:spPr>
          <a:xfrm>
            <a:off x="3794760" y="2011680"/>
            <a:ext cx="1280160" cy="457200"/>
          </a:xfrm>
          <a:prstGeom prst="rect">
            <a:avLst/>
          </a:prstGeom>
          <a:noFill/>
          <a:ln/>
        </p:spPr>
        <p:txBody>
          <a:bodyPr wrap="square" lIns="0" tIns="0" rIns="0" bIns="0" rtlCol="0" anchor="ctr"/>
          <a:lstStyle/>
          <a:p>
            <a:pPr algn="r" indent="0" marL="0">
              <a:buNone/>
            </a:pPr>
            <a:r>
              <a:rPr lang="en-US" sz="1300" b="1" dirty="0">
                <a:solidFill>
                  <a:srgbClr val="2E6B3E"/>
                </a:solidFill>
                <a:latin typeface="Cambria" pitchFamily="34" charset="0"/>
                <a:ea typeface="Cambria" pitchFamily="34" charset="-122"/>
                <a:cs typeface="Cambria" pitchFamily="34" charset="-120"/>
              </a:rPr>
              <a:t>₦22.5M</a:t>
            </a:r>
            <a:endParaRPr lang="en-US" sz="1300" dirty="0"/>
          </a:p>
        </p:txBody>
      </p:sp>
      <p:sp>
        <p:nvSpPr>
          <p:cNvPr id="9" name="Text 7"/>
          <p:cNvSpPr txBox="1"/>
          <p:nvPr/>
        </p:nvSpPr>
        <p:spPr>
          <a:xfrm>
            <a:off x="548640" y="2761488"/>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Media inventory ad sales</a:t>
            </a:r>
            <a:endParaRPr lang="en-US" sz="1150" dirty="0"/>
          </a:p>
        </p:txBody>
      </p:sp>
      <p:sp>
        <p:nvSpPr>
          <p:cNvPr id="10" name="Text 8"/>
          <p:cNvSpPr txBox="1"/>
          <p:nvPr/>
        </p:nvSpPr>
        <p:spPr>
          <a:xfrm>
            <a:off x="548640" y="3054096"/>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Asiko TV pre/post-roll &amp; channel sponsorship tied to events</a:t>
            </a:r>
            <a:endParaRPr lang="en-US" sz="900" dirty="0"/>
          </a:p>
        </p:txBody>
      </p:sp>
      <p:sp>
        <p:nvSpPr>
          <p:cNvPr id="11" name="Text 9"/>
          <p:cNvSpPr txBox="1"/>
          <p:nvPr/>
        </p:nvSpPr>
        <p:spPr>
          <a:xfrm>
            <a:off x="3794760" y="2761488"/>
            <a:ext cx="1280160" cy="457200"/>
          </a:xfrm>
          <a:prstGeom prst="rect">
            <a:avLst/>
          </a:prstGeom>
          <a:noFill/>
          <a:ln/>
        </p:spPr>
        <p:txBody>
          <a:bodyPr wrap="square" lIns="0" tIns="0" rIns="0" bIns="0" rtlCol="0" anchor="ctr"/>
          <a:lstStyle/>
          <a:p>
            <a:pPr algn="r" indent="0" marL="0">
              <a:buNone/>
            </a:pPr>
            <a:r>
              <a:rPr lang="en-US" sz="1300" b="1" dirty="0">
                <a:solidFill>
                  <a:srgbClr val="2E6B3E"/>
                </a:solidFill>
                <a:latin typeface="Cambria" pitchFamily="34" charset="0"/>
                <a:ea typeface="Cambria" pitchFamily="34" charset="-122"/>
                <a:cs typeface="Cambria" pitchFamily="34" charset="-120"/>
              </a:rPr>
              <a:t>₦20.0M</a:t>
            </a:r>
            <a:endParaRPr lang="en-US" sz="1300" dirty="0"/>
          </a:p>
        </p:txBody>
      </p:sp>
      <p:sp>
        <p:nvSpPr>
          <p:cNvPr id="12" name="Text 10"/>
          <p:cNvSpPr txBox="1"/>
          <p:nvPr/>
        </p:nvSpPr>
        <p:spPr>
          <a:xfrm>
            <a:off x="548640" y="3511296"/>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“EXMAN Events” channel streaming ads</a:t>
            </a:r>
            <a:endParaRPr lang="en-US" sz="1150" dirty="0"/>
          </a:p>
        </p:txBody>
      </p:sp>
      <p:sp>
        <p:nvSpPr>
          <p:cNvPr id="13" name="Text 11"/>
          <p:cNvSpPr txBox="1"/>
          <p:nvPr/>
        </p:nvSpPr>
        <p:spPr>
          <a:xfrm>
            <a:off x="548640" y="3803904"/>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Ad-supported FAST-channel revenue</a:t>
            </a:r>
            <a:endParaRPr lang="en-US" sz="900" dirty="0"/>
          </a:p>
        </p:txBody>
      </p:sp>
      <p:sp>
        <p:nvSpPr>
          <p:cNvPr id="14" name="Text 12"/>
          <p:cNvSpPr txBox="1"/>
          <p:nvPr/>
        </p:nvSpPr>
        <p:spPr>
          <a:xfrm>
            <a:off x="3794760" y="3511296"/>
            <a:ext cx="1280160" cy="457200"/>
          </a:xfrm>
          <a:prstGeom prst="rect">
            <a:avLst/>
          </a:prstGeom>
          <a:noFill/>
          <a:ln/>
        </p:spPr>
        <p:txBody>
          <a:bodyPr wrap="square" lIns="0" tIns="0" rIns="0" bIns="0" rtlCol="0" anchor="ctr"/>
          <a:lstStyle/>
          <a:p>
            <a:pPr algn="r" indent="0" marL="0">
              <a:buNone/>
            </a:pPr>
            <a:r>
              <a:rPr lang="en-US" sz="1300" b="1" dirty="0">
                <a:solidFill>
                  <a:srgbClr val="2E6B3E"/>
                </a:solidFill>
                <a:latin typeface="Cambria" pitchFamily="34" charset="0"/>
                <a:ea typeface="Cambria" pitchFamily="34" charset="-122"/>
                <a:cs typeface="Cambria" pitchFamily="34" charset="-120"/>
              </a:rPr>
              <a:t>₦10.0M</a:t>
            </a:r>
            <a:endParaRPr lang="en-US" sz="1300" dirty="0"/>
          </a:p>
        </p:txBody>
      </p:sp>
      <p:sp>
        <p:nvSpPr>
          <p:cNvPr id="15" name="Text 13"/>
          <p:cNvSpPr txBox="1"/>
          <p:nvPr/>
        </p:nvSpPr>
        <p:spPr>
          <a:xfrm>
            <a:off x="548640" y="4261104"/>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Event content-capture / production fees</a:t>
            </a:r>
            <a:endParaRPr lang="en-US" sz="1150" dirty="0"/>
          </a:p>
        </p:txBody>
      </p:sp>
      <p:sp>
        <p:nvSpPr>
          <p:cNvPr id="16" name="Text 14"/>
          <p:cNvSpPr txBox="1"/>
          <p:nvPr/>
        </p:nvSpPr>
        <p:spPr>
          <a:xfrm>
            <a:off x="548640" y="4553712"/>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10 events × ₦2.0M package fee</a:t>
            </a:r>
            <a:endParaRPr lang="en-US" sz="900" dirty="0"/>
          </a:p>
        </p:txBody>
      </p:sp>
      <p:sp>
        <p:nvSpPr>
          <p:cNvPr id="17" name="Text 15"/>
          <p:cNvSpPr txBox="1"/>
          <p:nvPr/>
        </p:nvSpPr>
        <p:spPr>
          <a:xfrm>
            <a:off x="3794760" y="4261104"/>
            <a:ext cx="1280160" cy="457200"/>
          </a:xfrm>
          <a:prstGeom prst="rect">
            <a:avLst/>
          </a:prstGeom>
          <a:noFill/>
          <a:ln/>
        </p:spPr>
        <p:txBody>
          <a:bodyPr wrap="square" lIns="0" tIns="0" rIns="0" bIns="0" rtlCol="0" anchor="ctr"/>
          <a:lstStyle/>
          <a:p>
            <a:pPr algn="r" indent="0" marL="0">
              <a:buNone/>
            </a:pPr>
            <a:r>
              <a:rPr lang="en-US" sz="1300" b="1" dirty="0">
                <a:solidFill>
                  <a:srgbClr val="2E6B3E"/>
                </a:solidFill>
                <a:latin typeface="Cambria" pitchFamily="34" charset="0"/>
                <a:ea typeface="Cambria" pitchFamily="34" charset="-122"/>
                <a:cs typeface="Cambria" pitchFamily="34" charset="-120"/>
              </a:rPr>
              <a:t>₦20.0M</a:t>
            </a:r>
            <a:endParaRPr lang="en-US" sz="1300" dirty="0"/>
          </a:p>
        </p:txBody>
      </p:sp>
      <p:sp>
        <p:nvSpPr>
          <p:cNvPr id="18" name="Shape 16"/>
          <p:cNvSpPr/>
          <p:nvPr/>
        </p:nvSpPr>
        <p:spPr>
          <a:xfrm>
            <a:off x="548640" y="5029200"/>
            <a:ext cx="4526280" cy="914"/>
          </a:xfrm>
          <a:prstGeom prst="line">
            <a:avLst/>
          </a:prstGeom>
          <a:noFill/>
          <a:ln w="12700">
            <a:solidFill>
              <a:srgbClr val="E4DECE"/>
            </a:solidFill>
            <a:prstDash val="solid"/>
          </a:ln>
        </p:spPr>
      </p:sp>
      <p:sp>
        <p:nvSpPr>
          <p:cNvPr id="19" name="Text 17"/>
          <p:cNvSpPr txBox="1"/>
          <p:nvPr/>
        </p:nvSpPr>
        <p:spPr>
          <a:xfrm>
            <a:off x="548640" y="5102352"/>
            <a:ext cx="3383280" cy="365760"/>
          </a:xfrm>
          <a:prstGeom prst="rect">
            <a:avLst/>
          </a:prstGeom>
          <a:noFill/>
          <a:ln/>
        </p:spPr>
        <p:txBody>
          <a:bodyPr wrap="square" lIns="0" tIns="0" rIns="0" bIns="0" rtlCol="0" anchor="ctr"/>
          <a:lstStyle/>
          <a:p>
            <a:pPr indent="0" marL="0">
              <a:buNone/>
            </a:pPr>
            <a:r>
              <a:rPr lang="en-US" sz="1300" b="1" dirty="0">
                <a:solidFill>
                  <a:srgbClr val="201C15"/>
                </a:solidFill>
                <a:latin typeface="Cambria" pitchFamily="34" charset="0"/>
                <a:ea typeface="Cambria" pitchFamily="34" charset="-122"/>
                <a:cs typeface="Cambria" pitchFamily="34" charset="-120"/>
              </a:rPr>
              <a:t>Total Revenue</a:t>
            </a:r>
            <a:endParaRPr lang="en-US" sz="1300" dirty="0"/>
          </a:p>
        </p:txBody>
      </p:sp>
      <p:sp>
        <p:nvSpPr>
          <p:cNvPr id="20" name="Text 18"/>
          <p:cNvSpPr txBox="1"/>
          <p:nvPr/>
        </p:nvSpPr>
        <p:spPr>
          <a:xfrm>
            <a:off x="3794760" y="5102352"/>
            <a:ext cx="1280160" cy="365760"/>
          </a:xfrm>
          <a:prstGeom prst="rect">
            <a:avLst/>
          </a:prstGeom>
          <a:noFill/>
          <a:ln/>
        </p:spPr>
        <p:txBody>
          <a:bodyPr wrap="square" lIns="0" tIns="0" rIns="0" bIns="0" rtlCol="0" anchor="ctr"/>
          <a:lstStyle/>
          <a:p>
            <a:pPr algn="r" indent="0" marL="0">
              <a:buNone/>
            </a:pPr>
            <a:r>
              <a:rPr lang="en-US" sz="1500" b="1" dirty="0">
                <a:solidFill>
                  <a:srgbClr val="2E6B3E"/>
                </a:solidFill>
                <a:latin typeface="Cambria" pitchFamily="34" charset="0"/>
                <a:ea typeface="Cambria" pitchFamily="34" charset="-122"/>
                <a:cs typeface="Cambria" pitchFamily="34" charset="-120"/>
              </a:rPr>
              <a:t>₦72.5M</a:t>
            </a:r>
            <a:endParaRPr lang="en-US" sz="1500" dirty="0"/>
          </a:p>
        </p:txBody>
      </p:sp>
      <p:sp>
        <p:nvSpPr>
          <p:cNvPr id="21" name="Shape 19"/>
          <p:cNvSpPr/>
          <p:nvPr/>
        </p:nvSpPr>
        <p:spPr>
          <a:xfrm>
            <a:off x="5532120" y="1691640"/>
            <a:ext cx="914" cy="4389120"/>
          </a:xfrm>
          <a:prstGeom prst="line">
            <a:avLst/>
          </a:prstGeom>
          <a:noFill/>
          <a:ln w="12700">
            <a:solidFill>
              <a:srgbClr val="E4DECE"/>
            </a:solidFill>
            <a:prstDash val="solid"/>
          </a:ln>
        </p:spPr>
      </p:sp>
      <p:sp>
        <p:nvSpPr>
          <p:cNvPr id="22" name="Text 20"/>
          <p:cNvSpPr txBox="1"/>
          <p:nvPr/>
        </p:nvSpPr>
        <p:spPr>
          <a:xfrm>
            <a:off x="5806440" y="1691640"/>
            <a:ext cx="4572000" cy="274320"/>
          </a:xfrm>
          <a:prstGeom prst="rect">
            <a:avLst/>
          </a:prstGeom>
          <a:noFill/>
          <a:ln/>
        </p:spPr>
        <p:txBody>
          <a:bodyPr wrap="square" lIns="0" tIns="0" rIns="0" bIns="0" rtlCol="0" anchor="ctr"/>
          <a:lstStyle/>
          <a:p>
            <a:pPr indent="0" marL="0">
              <a:buNone/>
            </a:pPr>
            <a:r>
              <a:rPr lang="en-US" sz="1100" b="1" spc="150" kern="0" dirty="0">
                <a:solidFill>
                  <a:srgbClr val="9B3327"/>
                </a:solidFill>
                <a:latin typeface="Calibri" pitchFamily="34" charset="0"/>
                <a:ea typeface="Calibri" pitchFamily="34" charset="-122"/>
                <a:cs typeface="Calibri" pitchFamily="34" charset="-120"/>
              </a:rPr>
              <a:t>COSTS</a:t>
            </a:r>
            <a:endParaRPr lang="en-US" sz="1100" dirty="0"/>
          </a:p>
        </p:txBody>
      </p:sp>
      <p:sp>
        <p:nvSpPr>
          <p:cNvPr id="23" name="Text 21"/>
          <p:cNvSpPr txBox="1"/>
          <p:nvPr/>
        </p:nvSpPr>
        <p:spPr>
          <a:xfrm>
            <a:off x="5806440" y="2011680"/>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Production &amp; crew</a:t>
            </a:r>
            <a:endParaRPr lang="en-US" sz="1150" dirty="0"/>
          </a:p>
        </p:txBody>
      </p:sp>
      <p:sp>
        <p:nvSpPr>
          <p:cNvPr id="24" name="Text 22"/>
          <p:cNvSpPr txBox="1"/>
          <p:nvPr/>
        </p:nvSpPr>
        <p:spPr>
          <a:xfrm>
            <a:off x="5806440" y="2304288"/>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10 events × ₦1.2M</a:t>
            </a:r>
            <a:endParaRPr lang="en-US" sz="900" dirty="0"/>
          </a:p>
        </p:txBody>
      </p:sp>
      <p:sp>
        <p:nvSpPr>
          <p:cNvPr id="25" name="Text 23"/>
          <p:cNvSpPr txBox="1"/>
          <p:nvPr/>
        </p:nvSpPr>
        <p:spPr>
          <a:xfrm>
            <a:off x="9052560" y="2011680"/>
            <a:ext cx="1280160" cy="457200"/>
          </a:xfrm>
          <a:prstGeom prst="rect">
            <a:avLst/>
          </a:prstGeom>
          <a:noFill/>
          <a:ln/>
        </p:spPr>
        <p:txBody>
          <a:bodyPr wrap="square" lIns="0" tIns="0" rIns="0" bIns="0" rtlCol="0" anchor="ctr"/>
          <a:lstStyle/>
          <a:p>
            <a:pPr algn="r" indent="0" marL="0">
              <a:buNone/>
            </a:pPr>
            <a:r>
              <a:rPr lang="en-US" sz="1300" b="1" dirty="0">
                <a:solidFill>
                  <a:srgbClr val="9B3327"/>
                </a:solidFill>
                <a:latin typeface="Cambria" pitchFamily="34" charset="0"/>
                <a:ea typeface="Cambria" pitchFamily="34" charset="-122"/>
                <a:cs typeface="Cambria" pitchFamily="34" charset="-120"/>
              </a:rPr>
              <a:t>₦12.0M</a:t>
            </a:r>
            <a:endParaRPr lang="en-US" sz="1300" dirty="0"/>
          </a:p>
        </p:txBody>
      </p:sp>
      <p:sp>
        <p:nvSpPr>
          <p:cNvPr id="26" name="Text 24"/>
          <p:cNvSpPr txBox="1"/>
          <p:nvPr/>
        </p:nvSpPr>
        <p:spPr>
          <a:xfrm>
            <a:off x="5806440" y="2578608"/>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Dedicated sales &amp; account team</a:t>
            </a:r>
            <a:endParaRPr lang="en-US" sz="1150" dirty="0"/>
          </a:p>
        </p:txBody>
      </p:sp>
      <p:sp>
        <p:nvSpPr>
          <p:cNvPr id="27" name="Text 25"/>
          <p:cNvSpPr txBox="1"/>
          <p:nvPr/>
        </p:nvSpPr>
        <p:spPr>
          <a:xfrm>
            <a:off x="5806440" y="2871216"/>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2 staff, 12 months</a:t>
            </a:r>
            <a:endParaRPr lang="en-US" sz="900" dirty="0"/>
          </a:p>
        </p:txBody>
      </p:sp>
      <p:sp>
        <p:nvSpPr>
          <p:cNvPr id="28" name="Text 26"/>
          <p:cNvSpPr txBox="1"/>
          <p:nvPr/>
        </p:nvSpPr>
        <p:spPr>
          <a:xfrm>
            <a:off x="9052560" y="2578608"/>
            <a:ext cx="1280160" cy="457200"/>
          </a:xfrm>
          <a:prstGeom prst="rect">
            <a:avLst/>
          </a:prstGeom>
          <a:noFill/>
          <a:ln/>
        </p:spPr>
        <p:txBody>
          <a:bodyPr wrap="square" lIns="0" tIns="0" rIns="0" bIns="0" rtlCol="0" anchor="ctr"/>
          <a:lstStyle/>
          <a:p>
            <a:pPr algn="r" indent="0" marL="0">
              <a:buNone/>
            </a:pPr>
            <a:r>
              <a:rPr lang="en-US" sz="1300" b="1" dirty="0">
                <a:solidFill>
                  <a:srgbClr val="9B3327"/>
                </a:solidFill>
                <a:latin typeface="Cambria" pitchFamily="34" charset="0"/>
                <a:ea typeface="Cambria" pitchFamily="34" charset="-122"/>
                <a:cs typeface="Cambria" pitchFamily="34" charset="-120"/>
              </a:rPr>
              <a:t>₦18.0M</a:t>
            </a:r>
            <a:endParaRPr lang="en-US" sz="1300" dirty="0"/>
          </a:p>
        </p:txBody>
      </p:sp>
      <p:sp>
        <p:nvSpPr>
          <p:cNvPr id="29" name="Text 27"/>
          <p:cNvSpPr txBox="1"/>
          <p:nvPr/>
        </p:nvSpPr>
        <p:spPr>
          <a:xfrm>
            <a:off x="5806440" y="3145536"/>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Platform / tech allocation</a:t>
            </a:r>
            <a:endParaRPr lang="en-US" sz="1150" dirty="0"/>
          </a:p>
        </p:txBody>
      </p:sp>
      <p:sp>
        <p:nvSpPr>
          <p:cNvPr id="30" name="Text 28"/>
          <p:cNvSpPr txBox="1"/>
          <p:nvPr/>
        </p:nvSpPr>
        <p:spPr>
          <a:xfrm>
            <a:off x="5806440" y="3438144"/>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Shared Asiko TV infrastructure</a:t>
            </a:r>
            <a:endParaRPr lang="en-US" sz="900" dirty="0"/>
          </a:p>
        </p:txBody>
      </p:sp>
      <p:sp>
        <p:nvSpPr>
          <p:cNvPr id="31" name="Text 29"/>
          <p:cNvSpPr txBox="1"/>
          <p:nvPr/>
        </p:nvSpPr>
        <p:spPr>
          <a:xfrm>
            <a:off x="9052560" y="3145536"/>
            <a:ext cx="1280160" cy="457200"/>
          </a:xfrm>
          <a:prstGeom prst="rect">
            <a:avLst/>
          </a:prstGeom>
          <a:noFill/>
          <a:ln/>
        </p:spPr>
        <p:txBody>
          <a:bodyPr wrap="square" lIns="0" tIns="0" rIns="0" bIns="0" rtlCol="0" anchor="ctr"/>
          <a:lstStyle/>
          <a:p>
            <a:pPr algn="r" indent="0" marL="0">
              <a:buNone/>
            </a:pPr>
            <a:r>
              <a:rPr lang="en-US" sz="1300" b="1" dirty="0">
                <a:solidFill>
                  <a:srgbClr val="9B3327"/>
                </a:solidFill>
                <a:latin typeface="Cambria" pitchFamily="34" charset="0"/>
                <a:ea typeface="Cambria" pitchFamily="34" charset="-122"/>
                <a:cs typeface="Cambria" pitchFamily="34" charset="-120"/>
              </a:rPr>
              <a:t>₦6.0M</a:t>
            </a:r>
            <a:endParaRPr lang="en-US" sz="1300" dirty="0"/>
          </a:p>
        </p:txBody>
      </p:sp>
      <p:sp>
        <p:nvSpPr>
          <p:cNvPr id="32" name="Text 30"/>
          <p:cNvSpPr txBox="1"/>
          <p:nvPr/>
        </p:nvSpPr>
        <p:spPr>
          <a:xfrm>
            <a:off x="5806440" y="3712464"/>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Marketing &amp; relationship mgmt</a:t>
            </a:r>
            <a:endParaRPr lang="en-US" sz="1150" dirty="0"/>
          </a:p>
        </p:txBody>
      </p:sp>
      <p:sp>
        <p:nvSpPr>
          <p:cNvPr id="33" name="Text 31"/>
          <p:cNvSpPr txBox="1"/>
          <p:nvPr/>
        </p:nvSpPr>
        <p:spPr>
          <a:xfrm>
            <a:off x="5806440" y="4005072"/>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Proposals, hosting, travel</a:t>
            </a:r>
            <a:endParaRPr lang="en-US" sz="900" dirty="0"/>
          </a:p>
        </p:txBody>
      </p:sp>
      <p:sp>
        <p:nvSpPr>
          <p:cNvPr id="34" name="Text 32"/>
          <p:cNvSpPr txBox="1"/>
          <p:nvPr/>
        </p:nvSpPr>
        <p:spPr>
          <a:xfrm>
            <a:off x="9052560" y="3712464"/>
            <a:ext cx="1280160" cy="457200"/>
          </a:xfrm>
          <a:prstGeom prst="rect">
            <a:avLst/>
          </a:prstGeom>
          <a:noFill/>
          <a:ln/>
        </p:spPr>
        <p:txBody>
          <a:bodyPr wrap="square" lIns="0" tIns="0" rIns="0" bIns="0" rtlCol="0" anchor="ctr"/>
          <a:lstStyle/>
          <a:p>
            <a:pPr algn="r" indent="0" marL="0">
              <a:buNone/>
            </a:pPr>
            <a:r>
              <a:rPr lang="en-US" sz="1300" b="1" dirty="0">
                <a:solidFill>
                  <a:srgbClr val="9B3327"/>
                </a:solidFill>
                <a:latin typeface="Cambria" pitchFamily="34" charset="0"/>
                <a:ea typeface="Cambria" pitchFamily="34" charset="-122"/>
                <a:cs typeface="Cambria" pitchFamily="34" charset="-120"/>
              </a:rPr>
              <a:t>₦5.0M</a:t>
            </a:r>
            <a:endParaRPr lang="en-US" sz="1300" dirty="0"/>
          </a:p>
        </p:txBody>
      </p:sp>
      <p:sp>
        <p:nvSpPr>
          <p:cNvPr id="35" name="Text 33"/>
          <p:cNvSpPr txBox="1"/>
          <p:nvPr/>
        </p:nvSpPr>
        <p:spPr>
          <a:xfrm>
            <a:off x="5806440" y="4279392"/>
            <a:ext cx="3383280" cy="457200"/>
          </a:xfrm>
          <a:prstGeom prst="rect">
            <a:avLst/>
          </a:prstGeom>
          <a:noFill/>
          <a:ln/>
        </p:spPr>
        <p:txBody>
          <a:bodyPr wrap="square" lIns="0" tIns="0" rIns="0" bIns="0" rtlCol="0" anchor="ctr"/>
          <a:lstStyle/>
          <a:p>
            <a:pPr indent="0" marL="0">
              <a:lnSpc>
                <a:spcPct val="110000"/>
              </a:lnSpc>
              <a:buNone/>
            </a:pPr>
            <a:r>
              <a:rPr lang="en-US" sz="1150" b="1" dirty="0">
                <a:solidFill>
                  <a:srgbClr val="201C15"/>
                </a:solidFill>
                <a:latin typeface="Cambria" pitchFamily="34" charset="0"/>
                <a:ea typeface="Cambria" pitchFamily="34" charset="-122"/>
                <a:cs typeface="Cambria" pitchFamily="34" charset="-120"/>
              </a:rPr>
              <a:t>Revenue share to EXMAN</a:t>
            </a:r>
            <a:endParaRPr lang="en-US" sz="1150" dirty="0"/>
          </a:p>
        </p:txBody>
      </p:sp>
      <p:sp>
        <p:nvSpPr>
          <p:cNvPr id="36" name="Text 34"/>
          <p:cNvSpPr txBox="1"/>
          <p:nvPr/>
        </p:nvSpPr>
        <p:spPr>
          <a:xfrm>
            <a:off x="5806440" y="4572000"/>
            <a:ext cx="3383280" cy="320040"/>
          </a:xfrm>
          <a:prstGeom prst="rect">
            <a:avLst/>
          </a:prstGeom>
          <a:noFill/>
          <a:ln/>
        </p:spPr>
        <p:txBody>
          <a:bodyPr wrap="square" lIns="0" tIns="0" rIns="0" bIns="0" rtlCol="0" anchor="ctr"/>
          <a:lstStyle/>
          <a:p>
            <a:pPr indent="0" marL="0">
              <a:lnSpc>
                <a:spcPct val="110000"/>
              </a:lnSpc>
              <a:buNone/>
            </a:pPr>
            <a:r>
              <a:rPr lang="en-US" sz="900" dirty="0">
                <a:solidFill>
                  <a:srgbClr val="6E6A60"/>
                </a:solidFill>
                <a:latin typeface="Calibri" pitchFamily="34" charset="0"/>
                <a:ea typeface="Calibri" pitchFamily="34" charset="-122"/>
                <a:cs typeface="Calibri" pitchFamily="34" charset="-120"/>
              </a:rPr>
              <a:t>~12% of total revenue</a:t>
            </a:r>
            <a:endParaRPr lang="en-US" sz="900" dirty="0"/>
          </a:p>
        </p:txBody>
      </p:sp>
      <p:sp>
        <p:nvSpPr>
          <p:cNvPr id="37" name="Text 35"/>
          <p:cNvSpPr txBox="1"/>
          <p:nvPr/>
        </p:nvSpPr>
        <p:spPr>
          <a:xfrm>
            <a:off x="9052560" y="4279392"/>
            <a:ext cx="1280160" cy="457200"/>
          </a:xfrm>
          <a:prstGeom prst="rect">
            <a:avLst/>
          </a:prstGeom>
          <a:noFill/>
          <a:ln/>
        </p:spPr>
        <p:txBody>
          <a:bodyPr wrap="square" lIns="0" tIns="0" rIns="0" bIns="0" rtlCol="0" anchor="ctr"/>
          <a:lstStyle/>
          <a:p>
            <a:pPr algn="r" indent="0" marL="0">
              <a:buNone/>
            </a:pPr>
            <a:r>
              <a:rPr lang="en-US" sz="1300" b="1" dirty="0">
                <a:solidFill>
                  <a:srgbClr val="9B3327"/>
                </a:solidFill>
                <a:latin typeface="Cambria" pitchFamily="34" charset="0"/>
                <a:ea typeface="Cambria" pitchFamily="34" charset="-122"/>
                <a:cs typeface="Cambria" pitchFamily="34" charset="-120"/>
              </a:rPr>
              <a:t>₦8.7M</a:t>
            </a:r>
            <a:endParaRPr lang="en-US" sz="1300" dirty="0"/>
          </a:p>
        </p:txBody>
      </p:sp>
      <p:sp>
        <p:nvSpPr>
          <p:cNvPr id="38" name="Shape 36"/>
          <p:cNvSpPr/>
          <p:nvPr/>
        </p:nvSpPr>
        <p:spPr>
          <a:xfrm>
            <a:off x="5806440" y="4864608"/>
            <a:ext cx="4526280" cy="914"/>
          </a:xfrm>
          <a:prstGeom prst="line">
            <a:avLst/>
          </a:prstGeom>
          <a:noFill/>
          <a:ln w="12700">
            <a:solidFill>
              <a:srgbClr val="E4DECE"/>
            </a:solidFill>
            <a:prstDash val="solid"/>
          </a:ln>
        </p:spPr>
      </p:sp>
      <p:sp>
        <p:nvSpPr>
          <p:cNvPr id="39" name="Text 37"/>
          <p:cNvSpPr txBox="1"/>
          <p:nvPr/>
        </p:nvSpPr>
        <p:spPr>
          <a:xfrm>
            <a:off x="5806440" y="4937760"/>
            <a:ext cx="3383280" cy="365760"/>
          </a:xfrm>
          <a:prstGeom prst="rect">
            <a:avLst/>
          </a:prstGeom>
          <a:noFill/>
          <a:ln/>
        </p:spPr>
        <p:txBody>
          <a:bodyPr wrap="square" lIns="0" tIns="0" rIns="0" bIns="0" rtlCol="0" anchor="ctr"/>
          <a:lstStyle/>
          <a:p>
            <a:pPr indent="0" marL="0">
              <a:buNone/>
            </a:pPr>
            <a:r>
              <a:rPr lang="en-US" sz="1300" b="1" dirty="0">
                <a:solidFill>
                  <a:srgbClr val="201C15"/>
                </a:solidFill>
                <a:latin typeface="Cambria" pitchFamily="34" charset="0"/>
                <a:ea typeface="Cambria" pitchFamily="34" charset="-122"/>
                <a:cs typeface="Cambria" pitchFamily="34" charset="-120"/>
              </a:rPr>
              <a:t>Total Costs</a:t>
            </a:r>
            <a:endParaRPr lang="en-US" sz="1300" dirty="0"/>
          </a:p>
        </p:txBody>
      </p:sp>
      <p:sp>
        <p:nvSpPr>
          <p:cNvPr id="40" name="Text 38"/>
          <p:cNvSpPr txBox="1"/>
          <p:nvPr/>
        </p:nvSpPr>
        <p:spPr>
          <a:xfrm>
            <a:off x="9052560" y="4937760"/>
            <a:ext cx="1280160" cy="365760"/>
          </a:xfrm>
          <a:prstGeom prst="rect">
            <a:avLst/>
          </a:prstGeom>
          <a:noFill/>
          <a:ln/>
        </p:spPr>
        <p:txBody>
          <a:bodyPr wrap="square" lIns="0" tIns="0" rIns="0" bIns="0" rtlCol="0" anchor="ctr"/>
          <a:lstStyle/>
          <a:p>
            <a:pPr algn="r" indent="0" marL="0">
              <a:buNone/>
            </a:pPr>
            <a:r>
              <a:rPr lang="en-US" sz="1500" b="1" dirty="0">
                <a:solidFill>
                  <a:srgbClr val="9B3327"/>
                </a:solidFill>
                <a:latin typeface="Cambria" pitchFamily="34" charset="0"/>
                <a:ea typeface="Cambria" pitchFamily="34" charset="-122"/>
                <a:cs typeface="Cambria" pitchFamily="34" charset="-120"/>
              </a:rPr>
              <a:t>₦49.7M</a:t>
            </a:r>
            <a:endParaRPr lang="en-US" sz="1500" dirty="0"/>
          </a:p>
        </p:txBody>
      </p:sp>
      <p:sp>
        <p:nvSpPr>
          <p:cNvPr id="41" name="Shape 39"/>
          <p:cNvSpPr/>
          <p:nvPr/>
        </p:nvSpPr>
        <p:spPr>
          <a:xfrm>
            <a:off x="5806440" y="5440680"/>
            <a:ext cx="4526280" cy="658368"/>
          </a:xfrm>
          <a:prstGeom prst="roundRect">
            <a:avLst>
              <a:gd name="adj" fmla="val 8333"/>
            </a:avLst>
          </a:prstGeom>
          <a:solidFill>
            <a:srgbClr val="0A0A0A"/>
          </a:solidFill>
          <a:ln/>
        </p:spPr>
      </p:sp>
      <p:sp>
        <p:nvSpPr>
          <p:cNvPr id="42" name="Text 40"/>
          <p:cNvSpPr txBox="1"/>
          <p:nvPr/>
        </p:nvSpPr>
        <p:spPr>
          <a:xfrm>
            <a:off x="6035040" y="5440680"/>
            <a:ext cx="2926080" cy="658368"/>
          </a:xfrm>
          <a:prstGeom prst="rect">
            <a:avLst/>
          </a:prstGeom>
          <a:noFill/>
          <a:ln/>
        </p:spPr>
        <p:txBody>
          <a:bodyPr wrap="square" lIns="0" tIns="0" rIns="0" bIns="0" rtlCol="0" anchor="ctr"/>
          <a:lstStyle/>
          <a:p>
            <a:pPr indent="0" marL="0">
              <a:buNone/>
            </a:pPr>
            <a:r>
              <a:rPr lang="en-US" sz="1100" b="1" dirty="0">
                <a:solidFill>
                  <a:srgbClr val="F4F1EA"/>
                </a:solidFill>
                <a:latin typeface="Calibri" pitchFamily="34" charset="0"/>
                <a:ea typeface="Calibri" pitchFamily="34" charset="-122"/>
                <a:cs typeface="Calibri" pitchFamily="34" charset="-120"/>
              </a:rPr>
              <a:t>Net Contribution (~31% margin)</a:t>
            </a:r>
            <a:endParaRPr lang="en-US" sz="1100" dirty="0"/>
          </a:p>
        </p:txBody>
      </p:sp>
      <p:sp>
        <p:nvSpPr>
          <p:cNvPr id="43" name="Text 41"/>
          <p:cNvSpPr txBox="1"/>
          <p:nvPr/>
        </p:nvSpPr>
        <p:spPr>
          <a:xfrm>
            <a:off x="9052560" y="5440680"/>
            <a:ext cx="1234440" cy="658368"/>
          </a:xfrm>
          <a:prstGeom prst="rect">
            <a:avLst/>
          </a:prstGeom>
          <a:noFill/>
          <a:ln/>
        </p:spPr>
        <p:txBody>
          <a:bodyPr wrap="square" lIns="0" tIns="0" rIns="0" bIns="0" rtlCol="0" anchor="ctr"/>
          <a:lstStyle/>
          <a:p>
            <a:pPr algn="r" indent="0" marL="0">
              <a:buNone/>
            </a:pPr>
            <a:r>
              <a:rPr lang="en-US" sz="1500" b="1" dirty="0">
                <a:solidFill>
                  <a:srgbClr val="C99632"/>
                </a:solidFill>
                <a:latin typeface="Cambria" pitchFamily="34" charset="0"/>
                <a:ea typeface="Cambria" pitchFamily="34" charset="-122"/>
                <a:cs typeface="Cambria" pitchFamily="34" charset="-120"/>
              </a:rPr>
              <a:t>₦22.8M</a:t>
            </a:r>
            <a:endParaRPr lang="en-US" sz="1500" dirty="0"/>
          </a:p>
        </p:txBody>
      </p:sp>
      <p:sp>
        <p:nvSpPr>
          <p:cNvPr id="44" name="Text 42"/>
          <p:cNvSpPr txBox="1"/>
          <p:nvPr/>
        </p:nvSpPr>
        <p:spPr>
          <a:xfrm>
            <a:off x="548640" y="6419088"/>
            <a:ext cx="9784080" cy="274320"/>
          </a:xfrm>
          <a:prstGeom prst="rect">
            <a:avLst/>
          </a:prstGeom>
          <a:noFill/>
          <a:ln/>
        </p:spPr>
        <p:txBody>
          <a:bodyPr wrap="square" lIns="0" tIns="0" rIns="0" bIns="0" rtlCol="0" anchor="ctr"/>
          <a:lstStyle/>
          <a:p>
            <a:pPr indent="0" marL="0">
              <a:buNone/>
            </a:pPr>
            <a:r>
              <a:rPr lang="en-US" sz="900" i="1" dirty="0">
                <a:solidFill>
                  <a:srgbClr val="6E6A60"/>
                </a:solidFill>
                <a:latin typeface="Calibri" pitchFamily="34" charset="0"/>
                <a:ea typeface="Calibri" pitchFamily="34" charset="-122"/>
                <a:cs typeface="Calibri" pitchFamily="34" charset="-120"/>
              </a:rPr>
              <a:t>Illustrative pilot-year model, 10 flagship EXMAN member events — for validation once EXMAN's event calendar and typical deal sizes are confirmed.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THE TRADE-OFFS</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Pros &amp; Cons of the EXMAN Partnership</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1691640"/>
            <a:ext cx="5212080" cy="4434840"/>
          </a:xfrm>
          <a:prstGeom prst="roundRect">
            <a:avLst>
              <a:gd name="adj" fmla="val 1649"/>
            </a:avLst>
          </a:prstGeom>
          <a:solidFill>
            <a:srgbClr val="F2F7F1"/>
          </a:solidFill>
          <a:ln w="12700">
            <a:solidFill>
              <a:srgbClr val="CFE3CF"/>
            </a:solidFill>
            <a:prstDash val="solid"/>
          </a:ln>
        </p:spPr>
      </p:sp>
      <p:pic>
        <p:nvPicPr>
          <p:cNvPr id="6" name="Image 0" descr="/home/claude/exman-deck/icons/check_green.png">    </p:cNvPr>
          <p:cNvPicPr>
            <a:picLocks noChangeAspect="1"/>
          </p:cNvPicPr>
          <p:nvPr/>
        </p:nvPicPr>
        <p:blipFill>
          <a:blip r:embed="rId1"/>
          <a:stretch>
            <a:fillRect/>
          </a:stretch>
        </p:blipFill>
        <p:spPr>
          <a:xfrm>
            <a:off x="868680" y="1920240"/>
            <a:ext cx="365760" cy="365760"/>
          </a:xfrm>
          <a:prstGeom prst="rect">
            <a:avLst/>
          </a:prstGeom>
        </p:spPr>
      </p:pic>
      <p:sp>
        <p:nvSpPr>
          <p:cNvPr id="7" name="Text 4"/>
          <p:cNvSpPr txBox="1"/>
          <p:nvPr/>
        </p:nvSpPr>
        <p:spPr>
          <a:xfrm>
            <a:off x="1325880" y="1965960"/>
            <a:ext cx="2743200" cy="320040"/>
          </a:xfrm>
          <a:prstGeom prst="rect">
            <a:avLst/>
          </a:prstGeom>
          <a:noFill/>
          <a:ln/>
        </p:spPr>
        <p:txBody>
          <a:bodyPr wrap="square" lIns="0" tIns="0" rIns="0" bIns="0" rtlCol="0" anchor="ctr"/>
          <a:lstStyle/>
          <a:p>
            <a:pPr indent="0" marL="0">
              <a:buNone/>
            </a:pPr>
            <a:r>
              <a:rPr lang="en-US" sz="1500" b="1" dirty="0">
                <a:solidFill>
                  <a:srgbClr val="2E6B3E"/>
                </a:solidFill>
                <a:latin typeface="Cambria" pitchFamily="34" charset="0"/>
                <a:ea typeface="Cambria" pitchFamily="34" charset="-122"/>
                <a:cs typeface="Cambria" pitchFamily="34" charset="-120"/>
              </a:rPr>
              <a:t>PROS</a:t>
            </a:r>
            <a:endParaRPr lang="en-US" sz="1500" dirty="0"/>
          </a:p>
        </p:txBody>
      </p:sp>
      <p:sp>
        <p:nvSpPr>
          <p:cNvPr id="8" name="Text 5"/>
          <p:cNvSpPr txBox="1"/>
          <p:nvPr/>
        </p:nvSpPr>
        <p:spPr>
          <a:xfrm>
            <a:off x="868680" y="2423160"/>
            <a:ext cx="4572000" cy="3566160"/>
          </a:xfrm>
          <a:prstGeom prst="rect">
            <a:avLst/>
          </a:prstGeom>
          <a:noFill/>
          <a:ln/>
        </p:spPr>
        <p:txBody>
          <a:bodyPr wrap="square" lIns="0" tIns="0" rIns="0" bIns="0" rtlCol="0" anchor="ctr"/>
          <a:lstStyle/>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Instant access to 50+ agencies' annual event calendars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Turns one-off events into always-on streaming content</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Diversifies Asiko TV revenue beyond linear-channel sponsorship</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Warm relationship already open, via Medebem / Dîner en Blanc Lagos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Strengthens Media Icons Africa's Events+ division (D3)</a:t>
            </a:r>
            <a:endParaRPr lang="en-US" sz="1250" dirty="0"/>
          </a:p>
        </p:txBody>
      </p:sp>
      <p:sp>
        <p:nvSpPr>
          <p:cNvPr id="9" name="Shape 6"/>
          <p:cNvSpPr/>
          <p:nvPr/>
        </p:nvSpPr>
        <p:spPr>
          <a:xfrm>
            <a:off x="5989320" y="1691640"/>
            <a:ext cx="5212080" cy="4434840"/>
          </a:xfrm>
          <a:prstGeom prst="roundRect">
            <a:avLst>
              <a:gd name="adj" fmla="val 1649"/>
            </a:avLst>
          </a:prstGeom>
          <a:solidFill>
            <a:srgbClr val="F9F1EF"/>
          </a:solidFill>
          <a:ln w="12700">
            <a:solidFill>
              <a:srgbClr val="EBCFC8"/>
            </a:solidFill>
            <a:prstDash val="solid"/>
          </a:ln>
        </p:spPr>
      </p:sp>
      <p:pic>
        <p:nvPicPr>
          <p:cNvPr id="10" name="Image 1" descr="/home/claude/exman-deck/icons/times_red.png">    </p:cNvPr>
          <p:cNvPicPr>
            <a:picLocks noChangeAspect="1"/>
          </p:cNvPicPr>
          <p:nvPr/>
        </p:nvPicPr>
        <p:blipFill>
          <a:blip r:embed="rId2"/>
          <a:stretch>
            <a:fillRect/>
          </a:stretch>
        </p:blipFill>
        <p:spPr>
          <a:xfrm>
            <a:off x="6309360" y="1920240"/>
            <a:ext cx="365760" cy="365760"/>
          </a:xfrm>
          <a:prstGeom prst="rect">
            <a:avLst/>
          </a:prstGeom>
        </p:spPr>
      </p:pic>
      <p:sp>
        <p:nvSpPr>
          <p:cNvPr id="11" name="Text 7"/>
          <p:cNvSpPr txBox="1"/>
          <p:nvPr/>
        </p:nvSpPr>
        <p:spPr>
          <a:xfrm>
            <a:off x="6766560" y="1965960"/>
            <a:ext cx="2743200" cy="320040"/>
          </a:xfrm>
          <a:prstGeom prst="rect">
            <a:avLst/>
          </a:prstGeom>
          <a:noFill/>
          <a:ln/>
        </p:spPr>
        <p:txBody>
          <a:bodyPr wrap="square" lIns="0" tIns="0" rIns="0" bIns="0" rtlCol="0" anchor="ctr"/>
          <a:lstStyle/>
          <a:p>
            <a:pPr indent="0" marL="0">
              <a:buNone/>
            </a:pPr>
            <a:r>
              <a:rPr lang="en-US" sz="1500" b="1" dirty="0">
                <a:solidFill>
                  <a:srgbClr val="9B3327"/>
                </a:solidFill>
                <a:latin typeface="Cambria" pitchFamily="34" charset="0"/>
                <a:ea typeface="Cambria" pitchFamily="34" charset="-122"/>
                <a:cs typeface="Cambria" pitchFamily="34" charset="-120"/>
              </a:rPr>
              <a:t>CONS</a:t>
            </a:r>
            <a:endParaRPr lang="en-US" sz="1500" dirty="0"/>
          </a:p>
        </p:txBody>
      </p:sp>
      <p:sp>
        <p:nvSpPr>
          <p:cNvPr id="12" name="Text 8"/>
          <p:cNvSpPr txBox="1"/>
          <p:nvPr/>
        </p:nvSpPr>
        <p:spPr>
          <a:xfrm>
            <a:off x="6309360" y="2423160"/>
            <a:ext cx="4572000" cy="3566160"/>
          </a:xfrm>
          <a:prstGeom prst="rect">
            <a:avLst/>
          </a:prstGeom>
          <a:noFill/>
          <a:ln/>
        </p:spPr>
        <p:txBody>
          <a:bodyPr wrap="square" lIns="0" tIns="0" rIns="0" bIns="0" rtlCol="0" anchor="ctr"/>
          <a:lstStyle/>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Depends on ratification by the EXMAN Exco, not the President alone</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Member agencies may resist ceding control of sponsorship sales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Revenue is seasonal, tied to the events industry's calendar peaks</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Requires new production capacity and crew scaling</a:t>
            </a:r>
            <a:endParaRPr lang="en-US" sz="1250" dirty="0"/>
          </a:p>
          <a:p>
            <a:pPr marL="177800" indent="-177800">
              <a:lnSpc>
                <a:spcPct val="130000"/>
              </a:lnSpc>
              <a:spcAft>
                <a:spcPts val="1200"/>
              </a:spcAft>
              <a:buSzPct val="100000"/>
              <a:buChar char="•"/>
            </a:pPr>
            <a:r>
              <a:rPr lang="en-US" sz="1250" dirty="0">
                <a:solidFill>
                  <a:srgbClr val="201C15"/>
                </a:solidFill>
                <a:latin typeface="Calibri" pitchFamily="34" charset="0"/>
                <a:ea typeface="Calibri" pitchFamily="34" charset="-122"/>
                <a:cs typeface="Calibri" pitchFamily="34" charset="-120"/>
              </a:rPr>
              <a:t>Risk of channel conflict with member agencies' existing sponsor deals</a:t>
            </a:r>
            <a:endParaRPr lang="en-US" sz="1250" dirty="0"/>
          </a:p>
        </p:txBody>
      </p:sp>
      <p:sp>
        <p:nvSpPr>
          <p:cNvPr id="13" name="Text 9"/>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13</a:t>
            </a:r>
            <a:endParaRPr lang="en-US" sz="900" dirty="0"/>
          </a:p>
        </p:txBody>
      </p:sp>
      <p:sp>
        <p:nvSpPr>
          <p:cNvPr id="14" name="Text 10"/>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200" kern="0" dirty="0">
                <a:solidFill>
                  <a:srgbClr val="C99632"/>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3000" b="1" dirty="0">
                <a:solidFill>
                  <a:srgbClr val="201C15"/>
                </a:solidFill>
                <a:latin typeface="Cambria" pitchFamily="34" charset="0"/>
                <a:ea typeface="Cambria" pitchFamily="34" charset="-122"/>
                <a:cs typeface="Cambria" pitchFamily="34" charset="-120"/>
              </a:rPr>
              <a:t>Next 90 Days</a:t>
            </a:r>
            <a:endParaRPr lang="en-US" sz="3000" dirty="0"/>
          </a:p>
        </p:txBody>
      </p:sp>
      <p:sp>
        <p:nvSpPr>
          <p:cNvPr id="4" name="Shape 2"/>
          <p:cNvSpPr/>
          <p:nvPr/>
        </p:nvSpPr>
        <p:spPr>
          <a:xfrm>
            <a:off x="548640" y="1417320"/>
            <a:ext cx="11064240" cy="914"/>
          </a:xfrm>
          <a:prstGeom prst="line">
            <a:avLst/>
          </a:prstGeom>
          <a:noFill/>
          <a:ln w="9525">
            <a:solidFill>
              <a:srgbClr val="E4DECE"/>
            </a:solidFill>
            <a:prstDash val="solid"/>
          </a:ln>
        </p:spPr>
      </p:sp>
      <p:sp>
        <p:nvSpPr>
          <p:cNvPr id="5" name="Shape 3"/>
          <p:cNvSpPr/>
          <p:nvPr/>
        </p:nvSpPr>
        <p:spPr>
          <a:xfrm>
            <a:off x="548640" y="2103120"/>
            <a:ext cx="2331720" cy="3291840"/>
          </a:xfrm>
          <a:prstGeom prst="roundRect">
            <a:avLst>
              <a:gd name="adj" fmla="val 2745"/>
            </a:avLst>
          </a:prstGeom>
          <a:solidFill>
            <a:srgbClr val="FBF8F0"/>
          </a:solidFill>
          <a:ln w="12700">
            <a:solidFill>
              <a:srgbClr val="E4DECE"/>
            </a:solidFill>
            <a:prstDash val="solid"/>
          </a:ln>
        </p:spPr>
      </p:sp>
      <p:sp>
        <p:nvSpPr>
          <p:cNvPr id="6" name="Text 4"/>
          <p:cNvSpPr txBox="1"/>
          <p:nvPr/>
        </p:nvSpPr>
        <p:spPr>
          <a:xfrm>
            <a:off x="777240" y="2331720"/>
            <a:ext cx="1874520" cy="365760"/>
          </a:xfrm>
          <a:prstGeom prst="rect">
            <a:avLst/>
          </a:prstGeom>
          <a:noFill/>
          <a:ln/>
        </p:spPr>
        <p:txBody>
          <a:bodyPr wrap="square" lIns="0" tIns="0" rIns="0" bIns="0" rtlCol="0" anchor="ctr"/>
          <a:lstStyle/>
          <a:p>
            <a:pPr indent="0" marL="0">
              <a:buNone/>
            </a:pPr>
            <a:r>
              <a:rPr lang="en-US" sz="1100" b="1" spc="100" kern="0" dirty="0">
                <a:solidFill>
                  <a:srgbClr val="C99632"/>
                </a:solidFill>
                <a:latin typeface="Calibri" pitchFamily="34" charset="0"/>
                <a:ea typeface="Calibri" pitchFamily="34" charset="-122"/>
                <a:cs typeface="Calibri" pitchFamily="34" charset="-120"/>
              </a:rPr>
              <a:t>Weeks 1–2</a:t>
            </a:r>
            <a:endParaRPr lang="en-US" sz="1100" dirty="0"/>
          </a:p>
        </p:txBody>
      </p:sp>
      <p:sp>
        <p:nvSpPr>
          <p:cNvPr id="7" name="Text 5"/>
          <p:cNvSpPr txBox="1"/>
          <p:nvPr/>
        </p:nvSpPr>
        <p:spPr>
          <a:xfrm>
            <a:off x="777240" y="2788920"/>
            <a:ext cx="1874520" cy="2423160"/>
          </a:xfrm>
          <a:prstGeom prst="rect">
            <a:avLst/>
          </a:prstGeom>
          <a:noFill/>
          <a:ln/>
        </p:spPr>
        <p:txBody>
          <a:bodyPr wrap="square" lIns="0" tIns="0" rIns="0" bIns="0" rtlCol="0" anchor="ctr"/>
          <a:lstStyle/>
          <a:p>
            <a:pPr indent="0" marL="0">
              <a:lnSpc>
                <a:spcPct val="130000"/>
              </a:lnSpc>
              <a:buNone/>
            </a:pPr>
            <a:r>
              <a:rPr lang="en-US" sz="1200" dirty="0">
                <a:solidFill>
                  <a:srgbClr val="201C15"/>
                </a:solidFill>
                <a:latin typeface="Calibri" pitchFamily="34" charset="0"/>
                <a:ea typeface="Calibri" pitchFamily="34" charset="-122"/>
                <a:cs typeface="Calibri" pitchFamily="34" charset="-120"/>
              </a:rPr>
              <a:t>Request a meeting with Tolulope Medebem in her AsterIML capacity</a:t>
            </a:r>
            <a:endParaRPr lang="en-US" sz="1200" dirty="0"/>
          </a:p>
        </p:txBody>
      </p:sp>
      <p:sp>
        <p:nvSpPr>
          <p:cNvPr id="8" name="Shape 6"/>
          <p:cNvSpPr/>
          <p:nvPr/>
        </p:nvSpPr>
        <p:spPr>
          <a:xfrm>
            <a:off x="2898648" y="3749040"/>
            <a:ext cx="210312" cy="914"/>
          </a:xfrm>
          <a:prstGeom prst="line">
            <a:avLst/>
          </a:prstGeom>
          <a:noFill/>
          <a:ln w="19050">
            <a:solidFill>
              <a:srgbClr val="C99632"/>
            </a:solidFill>
            <a:prstDash val="solid"/>
            <a:tailEnd type="triangle"/>
          </a:ln>
        </p:spPr>
      </p:sp>
      <p:sp>
        <p:nvSpPr>
          <p:cNvPr id="9" name="Shape 7"/>
          <p:cNvSpPr/>
          <p:nvPr/>
        </p:nvSpPr>
        <p:spPr>
          <a:xfrm>
            <a:off x="3154680" y="2103120"/>
            <a:ext cx="2331720" cy="3291840"/>
          </a:xfrm>
          <a:prstGeom prst="roundRect">
            <a:avLst>
              <a:gd name="adj" fmla="val 2745"/>
            </a:avLst>
          </a:prstGeom>
          <a:solidFill>
            <a:srgbClr val="FBF8F0"/>
          </a:solidFill>
          <a:ln w="12700">
            <a:solidFill>
              <a:srgbClr val="E4DECE"/>
            </a:solidFill>
            <a:prstDash val="solid"/>
          </a:ln>
        </p:spPr>
      </p:sp>
      <p:sp>
        <p:nvSpPr>
          <p:cNvPr id="10" name="Text 8"/>
          <p:cNvSpPr txBox="1"/>
          <p:nvPr/>
        </p:nvSpPr>
        <p:spPr>
          <a:xfrm>
            <a:off x="3383280" y="2331720"/>
            <a:ext cx="1874520" cy="365760"/>
          </a:xfrm>
          <a:prstGeom prst="rect">
            <a:avLst/>
          </a:prstGeom>
          <a:noFill/>
          <a:ln/>
        </p:spPr>
        <p:txBody>
          <a:bodyPr wrap="square" lIns="0" tIns="0" rIns="0" bIns="0" rtlCol="0" anchor="ctr"/>
          <a:lstStyle/>
          <a:p>
            <a:pPr indent="0" marL="0">
              <a:buNone/>
            </a:pPr>
            <a:r>
              <a:rPr lang="en-US" sz="1100" b="1" spc="100" kern="0" dirty="0">
                <a:solidFill>
                  <a:srgbClr val="C99632"/>
                </a:solidFill>
                <a:latin typeface="Calibri" pitchFamily="34" charset="0"/>
                <a:ea typeface="Calibri" pitchFamily="34" charset="-122"/>
                <a:cs typeface="Calibri" pitchFamily="34" charset="-120"/>
              </a:rPr>
              <a:t>Weeks 3–4</a:t>
            </a:r>
            <a:endParaRPr lang="en-US" sz="1100" dirty="0"/>
          </a:p>
        </p:txBody>
      </p:sp>
      <p:sp>
        <p:nvSpPr>
          <p:cNvPr id="11" name="Text 9"/>
          <p:cNvSpPr txBox="1"/>
          <p:nvPr/>
        </p:nvSpPr>
        <p:spPr>
          <a:xfrm>
            <a:off x="3383280" y="2788920"/>
            <a:ext cx="1874520" cy="2423160"/>
          </a:xfrm>
          <a:prstGeom prst="rect">
            <a:avLst/>
          </a:prstGeom>
          <a:noFill/>
          <a:ln/>
        </p:spPr>
        <p:txBody>
          <a:bodyPr wrap="square" lIns="0" tIns="0" rIns="0" bIns="0" rtlCol="0" anchor="ctr"/>
          <a:lstStyle/>
          <a:p>
            <a:pPr indent="0" marL="0">
              <a:lnSpc>
                <a:spcPct val="130000"/>
              </a:lnSpc>
              <a:buNone/>
            </a:pPr>
            <a:r>
              <a:rPr lang="en-US" sz="1200" dirty="0">
                <a:solidFill>
                  <a:srgbClr val="201C15"/>
                </a:solidFill>
                <a:latin typeface="Calibri" pitchFamily="34" charset="0"/>
                <a:ea typeface="Calibri" pitchFamily="34" charset="-122"/>
                <a:cs typeface="Calibri" pitchFamily="34" charset="-120"/>
              </a:rPr>
              <a:t>Present the informal concept and gauge appetite for an EXMAN-wide partnership</a:t>
            </a:r>
            <a:endParaRPr lang="en-US" sz="1200" dirty="0"/>
          </a:p>
        </p:txBody>
      </p:sp>
      <p:sp>
        <p:nvSpPr>
          <p:cNvPr id="12" name="Shape 10"/>
          <p:cNvSpPr/>
          <p:nvPr/>
        </p:nvSpPr>
        <p:spPr>
          <a:xfrm>
            <a:off x="5504688" y="3749040"/>
            <a:ext cx="210312" cy="914"/>
          </a:xfrm>
          <a:prstGeom prst="line">
            <a:avLst/>
          </a:prstGeom>
          <a:noFill/>
          <a:ln w="19050">
            <a:solidFill>
              <a:srgbClr val="C99632"/>
            </a:solidFill>
            <a:prstDash val="solid"/>
            <a:tailEnd type="triangle"/>
          </a:ln>
        </p:spPr>
      </p:sp>
      <p:sp>
        <p:nvSpPr>
          <p:cNvPr id="13" name="Shape 11"/>
          <p:cNvSpPr/>
          <p:nvPr/>
        </p:nvSpPr>
        <p:spPr>
          <a:xfrm>
            <a:off x="5760720" y="2103120"/>
            <a:ext cx="2331720" cy="3291840"/>
          </a:xfrm>
          <a:prstGeom prst="roundRect">
            <a:avLst>
              <a:gd name="adj" fmla="val 2745"/>
            </a:avLst>
          </a:prstGeom>
          <a:solidFill>
            <a:srgbClr val="FBF8F0"/>
          </a:solidFill>
          <a:ln w="12700">
            <a:solidFill>
              <a:srgbClr val="E4DECE"/>
            </a:solidFill>
            <a:prstDash val="solid"/>
          </a:ln>
        </p:spPr>
      </p:sp>
      <p:sp>
        <p:nvSpPr>
          <p:cNvPr id="14" name="Text 12"/>
          <p:cNvSpPr txBox="1"/>
          <p:nvPr/>
        </p:nvSpPr>
        <p:spPr>
          <a:xfrm>
            <a:off x="5989320" y="2331720"/>
            <a:ext cx="1874520" cy="365760"/>
          </a:xfrm>
          <a:prstGeom prst="rect">
            <a:avLst/>
          </a:prstGeom>
          <a:noFill/>
          <a:ln/>
        </p:spPr>
        <p:txBody>
          <a:bodyPr wrap="square" lIns="0" tIns="0" rIns="0" bIns="0" rtlCol="0" anchor="ctr"/>
          <a:lstStyle/>
          <a:p>
            <a:pPr indent="0" marL="0">
              <a:buNone/>
            </a:pPr>
            <a:r>
              <a:rPr lang="en-US" sz="1100" b="1" spc="100" kern="0" dirty="0">
                <a:solidFill>
                  <a:srgbClr val="C99632"/>
                </a:solidFill>
                <a:latin typeface="Calibri" pitchFamily="34" charset="0"/>
                <a:ea typeface="Calibri" pitchFamily="34" charset="-122"/>
                <a:cs typeface="Calibri" pitchFamily="34" charset="-120"/>
              </a:rPr>
              <a:t>Weeks 5–8</a:t>
            </a:r>
            <a:endParaRPr lang="en-US" sz="1100" dirty="0"/>
          </a:p>
        </p:txBody>
      </p:sp>
      <p:sp>
        <p:nvSpPr>
          <p:cNvPr id="15" name="Text 13"/>
          <p:cNvSpPr txBox="1"/>
          <p:nvPr/>
        </p:nvSpPr>
        <p:spPr>
          <a:xfrm>
            <a:off x="5989320" y="2788920"/>
            <a:ext cx="1874520" cy="2423160"/>
          </a:xfrm>
          <a:prstGeom prst="rect">
            <a:avLst/>
          </a:prstGeom>
          <a:noFill/>
          <a:ln/>
        </p:spPr>
        <p:txBody>
          <a:bodyPr wrap="square" lIns="0" tIns="0" rIns="0" bIns="0" rtlCol="0" anchor="ctr"/>
          <a:lstStyle/>
          <a:p>
            <a:pPr indent="0" marL="0">
              <a:lnSpc>
                <a:spcPct val="130000"/>
              </a:lnSpc>
              <a:buNone/>
            </a:pPr>
            <a:r>
              <a:rPr lang="en-US" sz="1200" dirty="0">
                <a:solidFill>
                  <a:srgbClr val="201C15"/>
                </a:solidFill>
                <a:latin typeface="Calibri" pitchFamily="34" charset="0"/>
                <a:ea typeface="Calibri" pitchFamily="34" charset="-122"/>
                <a:cs typeface="Calibri" pitchFamily="34" charset="-120"/>
              </a:rPr>
              <a:t>Draft and submit the formal proposal to the EXMAN Executive Council</a:t>
            </a:r>
            <a:endParaRPr lang="en-US" sz="1200" dirty="0"/>
          </a:p>
        </p:txBody>
      </p:sp>
      <p:sp>
        <p:nvSpPr>
          <p:cNvPr id="16" name="Shape 14"/>
          <p:cNvSpPr/>
          <p:nvPr/>
        </p:nvSpPr>
        <p:spPr>
          <a:xfrm>
            <a:off x="8110728" y="3749040"/>
            <a:ext cx="210312" cy="914"/>
          </a:xfrm>
          <a:prstGeom prst="line">
            <a:avLst/>
          </a:prstGeom>
          <a:noFill/>
          <a:ln w="19050">
            <a:solidFill>
              <a:srgbClr val="C99632"/>
            </a:solidFill>
            <a:prstDash val="solid"/>
            <a:tailEnd type="triangle"/>
          </a:ln>
        </p:spPr>
      </p:sp>
      <p:sp>
        <p:nvSpPr>
          <p:cNvPr id="17" name="Shape 15"/>
          <p:cNvSpPr/>
          <p:nvPr/>
        </p:nvSpPr>
        <p:spPr>
          <a:xfrm>
            <a:off x="8366760" y="2103120"/>
            <a:ext cx="2331720" cy="3291840"/>
          </a:xfrm>
          <a:prstGeom prst="roundRect">
            <a:avLst>
              <a:gd name="adj" fmla="val 2745"/>
            </a:avLst>
          </a:prstGeom>
          <a:solidFill>
            <a:srgbClr val="0A0A0A"/>
          </a:solidFill>
          <a:ln w="12700">
            <a:solidFill>
              <a:srgbClr val="E4DECE"/>
            </a:solidFill>
            <a:prstDash val="solid"/>
          </a:ln>
        </p:spPr>
      </p:sp>
      <p:sp>
        <p:nvSpPr>
          <p:cNvPr id="18" name="Text 16"/>
          <p:cNvSpPr txBox="1"/>
          <p:nvPr/>
        </p:nvSpPr>
        <p:spPr>
          <a:xfrm>
            <a:off x="8595360" y="2331720"/>
            <a:ext cx="1874520" cy="365760"/>
          </a:xfrm>
          <a:prstGeom prst="rect">
            <a:avLst/>
          </a:prstGeom>
          <a:noFill/>
          <a:ln/>
        </p:spPr>
        <p:txBody>
          <a:bodyPr wrap="square" lIns="0" tIns="0" rIns="0" bIns="0" rtlCol="0" anchor="ctr"/>
          <a:lstStyle/>
          <a:p>
            <a:pPr indent="0" marL="0">
              <a:buNone/>
            </a:pPr>
            <a:r>
              <a:rPr lang="en-US" sz="1100" b="1" spc="100" kern="0" dirty="0">
                <a:solidFill>
                  <a:srgbClr val="C99632"/>
                </a:solidFill>
                <a:latin typeface="Calibri" pitchFamily="34" charset="0"/>
                <a:ea typeface="Calibri" pitchFamily="34" charset="-122"/>
                <a:cs typeface="Calibri" pitchFamily="34" charset="-120"/>
              </a:rPr>
              <a:t>Weeks 9–12</a:t>
            </a:r>
            <a:endParaRPr lang="en-US" sz="1100" dirty="0"/>
          </a:p>
        </p:txBody>
      </p:sp>
      <p:sp>
        <p:nvSpPr>
          <p:cNvPr id="19" name="Text 17"/>
          <p:cNvSpPr txBox="1"/>
          <p:nvPr/>
        </p:nvSpPr>
        <p:spPr>
          <a:xfrm>
            <a:off x="8595360" y="2788920"/>
            <a:ext cx="1874520" cy="2423160"/>
          </a:xfrm>
          <a:prstGeom prst="rect">
            <a:avLst/>
          </a:prstGeom>
          <a:noFill/>
          <a:ln/>
        </p:spPr>
        <p:txBody>
          <a:bodyPr wrap="square" lIns="0" tIns="0" rIns="0" bIns="0" rtlCol="0" anchor="ctr"/>
          <a:lstStyle/>
          <a:p>
            <a:pPr indent="0" marL="0">
              <a:lnSpc>
                <a:spcPct val="130000"/>
              </a:lnSpc>
              <a:buNone/>
            </a:pPr>
            <a:r>
              <a:rPr lang="en-US" sz="1200" dirty="0">
                <a:solidFill>
                  <a:srgbClr val="F4F1EA"/>
                </a:solidFill>
                <a:latin typeface="Calibri" pitchFamily="34" charset="0"/>
                <a:ea typeface="Calibri" pitchFamily="34" charset="-122"/>
                <a:cs typeface="Calibri" pitchFamily="34" charset="-120"/>
              </a:rPr>
              <a:t>Agree a pilot event, sign preferred-partner terms, and begin production</a:t>
            </a:r>
            <a:endParaRPr lang="en-US" sz="1200" dirty="0"/>
          </a:p>
        </p:txBody>
      </p:sp>
      <p:sp>
        <p:nvSpPr>
          <p:cNvPr id="20" name="Text 18"/>
          <p:cNvSpPr txBox="1"/>
          <p:nvPr/>
        </p:nvSpPr>
        <p:spPr>
          <a:xfrm>
            <a:off x="11612880" y="6473952"/>
            <a:ext cx="457200" cy="274320"/>
          </a:xfrm>
          <a:prstGeom prst="rect">
            <a:avLst/>
          </a:prstGeom>
          <a:noFill/>
          <a:ln/>
        </p:spPr>
        <p:txBody>
          <a:bodyPr wrap="square" lIns="0" tIns="0" rIns="0" bIns="0" rtlCol="0" anchor="ctr"/>
          <a:lstStyle/>
          <a:p>
            <a:pPr algn="r" indent="0" marL="0">
              <a:buNone/>
            </a:pPr>
            <a:r>
              <a:rPr lang="en-US" sz="900" dirty="0">
                <a:solidFill>
                  <a:srgbClr val="B8B2A0"/>
                </a:solidFill>
                <a:latin typeface="Calibri" pitchFamily="34" charset="0"/>
                <a:ea typeface="Calibri" pitchFamily="34" charset="-122"/>
                <a:cs typeface="Calibri" pitchFamily="34" charset="-120"/>
              </a:rPr>
              <a:t>14</a:t>
            </a:r>
            <a:endParaRPr lang="en-US" sz="900" dirty="0"/>
          </a:p>
        </p:txBody>
      </p:sp>
      <p:sp>
        <p:nvSpPr>
          <p:cNvPr id="21" name="Text 19"/>
          <p:cNvSpPr txBox="1"/>
          <p:nvPr/>
        </p:nvSpPr>
        <p:spPr>
          <a:xfrm>
            <a:off x="548640" y="6473952"/>
            <a:ext cx="4572000" cy="274320"/>
          </a:xfrm>
          <a:prstGeom prst="rect">
            <a:avLst/>
          </a:prstGeom>
          <a:noFill/>
          <a:ln/>
        </p:spPr>
        <p:txBody>
          <a:bodyPr wrap="square" lIns="0" tIns="0" rIns="0" bIns="0" rtlCol="0" anchor="ctr"/>
          <a:lstStyle/>
          <a:p>
            <a:pPr indent="0" marL="0">
              <a:buNone/>
            </a:pPr>
            <a:r>
              <a:rPr lang="en-US" sz="900" dirty="0">
                <a:solidFill>
                  <a:srgbClr val="B8B2A0"/>
                </a:solidFill>
                <a:latin typeface="Calibri" pitchFamily="34" charset="0"/>
                <a:ea typeface="Calibri" pitchFamily="34" charset="-122"/>
                <a:cs typeface="Calibri" pitchFamily="34" charset="-120"/>
              </a:rPr>
              <a:t>ASIKO TV  ·  MEDIA ICONS AFRICA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731520" y="2377440"/>
            <a:ext cx="10515600" cy="1097280"/>
          </a:xfrm>
          <a:prstGeom prst="rect">
            <a:avLst/>
          </a:prstGeom>
          <a:noFill/>
          <a:ln/>
        </p:spPr>
        <p:txBody>
          <a:bodyPr wrap="square" lIns="0" tIns="0" rIns="0" bIns="0" rtlCol="0" anchor="ctr"/>
          <a:lstStyle/>
          <a:p>
            <a:pPr indent="0" marL="0">
              <a:lnSpc>
                <a:spcPct val="110000"/>
              </a:lnSpc>
              <a:buNone/>
            </a:pPr>
            <a:r>
              <a:rPr lang="en-US" sz="3400" b="1" dirty="0">
                <a:solidFill>
                  <a:srgbClr val="F4F1EA"/>
                </a:solidFill>
                <a:latin typeface="Cambria" pitchFamily="34" charset="0"/>
                <a:ea typeface="Cambria" pitchFamily="34" charset="-122"/>
                <a:cs typeface="Cambria" pitchFamily="34" charset="-120"/>
              </a:rPr>
              <a:t>LET'S OWN THE EVENTS ECONOMY, TOGETHER</a:t>
            </a:r>
            <a:endParaRPr lang="en-US" sz="3400" dirty="0"/>
          </a:p>
        </p:txBody>
      </p:sp>
      <p:sp>
        <p:nvSpPr>
          <p:cNvPr id="3" name="Shape 1"/>
          <p:cNvSpPr/>
          <p:nvPr/>
        </p:nvSpPr>
        <p:spPr>
          <a:xfrm>
            <a:off x="731520" y="3429000"/>
            <a:ext cx="2011680" cy="0"/>
          </a:xfrm>
          <a:prstGeom prst="line">
            <a:avLst/>
          </a:prstGeom>
          <a:noFill/>
          <a:ln w="19050">
            <a:solidFill>
              <a:srgbClr val="C99632"/>
            </a:solidFill>
            <a:prstDash val="solid"/>
          </a:ln>
        </p:spPr>
      </p:sp>
      <p:sp>
        <p:nvSpPr>
          <p:cNvPr id="4" name="Text 2"/>
          <p:cNvSpPr txBox="1"/>
          <p:nvPr/>
        </p:nvSpPr>
        <p:spPr>
          <a:xfrm>
            <a:off x="731520" y="3703320"/>
            <a:ext cx="5486400" cy="320040"/>
          </a:xfrm>
          <a:prstGeom prst="rect">
            <a:avLst/>
          </a:prstGeom>
          <a:noFill/>
          <a:ln/>
        </p:spPr>
        <p:txBody>
          <a:bodyPr wrap="square" lIns="0" tIns="0" rIns="0" bIns="0" rtlCol="0" anchor="ctr"/>
          <a:lstStyle/>
          <a:p>
            <a:pPr indent="0" marL="0">
              <a:buNone/>
            </a:pPr>
            <a:r>
              <a:rPr lang="en-US" sz="1400" b="1" dirty="0">
                <a:solidFill>
                  <a:srgbClr val="F1D28A"/>
                </a:solidFill>
                <a:latin typeface="Calibri" pitchFamily="34" charset="0"/>
                <a:ea typeface="Calibri" pitchFamily="34" charset="-122"/>
                <a:cs typeface="Calibri" pitchFamily="34" charset="-120"/>
              </a:rPr>
              <a:t>John Idani Upah, ARPA</a:t>
            </a:r>
            <a:endParaRPr lang="en-US" sz="1400" dirty="0"/>
          </a:p>
        </p:txBody>
      </p:sp>
      <p:sp>
        <p:nvSpPr>
          <p:cNvPr id="5" name="Text 3"/>
          <p:cNvSpPr txBox="1"/>
          <p:nvPr/>
        </p:nvSpPr>
        <p:spPr>
          <a:xfrm>
            <a:off x="731520" y="4023360"/>
            <a:ext cx="5486400" cy="274320"/>
          </a:xfrm>
          <a:prstGeom prst="rect">
            <a:avLst/>
          </a:prstGeom>
          <a:noFill/>
          <a:ln/>
        </p:spPr>
        <p:txBody>
          <a:bodyPr wrap="square" lIns="0" tIns="0" rIns="0" bIns="0" rtlCol="0" anchor="ctr"/>
          <a:lstStyle/>
          <a:p>
            <a:pPr indent="0" marL="0">
              <a:buNone/>
            </a:pPr>
            <a:r>
              <a:rPr lang="en-US" sz="1200" dirty="0">
                <a:solidFill>
                  <a:srgbClr val="B8B2A0"/>
                </a:solidFill>
                <a:latin typeface="Calibri" pitchFamily="34" charset="0"/>
                <a:ea typeface="Calibri" pitchFamily="34" charset="-122"/>
                <a:cs typeface="Calibri" pitchFamily="34" charset="-120"/>
              </a:rPr>
              <a:t>Managing Director, Media Icons Africa</a:t>
            </a:r>
            <a:endParaRPr lang="en-US" sz="1200" dirty="0"/>
          </a:p>
        </p:txBody>
      </p:sp>
      <p:sp>
        <p:nvSpPr>
          <p:cNvPr id="6" name="Text 4"/>
          <p:cNvSpPr txBox="1"/>
          <p:nvPr/>
        </p:nvSpPr>
        <p:spPr>
          <a:xfrm>
            <a:off x="731520" y="4315968"/>
            <a:ext cx="7315200" cy="274320"/>
          </a:xfrm>
          <a:prstGeom prst="rect">
            <a:avLst/>
          </a:prstGeom>
          <a:noFill/>
          <a:ln/>
        </p:spPr>
        <p:txBody>
          <a:bodyPr wrap="square" lIns="0" tIns="0" rIns="0" bIns="0" rtlCol="0" anchor="ctr"/>
          <a:lstStyle/>
          <a:p>
            <a:pPr indent="0" marL="0">
              <a:buNone/>
            </a:pPr>
            <a:r>
              <a:rPr lang="en-US" sz="1200" dirty="0">
                <a:solidFill>
                  <a:srgbClr val="B8B2A0"/>
                </a:solidFill>
                <a:latin typeface="Calibri" pitchFamily="34" charset="0"/>
                <a:ea typeface="Calibri" pitchFamily="34" charset="-122"/>
                <a:cs typeface="Calibri" pitchFamily="34" charset="-120"/>
              </a:rPr>
              <a:t>john.upah@mediaiconsltd.com   ·   +234 803 538 2590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2026-09-04T12:06:11Z</dcterms:created>
  <dcterms:modified xsi:type="dcterms:W3CDTF">2026-09-04T12:06:11Z</dcterms:modified>
</cp:coreProperties>
</file>