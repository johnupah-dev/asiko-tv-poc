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1280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C996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ASIKO TV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347472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Build Picture — Stack, Costs, Failure Handling &amp; Next Steps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0881360" y="14630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2026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713232"/>
            <a:ext cx="11548872" cy="329184"/>
          </a:xfrm>
          <a:prstGeom prst="roundRect">
            <a:avLst>
              <a:gd name="adj" fmla="val 13889"/>
            </a:avLst>
          </a:prstGeom>
          <a:solidFill>
            <a:srgbClr val="1F1A0E"/>
          </a:solidFill>
          <a:ln w="9525">
            <a:solidFill>
              <a:srgbClr val="C9963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713232"/>
            <a:ext cx="11183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9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SECURED:  </a:t>
            </a:r>
            <a:pPr indent="0" marL="0">
              <a:buNone/>
            </a:pPr>
            <a:r>
              <a:rPr lang="en-US" sz="10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$30,777/yr original SaaS quote  →  $13,000 flat one-time build, full IP transfer, milestone-protected, ~30-day warranty  |  Recurring platform tax removed entirely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0040" y="1207008"/>
            <a:ext cx="3703320" cy="5120640"/>
          </a:xfrm>
          <a:prstGeom prst="roundRect">
            <a:avLst>
              <a:gd name="adj" fmla="val 1481"/>
            </a:avLst>
          </a:prstGeom>
          <a:solidFill>
            <a:srgbClr val="151515"/>
          </a:solidFill>
          <a:ln w="12700">
            <a:solidFill>
              <a:srgbClr val="6FA8A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6344" y="1298448"/>
            <a:ext cx="3410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6F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STACK — WHAT EACH PIECE DOES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66344" y="1591056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Hostinger Cloud Startup</a:t>
            </a:r>
            <a:endParaRPr lang="en-US" sz="970" dirty="0"/>
          </a:p>
        </p:txBody>
      </p:sp>
      <p:sp>
        <p:nvSpPr>
          <p:cNvPr id="10" name="Text 8"/>
          <p:cNvSpPr txBox="1"/>
          <p:nvPr/>
        </p:nvSpPr>
        <p:spPr>
          <a:xfrm>
            <a:off x="3063240" y="159105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1D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$8/mo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66344" y="1769364"/>
            <a:ext cx="34107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hosting</a:t>
            </a:r>
            <a:endParaRPr lang="en-US" sz="780" dirty="0"/>
          </a:p>
        </p:txBody>
      </p:sp>
      <p:sp>
        <p:nvSpPr>
          <p:cNvPr id="12" name="Text 10"/>
          <p:cNvSpPr txBox="1"/>
          <p:nvPr/>
        </p:nvSpPr>
        <p:spPr>
          <a:xfrm>
            <a:off x="466344" y="2025396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Hostinger KVM 8</a:t>
            </a:r>
            <a:endParaRPr lang="en-US" sz="970" dirty="0"/>
          </a:p>
        </p:txBody>
      </p:sp>
      <p:sp>
        <p:nvSpPr>
          <p:cNvPr id="13" name="Text 11"/>
          <p:cNvSpPr txBox="1"/>
          <p:nvPr/>
        </p:nvSpPr>
        <p:spPr>
          <a:xfrm>
            <a:off x="3063240" y="202539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1D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$30/mo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" y="2203704"/>
            <a:ext cx="34107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VPS running everything</a:t>
            </a:r>
            <a:endParaRPr lang="en-US" sz="780" dirty="0"/>
          </a:p>
        </p:txBody>
      </p:sp>
      <p:sp>
        <p:nvSpPr>
          <p:cNvPr id="15" name="Text 13"/>
          <p:cNvSpPr txBox="1"/>
          <p:nvPr/>
        </p:nvSpPr>
        <p:spPr>
          <a:xfrm>
            <a:off x="466344" y="2459736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Hercules</a:t>
            </a:r>
            <a:endParaRPr lang="en-US" sz="970" dirty="0"/>
          </a:p>
        </p:txBody>
      </p:sp>
      <p:sp>
        <p:nvSpPr>
          <p:cNvPr id="16" name="Text 14"/>
          <p:cNvSpPr txBox="1"/>
          <p:nvPr/>
        </p:nvSpPr>
        <p:spPr>
          <a:xfrm>
            <a:off x="3063240" y="245973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1D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incl.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466344" y="2638044"/>
            <a:ext cx="34107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 → PWA (overlap w/ Enveu TBD)</a:t>
            </a:r>
            <a:endParaRPr lang="en-US" sz="780" dirty="0"/>
          </a:p>
        </p:txBody>
      </p:sp>
      <p:sp>
        <p:nvSpPr>
          <p:cNvPr id="18" name="Text 16"/>
          <p:cNvSpPr txBox="1"/>
          <p:nvPr/>
        </p:nvSpPr>
        <p:spPr>
          <a:xfrm>
            <a:off x="466344" y="2894076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Bunny Stream</a:t>
            </a:r>
            <a:endParaRPr lang="en-US" sz="970" dirty="0"/>
          </a:p>
        </p:txBody>
      </p:sp>
      <p:sp>
        <p:nvSpPr>
          <p:cNvPr id="19" name="Text 17"/>
          <p:cNvSpPr txBox="1"/>
          <p:nvPr/>
        </p:nvSpPr>
        <p:spPr>
          <a:xfrm>
            <a:off x="3063240" y="289407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1D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~$150/yr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466344" y="3072384"/>
            <a:ext cx="34107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Storage, transcode, CDN delivery</a:t>
            </a:r>
            <a:endParaRPr lang="en-US" sz="780" dirty="0"/>
          </a:p>
        </p:txBody>
      </p:sp>
      <p:sp>
        <p:nvSpPr>
          <p:cNvPr id="21" name="Text 19"/>
          <p:cNvSpPr txBox="1"/>
          <p:nvPr/>
        </p:nvSpPr>
        <p:spPr>
          <a:xfrm>
            <a:off x="466344" y="3328416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Eyevinn Channel Engine</a:t>
            </a:r>
            <a:endParaRPr lang="en-US" sz="970" dirty="0"/>
          </a:p>
        </p:txBody>
      </p:sp>
      <p:sp>
        <p:nvSpPr>
          <p:cNvPr id="22" name="Text 20"/>
          <p:cNvSpPr txBox="1"/>
          <p:nvPr/>
        </p:nvSpPr>
        <p:spPr>
          <a:xfrm>
            <a:off x="3063240" y="332841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1D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466344" y="3506724"/>
            <a:ext cx="34107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live manifest + SCTE-35</a:t>
            </a:r>
            <a:endParaRPr lang="en-US" sz="780" dirty="0"/>
          </a:p>
        </p:txBody>
      </p:sp>
      <p:sp>
        <p:nvSpPr>
          <p:cNvPr id="24" name="Text 22"/>
          <p:cNvSpPr txBox="1"/>
          <p:nvPr/>
        </p:nvSpPr>
        <p:spPr>
          <a:xfrm>
            <a:off x="466344" y="3762756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Enveu Build (v3)</a:t>
            </a:r>
            <a:endParaRPr lang="en-US" sz="970" dirty="0"/>
          </a:p>
        </p:txBody>
      </p:sp>
      <p:sp>
        <p:nvSpPr>
          <p:cNvPr id="25" name="Text 23"/>
          <p:cNvSpPr txBox="1"/>
          <p:nvPr/>
        </p:nvSpPr>
        <p:spPr>
          <a:xfrm>
            <a:off x="3063240" y="376275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1D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$13,000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466344" y="3941064"/>
            <a:ext cx="34107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Scheduling, playout, EPG, CMS, PWA</a:t>
            </a:r>
            <a:endParaRPr lang="en-US" sz="780" dirty="0"/>
          </a:p>
        </p:txBody>
      </p:sp>
      <p:sp>
        <p:nvSpPr>
          <p:cNvPr id="27" name="Text 25"/>
          <p:cNvSpPr txBox="1"/>
          <p:nvPr/>
        </p:nvSpPr>
        <p:spPr>
          <a:xfrm>
            <a:off x="466344" y="4197096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MediaTailor</a:t>
            </a:r>
            <a:endParaRPr lang="en-US" sz="970" dirty="0"/>
          </a:p>
        </p:txBody>
      </p:sp>
      <p:sp>
        <p:nvSpPr>
          <p:cNvPr id="28" name="Text 26"/>
          <p:cNvSpPr txBox="1"/>
          <p:nvPr/>
        </p:nvSpPr>
        <p:spPr>
          <a:xfrm>
            <a:off x="3063240" y="419709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1D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~$50/yr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466344" y="4375404"/>
            <a:ext cx="34107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insertion — stitches, not decides</a:t>
            </a:r>
            <a:endParaRPr lang="en-US" sz="780" dirty="0"/>
          </a:p>
        </p:txBody>
      </p:sp>
      <p:sp>
        <p:nvSpPr>
          <p:cNvPr id="30" name="Text 28"/>
          <p:cNvSpPr txBox="1"/>
          <p:nvPr/>
        </p:nvSpPr>
        <p:spPr>
          <a:xfrm>
            <a:off x="466344" y="4631436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Decision Server (GAM)</a:t>
            </a:r>
            <a:endParaRPr lang="en-US" sz="970" dirty="0"/>
          </a:p>
        </p:txBody>
      </p:sp>
      <p:sp>
        <p:nvSpPr>
          <p:cNvPr id="31" name="Text 29"/>
          <p:cNvSpPr txBox="1"/>
          <p:nvPr/>
        </p:nvSpPr>
        <p:spPr>
          <a:xfrm>
            <a:off x="3063240" y="463143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1D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466344" y="4809744"/>
            <a:ext cx="34107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creative, trafficking, reports</a:t>
            </a:r>
            <a:endParaRPr lang="en-US" sz="780" dirty="0"/>
          </a:p>
        </p:txBody>
      </p:sp>
      <p:sp>
        <p:nvSpPr>
          <p:cNvPr id="33" name="Text 31"/>
          <p:cNvSpPr txBox="1"/>
          <p:nvPr/>
        </p:nvSpPr>
        <p:spPr>
          <a:xfrm>
            <a:off x="466344" y="5065776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Ad Creative</a:t>
            </a:r>
            <a:endParaRPr lang="en-US" sz="970" dirty="0"/>
          </a:p>
        </p:txBody>
      </p:sp>
      <p:sp>
        <p:nvSpPr>
          <p:cNvPr id="34" name="Text 32"/>
          <p:cNvSpPr txBox="1"/>
          <p:nvPr/>
        </p:nvSpPr>
        <p:spPr>
          <a:xfrm>
            <a:off x="3063240" y="506577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1D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466344" y="5244084"/>
            <a:ext cx="34107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Category-exclusive campaigns (30 sectors)</a:t>
            </a:r>
            <a:endParaRPr lang="en-US" sz="780" dirty="0"/>
          </a:p>
        </p:txBody>
      </p:sp>
      <p:sp>
        <p:nvSpPr>
          <p:cNvPr id="36" name="Shape 34"/>
          <p:cNvSpPr/>
          <p:nvPr/>
        </p:nvSpPr>
        <p:spPr>
          <a:xfrm>
            <a:off x="4151376" y="1207008"/>
            <a:ext cx="3703320" cy="5120640"/>
          </a:xfrm>
          <a:prstGeom prst="roundRect">
            <a:avLst>
              <a:gd name="adj" fmla="val 1481"/>
            </a:avLst>
          </a:prstGeom>
          <a:solidFill>
            <a:srgbClr val="151515"/>
          </a:solidFill>
          <a:ln w="12700">
            <a:solidFill>
              <a:srgbClr val="C99632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297680" y="1298448"/>
            <a:ext cx="3410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C99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AT A GLANCE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4297680" y="1591056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Tech/Infra + break-proof</a:t>
            </a:r>
            <a:endParaRPr lang="en-US" sz="930" dirty="0"/>
          </a:p>
        </p:txBody>
      </p:sp>
      <p:sp>
        <p:nvSpPr>
          <p:cNvPr id="39" name="Text 37"/>
          <p:cNvSpPr txBox="1"/>
          <p:nvPr/>
        </p:nvSpPr>
        <p:spPr>
          <a:xfrm>
            <a:off x="6345936" y="159105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30" b="1" dirty="0">
                <a:solidFill>
                  <a:srgbClr val="F1D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~$73/mo</a:t>
            </a:r>
            <a:endParaRPr lang="en-US" sz="930" dirty="0"/>
          </a:p>
        </p:txBody>
      </p:sp>
      <p:sp>
        <p:nvSpPr>
          <p:cNvPr id="40" name="Text 38"/>
          <p:cNvSpPr txBox="1"/>
          <p:nvPr/>
        </p:nvSpPr>
        <p:spPr>
          <a:xfrm>
            <a:off x="4297680" y="1883664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+ marketing (FOA, outreach)</a:t>
            </a:r>
            <a:endParaRPr lang="en-US" sz="930" dirty="0"/>
          </a:p>
        </p:txBody>
      </p:sp>
      <p:sp>
        <p:nvSpPr>
          <p:cNvPr id="41" name="Text 39"/>
          <p:cNvSpPr txBox="1"/>
          <p:nvPr/>
        </p:nvSpPr>
        <p:spPr>
          <a:xfrm>
            <a:off x="6345936" y="1883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30" b="1" dirty="0">
                <a:solidFill>
                  <a:srgbClr val="F1D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~$225/mo</a:t>
            </a:r>
            <a:endParaRPr lang="en-US" sz="930" dirty="0"/>
          </a:p>
        </p:txBody>
      </p:sp>
      <p:sp>
        <p:nvSpPr>
          <p:cNvPr id="42" name="Text 40"/>
          <p:cNvSpPr txBox="1"/>
          <p:nvPr/>
        </p:nvSpPr>
        <p:spPr>
          <a:xfrm>
            <a:off x="4297680" y="2176272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Enveu build</a:t>
            </a:r>
            <a:endParaRPr lang="en-US" sz="930" dirty="0"/>
          </a:p>
        </p:txBody>
      </p:sp>
      <p:sp>
        <p:nvSpPr>
          <p:cNvPr id="43" name="Text 41"/>
          <p:cNvSpPr txBox="1"/>
          <p:nvPr/>
        </p:nvSpPr>
        <p:spPr>
          <a:xfrm>
            <a:off x="6345936" y="217627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30" b="1" dirty="0">
                <a:solidFill>
                  <a:srgbClr val="F1D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$13,000 one-time</a:t>
            </a:r>
            <a:endParaRPr lang="en-US" sz="930" dirty="0"/>
          </a:p>
        </p:txBody>
      </p:sp>
      <p:sp>
        <p:nvSpPr>
          <p:cNvPr id="44" name="Text 42"/>
          <p:cNvSpPr txBox="1"/>
          <p:nvPr/>
        </p:nvSpPr>
        <p:spPr>
          <a:xfrm>
            <a:off x="4297680" y="2468880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decisioning (GAM free tier)</a:t>
            </a:r>
            <a:endParaRPr lang="en-US" sz="930" dirty="0"/>
          </a:p>
        </p:txBody>
      </p:sp>
      <p:sp>
        <p:nvSpPr>
          <p:cNvPr id="45" name="Text 43"/>
          <p:cNvSpPr txBox="1"/>
          <p:nvPr/>
        </p:nvSpPr>
        <p:spPr>
          <a:xfrm>
            <a:off x="6345936" y="246888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30" b="1" dirty="0">
                <a:solidFill>
                  <a:srgbClr val="F1D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930" dirty="0"/>
          </a:p>
        </p:txBody>
      </p:sp>
      <p:sp>
        <p:nvSpPr>
          <p:cNvPr id="46" name="Text 44"/>
          <p:cNvSpPr txBox="1"/>
          <p:nvPr/>
        </p:nvSpPr>
        <p:spPr>
          <a:xfrm>
            <a:off x="4297680" y="2761488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licensing + normalisation</a:t>
            </a:r>
            <a:endParaRPr lang="en-US" sz="930" dirty="0"/>
          </a:p>
        </p:txBody>
      </p:sp>
      <p:sp>
        <p:nvSpPr>
          <p:cNvPr id="47" name="Text 45"/>
          <p:cNvSpPr txBox="1"/>
          <p:nvPr/>
        </p:nvSpPr>
        <p:spPr>
          <a:xfrm>
            <a:off x="6345936" y="276148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30" b="1" dirty="0">
                <a:solidFill>
                  <a:srgbClr val="F1D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 — biggest unknown</a:t>
            </a:r>
            <a:endParaRPr lang="en-US" sz="930" dirty="0"/>
          </a:p>
        </p:txBody>
      </p:sp>
      <p:sp>
        <p:nvSpPr>
          <p:cNvPr id="48" name="Shape 46"/>
          <p:cNvSpPr/>
          <p:nvPr/>
        </p:nvSpPr>
        <p:spPr>
          <a:xfrm>
            <a:off x="4297680" y="3182112"/>
            <a:ext cx="3410712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4297680" y="3310128"/>
            <a:ext cx="3410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C99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BREAK-PROOF: FAILURE HANDLING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4297680" y="3602736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shared VPS</a:t>
            </a:r>
            <a:endParaRPr lang="en-US" sz="900" dirty="0"/>
          </a:p>
        </p:txBody>
      </p:sp>
      <p:sp>
        <p:nvSpPr>
          <p:cNvPr id="51" name="Text 49"/>
          <p:cNvSpPr txBox="1"/>
          <p:nvPr/>
        </p:nvSpPr>
        <p:spPr>
          <a:xfrm>
            <a:off x="6528816" y="360273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1D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$10/mo</a:t>
            </a:r>
            <a:endParaRPr lang="en-US" sz="900" dirty="0"/>
          </a:p>
        </p:txBody>
      </p:sp>
      <p:sp>
        <p:nvSpPr>
          <p:cNvPr id="52" name="Text 50"/>
          <p:cNvSpPr txBox="1"/>
          <p:nvPr/>
        </p:nvSpPr>
        <p:spPr>
          <a:xfrm>
            <a:off x="4297680" y="3867912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backups, tested</a:t>
            </a:r>
            <a:endParaRPr lang="en-US" sz="900" dirty="0"/>
          </a:p>
        </p:txBody>
      </p:sp>
      <p:sp>
        <p:nvSpPr>
          <p:cNvPr id="53" name="Text 51"/>
          <p:cNvSpPr txBox="1"/>
          <p:nvPr/>
        </p:nvSpPr>
        <p:spPr>
          <a:xfrm>
            <a:off x="6528816" y="386791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1D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900" dirty="0"/>
          </a:p>
        </p:txBody>
      </p:sp>
      <p:sp>
        <p:nvSpPr>
          <p:cNvPr id="54" name="Text 52"/>
          <p:cNvSpPr txBox="1"/>
          <p:nvPr/>
        </p:nvSpPr>
        <p:spPr>
          <a:xfrm>
            <a:off x="4297680" y="413308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 monitoring + alerts</a:t>
            </a:r>
            <a:endParaRPr lang="en-US" sz="900" dirty="0"/>
          </a:p>
        </p:txBody>
      </p:sp>
      <p:sp>
        <p:nvSpPr>
          <p:cNvPr id="55" name="Text 53"/>
          <p:cNvSpPr txBox="1"/>
          <p:nvPr/>
        </p:nvSpPr>
        <p:spPr>
          <a:xfrm>
            <a:off x="6528816" y="413308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1D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900" dirty="0"/>
          </a:p>
        </p:txBody>
      </p:sp>
      <p:sp>
        <p:nvSpPr>
          <p:cNvPr id="56" name="Text 54"/>
          <p:cNvSpPr txBox="1"/>
          <p:nvPr/>
        </p:nvSpPr>
        <p:spPr>
          <a:xfrm>
            <a:off x="4297680" y="4398264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auto-restart</a:t>
            </a:r>
            <a:endParaRPr lang="en-US" sz="900" dirty="0"/>
          </a:p>
        </p:txBody>
      </p:sp>
      <p:sp>
        <p:nvSpPr>
          <p:cNvPr id="57" name="Text 55"/>
          <p:cNvSpPr txBox="1"/>
          <p:nvPr/>
        </p:nvSpPr>
        <p:spPr>
          <a:xfrm>
            <a:off x="6528816" y="439826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1D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900" dirty="0"/>
          </a:p>
        </p:txBody>
      </p:sp>
      <p:sp>
        <p:nvSpPr>
          <p:cNvPr id="58" name="Text 56"/>
          <p:cNvSpPr txBox="1"/>
          <p:nvPr/>
        </p:nvSpPr>
        <p:spPr>
          <a:xfrm>
            <a:off x="4297680" y="466344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billing alert cap</a:t>
            </a:r>
            <a:endParaRPr lang="en-US" sz="900" dirty="0"/>
          </a:p>
        </p:txBody>
      </p:sp>
      <p:sp>
        <p:nvSpPr>
          <p:cNvPr id="59" name="Text 57"/>
          <p:cNvSpPr txBox="1"/>
          <p:nvPr/>
        </p:nvSpPr>
        <p:spPr>
          <a:xfrm>
            <a:off x="6528816" y="466344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1D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900" dirty="0"/>
          </a:p>
        </p:txBody>
      </p:sp>
      <p:sp>
        <p:nvSpPr>
          <p:cNvPr id="60" name="Text 58"/>
          <p:cNvSpPr txBox="1"/>
          <p:nvPr/>
        </p:nvSpPr>
        <p:spPr>
          <a:xfrm>
            <a:off x="4297680" y="4928616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One-page runbook</a:t>
            </a:r>
            <a:endParaRPr lang="en-US" sz="900" dirty="0"/>
          </a:p>
        </p:txBody>
      </p:sp>
      <p:sp>
        <p:nvSpPr>
          <p:cNvPr id="61" name="Text 59"/>
          <p:cNvSpPr txBox="1"/>
          <p:nvPr/>
        </p:nvSpPr>
        <p:spPr>
          <a:xfrm>
            <a:off x="6528816" y="492861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1D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7982712" y="1207008"/>
            <a:ext cx="3703320" cy="5120640"/>
          </a:xfrm>
          <a:prstGeom prst="roundRect">
            <a:avLst>
              <a:gd name="adj" fmla="val 1481"/>
            </a:avLst>
          </a:prstGeom>
          <a:solidFill>
            <a:srgbClr val="151515"/>
          </a:solidFill>
          <a:ln w="12700">
            <a:solidFill>
              <a:srgbClr val="6FA86F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8129016" y="1298448"/>
            <a:ext cx="3410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6FA8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8129016" y="1609344"/>
            <a:ext cx="182880" cy="182880"/>
          </a:xfrm>
          <a:prstGeom prst="ellipse">
            <a:avLst/>
          </a:prstGeom>
          <a:solidFill>
            <a:srgbClr val="C99632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8129016" y="160934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05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66" name="Text 64"/>
          <p:cNvSpPr txBox="1"/>
          <p:nvPr/>
        </p:nvSpPr>
        <p:spPr>
          <a:xfrm>
            <a:off x="8403336" y="1591056"/>
            <a:ext cx="3136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content samples + source list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8129016" y="1911096"/>
            <a:ext cx="182880" cy="182880"/>
          </a:xfrm>
          <a:prstGeom prst="ellipse">
            <a:avLst/>
          </a:prstGeom>
          <a:solidFill>
            <a:srgbClr val="C99632"/>
          </a:solidFill>
          <a:ln/>
        </p:spPr>
      </p:sp>
      <p:sp>
        <p:nvSpPr>
          <p:cNvPr id="68" name="Text 66"/>
          <p:cNvSpPr txBox="1"/>
          <p:nvPr/>
        </p:nvSpPr>
        <p:spPr>
          <a:xfrm>
            <a:off x="8129016" y="191109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05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69" name="Text 67"/>
          <p:cNvSpPr txBox="1"/>
          <p:nvPr/>
        </p:nvSpPr>
        <p:spPr>
          <a:xfrm>
            <a:off x="8403336" y="1892808"/>
            <a:ext cx="3136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GAM integration compatibility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8129016" y="2212848"/>
            <a:ext cx="182880" cy="182880"/>
          </a:xfrm>
          <a:prstGeom prst="ellipse">
            <a:avLst/>
          </a:prstGeom>
          <a:solidFill>
            <a:srgbClr val="3A3A3A"/>
          </a:solidFill>
          <a:ln/>
        </p:spPr>
      </p:sp>
      <p:sp>
        <p:nvSpPr>
          <p:cNvPr id="71" name="Text 69"/>
          <p:cNvSpPr txBox="1"/>
          <p:nvPr/>
        </p:nvSpPr>
        <p:spPr>
          <a:xfrm>
            <a:off x="8129016" y="221284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05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72" name="Text 70"/>
          <p:cNvSpPr txBox="1"/>
          <p:nvPr/>
        </p:nvSpPr>
        <p:spPr>
          <a:xfrm>
            <a:off x="8403336" y="2194560"/>
            <a:ext cx="3136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Hercules overlap (CMS/PWA)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8129016" y="2514600"/>
            <a:ext cx="182880" cy="182880"/>
          </a:xfrm>
          <a:prstGeom prst="ellipse">
            <a:avLst/>
          </a:prstGeom>
          <a:solidFill>
            <a:srgbClr val="3A3A3A"/>
          </a:solidFill>
          <a:ln/>
        </p:spPr>
      </p:sp>
      <p:sp>
        <p:nvSpPr>
          <p:cNvPr id="74" name="Text 72"/>
          <p:cNvSpPr txBox="1"/>
          <p:nvPr/>
        </p:nvSpPr>
        <p:spPr>
          <a:xfrm>
            <a:off x="8129016" y="251460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05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75" name="Text 73"/>
          <p:cNvSpPr txBox="1"/>
          <p:nvPr/>
        </p:nvSpPr>
        <p:spPr>
          <a:xfrm>
            <a:off x="8403336" y="2496312"/>
            <a:ext cx="3136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deployment/isolation of build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8129016" y="2816352"/>
            <a:ext cx="182880" cy="182880"/>
          </a:xfrm>
          <a:prstGeom prst="ellipse">
            <a:avLst/>
          </a:prstGeom>
          <a:solidFill>
            <a:srgbClr val="3A3A3A"/>
          </a:solidFill>
          <a:ln/>
        </p:spPr>
      </p:sp>
      <p:sp>
        <p:nvSpPr>
          <p:cNvPr id="77" name="Text 75"/>
          <p:cNvSpPr txBox="1"/>
          <p:nvPr/>
        </p:nvSpPr>
        <p:spPr>
          <a:xfrm>
            <a:off x="8129016" y="281635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05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78" name="Text 76"/>
          <p:cNvSpPr txBox="1"/>
          <p:nvPr/>
        </p:nvSpPr>
        <p:spPr>
          <a:xfrm>
            <a:off x="8403336" y="2798064"/>
            <a:ext cx="3136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call — Tuesday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8129016" y="3118104"/>
            <a:ext cx="182880" cy="182880"/>
          </a:xfrm>
          <a:prstGeom prst="ellipse">
            <a:avLst/>
          </a:prstGeom>
          <a:solidFill>
            <a:srgbClr val="3A3A3A"/>
          </a:solidFill>
          <a:ln/>
        </p:spPr>
      </p:sp>
      <p:sp>
        <p:nvSpPr>
          <p:cNvPr id="80" name="Text 78"/>
          <p:cNvSpPr txBox="1"/>
          <p:nvPr/>
        </p:nvSpPr>
        <p:spPr>
          <a:xfrm>
            <a:off x="8129016" y="311810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05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81" name="Text 79"/>
          <p:cNvSpPr txBox="1"/>
          <p:nvPr/>
        </p:nvSpPr>
        <p:spPr>
          <a:xfrm>
            <a:off x="8403336" y="3099816"/>
            <a:ext cx="3136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sign-off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8129016" y="3419856"/>
            <a:ext cx="182880" cy="182880"/>
          </a:xfrm>
          <a:prstGeom prst="ellipse">
            <a:avLst/>
          </a:prstGeom>
          <a:solidFill>
            <a:srgbClr val="3A3A3A"/>
          </a:solidFill>
          <a:ln/>
        </p:spPr>
      </p:sp>
      <p:sp>
        <p:nvSpPr>
          <p:cNvPr id="83" name="Text 81"/>
          <p:cNvSpPr txBox="1"/>
          <p:nvPr/>
        </p:nvSpPr>
        <p:spPr>
          <a:xfrm>
            <a:off x="8129016" y="341985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05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84" name="Text 82"/>
          <p:cNvSpPr txBox="1"/>
          <p:nvPr/>
        </p:nvSpPr>
        <p:spPr>
          <a:xfrm>
            <a:off x="8403336" y="3401568"/>
            <a:ext cx="3136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10-week build clock → go-live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8129016" y="3813048"/>
            <a:ext cx="3410712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8129016" y="3931920"/>
            <a:ext cx="3410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C97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UNKNOWN</a:t>
            </a:r>
            <a:endParaRPr lang="en-US" sz="1000" dirty="0"/>
          </a:p>
        </p:txBody>
      </p:sp>
      <p:sp>
        <p:nvSpPr>
          <p:cNvPr id="87" name="Text 85"/>
          <p:cNvSpPr txBox="1"/>
          <p:nvPr/>
        </p:nvSpPr>
        <p:spPr>
          <a:xfrm>
            <a:off x="8129016" y="4197096"/>
            <a:ext cx="3410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Content licence fee per title</a:t>
            </a:r>
            <a:endParaRPr lang="en-US" sz="880" dirty="0"/>
          </a:p>
        </p:txBody>
      </p:sp>
      <p:sp>
        <p:nvSpPr>
          <p:cNvPr id="88" name="Text 86"/>
          <p:cNvSpPr txBox="1"/>
          <p:nvPr/>
        </p:nvSpPr>
        <p:spPr>
          <a:xfrm>
            <a:off x="8129016" y="4434840"/>
            <a:ext cx="3410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Normalisation cost (pending samples)</a:t>
            </a:r>
            <a:endParaRPr lang="en-US" sz="880" dirty="0"/>
          </a:p>
        </p:txBody>
      </p:sp>
      <p:sp>
        <p:nvSpPr>
          <p:cNvPr id="89" name="Text 87"/>
          <p:cNvSpPr txBox="1"/>
          <p:nvPr/>
        </p:nvSpPr>
        <p:spPr>
          <a:xfrm>
            <a:off x="8129016" y="4672584"/>
            <a:ext cx="3410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Managed ops / AMC price</a:t>
            </a:r>
            <a:endParaRPr lang="en-US" sz="880" dirty="0"/>
          </a:p>
        </p:txBody>
      </p:sp>
      <p:sp>
        <p:nvSpPr>
          <p:cNvPr id="90" name="Text 88"/>
          <p:cNvSpPr txBox="1"/>
          <p:nvPr/>
        </p:nvSpPr>
        <p:spPr>
          <a:xfrm>
            <a:off x="8129016" y="4910328"/>
            <a:ext cx="3410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Avg sponsorship deal size per sector</a:t>
            </a:r>
            <a:endParaRPr lang="en-US" sz="880" dirty="0"/>
          </a:p>
        </p:txBody>
      </p:sp>
      <p:sp>
        <p:nvSpPr>
          <p:cNvPr id="91" name="Shape 89"/>
          <p:cNvSpPr/>
          <p:nvPr/>
        </p:nvSpPr>
        <p:spPr>
          <a:xfrm>
            <a:off x="320040" y="6455664"/>
            <a:ext cx="11548872" cy="13716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92" name="Text 90"/>
          <p:cNvSpPr txBox="1"/>
          <p:nvPr/>
        </p:nvSpPr>
        <p:spPr>
          <a:xfrm>
            <a:off x="320040" y="6510528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Everything-else run-rate: </a:t>
            </a:r>
            <a:pPr indent="0" marL="0">
              <a:buNone/>
            </a:pPr>
            <a:r>
              <a:rPr lang="en-US" sz="1000" b="1" dirty="0">
                <a:solidFill>
                  <a:srgbClr val="C99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~$298/mo</a:t>
            </a:r>
            <a:pPr indent="0" marL="0"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once live.  Enveu build is one-time, not recurring — platform tax is gone.  Content remains the real capital question, not tech.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2026-09-04T16:42:14Z</dcterms:created>
  <dcterms:modified xsi:type="dcterms:W3CDTF">2026-09-04T16:42:14Z</dcterms:modified>
</cp:coreProperties>
</file>