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9.xml"/><Relationship Id="rId13" Type="http://schemas.openxmlformats.org/officeDocument/2006/relationships/slide" Target="slides/slide2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4.xml"/><Relationship Id="rId32" Type="http://schemas.openxmlformats.org/officeDocument/2006/relationships/image" Target="../media/image1.jpg"/><Relationship Id="rId33" Type="http://schemas.openxmlformats.org/officeDocument/2006/relationships/image" Target="../media/image2.jpg"/><Relationship Id="rId34" Type="http://schemas.openxmlformats.org/officeDocument/2006/relationships/image" Target="../media/image3.jpg"/><Relationship Id="rId35" Type="http://schemas.openxmlformats.org/officeDocument/2006/relationships/image" Target="../media/image4.jpg"/><Relationship Id="rId36" Type="http://schemas.openxmlformats.org/officeDocument/2006/relationships/image" Target="../media/image5.jpg"/><Relationship Id="rId37" Type="http://schemas.openxmlformats.org/officeDocument/2006/relationships/image" Target="../media/image6.jpg"/><Relationship Id="rId38" Type="http://schemas.openxmlformats.org/officeDocument/2006/relationships/image" Target="../media/image7.png"/><Relationship Id="rId39" Type="http://schemas.openxmlformats.org/officeDocument/2006/relationships/image" Target="../media/image8.png"/><Relationship Id="rId40" Type="http://schemas.openxmlformats.org/officeDocument/2006/relationships/image" Target="../media/image9.jpg"/><Relationship Id="rId41" Type="http://schemas.openxmlformats.org/officeDocument/2006/relationships/image" Target="../media/image10.jpg"/><Relationship Id="rId42" Type="http://schemas.openxmlformats.org/officeDocument/2006/relationships/image" Target="../media/image11.jpg"/><Relationship Id="rId43" Type="http://schemas.openxmlformats.org/officeDocument/2006/relationships/image" Target="../media/image12.jpg"/><Relationship Id="rId44" Type="http://schemas.openxmlformats.org/officeDocument/2006/relationships/image" Target="../media/image13.jpg"/><Relationship Id="rId45" Type="http://schemas.openxmlformats.org/officeDocument/2006/relationships/image" Target="../media/image14.png"/><Relationship Id="rId46" Type="http://schemas.openxmlformats.org/officeDocument/2006/relationships/image" Target="../media/image15.png"/><Relationship Id="rId47" Type="http://schemas.openxmlformats.org/officeDocument/2006/relationships/image" Target="../media/image16.jpg"/><Relationship Id="rId48" Type="http://schemas.openxmlformats.org/officeDocument/2006/relationships/image" Target="../media/image17.jpg"/><Relationship Id="rId49" Type="http://schemas.openxmlformats.org/officeDocument/2006/relationships/image" Target="../media/image18.jpg"/><Relationship Id="rId50" Type="http://schemas.openxmlformats.org/officeDocument/2006/relationships/image" Target="../media/image19.jpg"/><Relationship Id="rId51" Type="http://schemas.openxmlformats.org/officeDocument/2006/relationships/image" Target="../media/image20.png"/><Relationship Id="rId52" Type="http://schemas.openxmlformats.org/officeDocument/2006/relationships/image" Target="../media/image21.png"/><Relationship Id="rId53" Type="http://schemas.openxmlformats.org/officeDocument/2006/relationships/image" Target="../media/image22.png"/><Relationship Id="rId54" Type="http://schemas.openxmlformats.org/officeDocument/2006/relationships/image" Target="../media/image23.png"/><Relationship Id="rId55" Type="http://schemas.openxmlformats.org/officeDocument/2006/relationships/image" Target="../media/image24.jpg"/><Relationship Id="rId56" Type="http://schemas.openxmlformats.org/officeDocument/2006/relationships/image" Target="../media/image25.png"/><Relationship Id="rId57" Type="http://schemas.openxmlformats.org/officeDocument/2006/relationships/image" Target="../media/image26.jpg"/><Relationship Id="rId58" Type="http://schemas.openxmlformats.org/officeDocument/2006/relationships/image" Target="../media/image27.jpg"/><Relationship Id="rId59" Type="http://schemas.openxmlformats.org/officeDocument/2006/relationships/image" Target="../media/image28.jpg"/><Relationship Id="rId60" Type="http://schemas.openxmlformats.org/officeDocument/2006/relationships/image" Target="../media/image29.png"/><Relationship Id="rId61" Type="http://schemas.openxmlformats.org/officeDocument/2006/relationships/image" Target="../media/image30.jpg"/><Relationship Id="rId62" Type="http://schemas.openxmlformats.org/officeDocument/2006/relationships/image" Target="../media/image31.jpg"/><Relationship Id="rId63" Type="http://schemas.openxmlformats.org/officeDocument/2006/relationships/image" Target="../media/image32.jpg"/><Relationship Id="rId64" Type="http://schemas.openxmlformats.org/officeDocument/2006/relationships/image" Target="../media/image33.jpg"/><Relationship Id="rId65" Type="http://schemas.openxmlformats.org/officeDocument/2006/relationships/image" Target="../media/image34.png"/><Relationship Id="rId66" Type="http://schemas.openxmlformats.org/officeDocument/2006/relationships/image" Target="../media/image35.png"/><Relationship Id="rId67" Type="http://schemas.openxmlformats.org/officeDocument/2006/relationships/image" Target="../media/image36.jpg"/><Relationship Id="rId68" Type="http://schemas.openxmlformats.org/officeDocument/2006/relationships/image" Target="../media/image37.jpg"/><Relationship Id="rId69" Type="http://schemas.openxmlformats.org/officeDocument/2006/relationships/image" Target="../media/image38.jpg"/><Relationship Id="rId70" Type="http://schemas.openxmlformats.org/officeDocument/2006/relationships/image" Target="../media/image39.jpg"/><Relationship Id="rId71" Type="http://schemas.openxmlformats.org/officeDocument/2006/relationships/image" Target="../media/image40.jpg"/><Relationship Id="rId72" Type="http://schemas.openxmlformats.org/officeDocument/2006/relationships/image" Target="../media/image41.jpg"/><Relationship Id="rId73" Type="http://schemas.openxmlformats.org/officeDocument/2006/relationships/image" Target="../media/image42.jpg"/><Relationship Id="rId74" Type="http://schemas.openxmlformats.org/officeDocument/2006/relationships/image" Target="../media/image43.jpg"/><Relationship Id="rId75" Type="http://schemas.openxmlformats.org/officeDocument/2006/relationships/image" Target="../media/image44.png"/><Relationship Id="rId76" Type="http://schemas.openxmlformats.org/officeDocument/2006/relationships/image" Target="../media/image45.jpg"/><Relationship Id="rId77" Type="http://schemas.openxmlformats.org/officeDocument/2006/relationships/image" Target="../media/image46.jpg"/><Relationship Id="rId78" Type="http://schemas.openxmlformats.org/officeDocument/2006/relationships/image" Target="../media/image47.jpg"/><Relationship Id="rId79" Type="http://schemas.openxmlformats.org/officeDocument/2006/relationships/image" Target="../media/image48.png"/><Relationship Id="rId80" Type="http://schemas.openxmlformats.org/officeDocument/2006/relationships/image" Target="../media/image49.png"/><Relationship Id="rId81" Type="http://schemas.openxmlformats.org/officeDocument/2006/relationships/image" Target="../media/image5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7" Type="http://schemas.openxmlformats.org/officeDocument/2006/relationships/image" Target="../media/image2.jpg"/><Relationship Id="rId8" Type="http://schemas.openxmlformats.org/officeDocument/2006/relationships/image" Target="../media/image3.jpg"/><Relationship Id="rId9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7" Type="http://schemas.openxmlformats.org/officeDocument/2006/relationships/image" Target="../media/image26.jpg"/><Relationship Id="rId8" Type="http://schemas.openxmlformats.org/officeDocument/2006/relationships/image" Target="../media/image27.jpg"/><Relationship Id="rId9" Type="http://schemas.openxmlformats.org/officeDocument/2006/relationships/image" Target="../media/image2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17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222226"/>
          </a:solidFill>
          <a:ln/>
        </p:spPr>
      </p:sp>
      <p:sp>
        <p:nvSpPr>
          <p:cNvPr id="4" name="Shape 2"/>
          <p:cNvSpPr/>
          <p:nvPr/>
        </p:nvSpPr>
        <p:spPr>
          <a:xfrm>
            <a:off x="3127248" y="1234440"/>
            <a:ext cx="5943600" cy="2331720"/>
          </a:xfrm>
          <a:prstGeom prst="roundRect">
            <a:avLst>
              <a:gd name="adj" fmla="val 5490"/>
            </a:avLst>
          </a:prstGeom>
          <a:solidFill>
            <a:srgbClr val="FBF9F3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build/logos/home_mast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4448" y="1783080"/>
            <a:ext cx="5029200" cy="12527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V   ·   A F R I C 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0" y="4224528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soul of Africa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16552" y="4736592"/>
            <a:ext cx="3355848" cy="457200"/>
          </a:xfrm>
          <a:prstGeom prst="roundRect">
            <a:avLst>
              <a:gd name="adj" fmla="val 50000"/>
            </a:avLst>
          </a:prstGeom>
          <a:solidFill>
            <a:srgbClr val="2C2C3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16552" y="4736592"/>
            <a:ext cx="3355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PREMIER OTT PLATFORM</a:t>
            </a:r>
            <a:endParaRPr lang="en-US" sz="1200" dirty="0"/>
          </a:p>
        </p:txBody>
      </p:sp>
      <p:pic>
        <p:nvPicPr>
          <p:cNvPr id="10" name="Image 1" descr="/home/claude/build/logos/colorbar_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6" y="5532120"/>
            <a:ext cx="402336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0" y="5870448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Brand Architecture for Tattase TV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0" y="619963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Media Icons Africa  ·  Managing Director: John Idani Upah (ARPA)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Arms of HOME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brand, three complementary engines — built to keep Africa watching, worshipping, learning and growing at HOME.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1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&amp; LIVE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Television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044952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heart of HOME — 100+ channels, a deep legacy catalogue, and 24/7 live events beamed to every screen.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5138928"/>
            <a:ext cx="3063240" cy="0"/>
          </a:xfrm>
          <a:prstGeom prst="line">
            <a:avLst/>
          </a:prstGeom>
          <a:noFill/>
          <a:ln w="12700">
            <a:solidFill>
              <a:srgbClr val="EDE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530352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</p:sp>
      <p:pic>
        <p:nvPicPr>
          <p:cNvPr id="11" name="Image 0" descr="/home/claude/build/logos/home_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" y="5376672"/>
            <a:ext cx="758952" cy="42062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874520" y="530352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</p:sp>
      <p:pic>
        <p:nvPicPr>
          <p:cNvPr id="13" name="Image 1" descr="/home/claude/build/logos/legacy_channe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29384" y="5376672"/>
            <a:ext cx="758952" cy="42062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907792" y="530352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</p:sp>
      <p:pic>
        <p:nvPicPr>
          <p:cNvPr id="15" name="Image 2" descr="/home/claude/build/logos/home_liv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62656" y="5376672"/>
            <a:ext cx="758952" cy="42062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25112" y="160020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553712" y="1783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1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4553712" y="22585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 &amp; INSPIRATION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53712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On-Demand &amp; Faith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4553712" y="3044952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blockbuster cinema on demand, paired with faith-led programming that speaks to the spirit of Africa.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53712" y="5138928"/>
            <a:ext cx="3063240" cy="0"/>
          </a:xfrm>
          <a:prstGeom prst="line">
            <a:avLst/>
          </a:prstGeom>
          <a:noFill/>
          <a:ln w="12700">
            <a:solidFill>
              <a:srgbClr val="EDE9D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134356" y="530352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</p:sp>
      <p:pic>
        <p:nvPicPr>
          <p:cNvPr id="23" name="Image 3" descr="/home/claude/build/logos/home_cinem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189220" y="5376672"/>
            <a:ext cx="758952" cy="42062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167628" y="530352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</p:sp>
      <p:pic>
        <p:nvPicPr>
          <p:cNvPr id="25" name="Image 4" descr="/home/claude/build/logos/home_faith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22492" y="5376672"/>
            <a:ext cx="758952" cy="420624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8101584" y="1600200"/>
            <a:ext cx="3520440" cy="46177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330184" y="17830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E1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8330184" y="225856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INCUBATION &amp; LEARNING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8330184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&amp; Growth</a:t>
            </a:r>
            <a:endParaRPr lang="en-US" sz="1900" dirty="0"/>
          </a:p>
        </p:txBody>
      </p:sp>
      <p:sp>
        <p:nvSpPr>
          <p:cNvPr id="30" name="Text 23"/>
          <p:cNvSpPr/>
          <p:nvPr/>
        </p:nvSpPr>
        <p:spPr>
          <a:xfrm>
            <a:off x="8330184" y="3044952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Incubator nurtures new talent and content; Book Worm turns living rooms into classrooms for the next generation.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330184" y="5138928"/>
            <a:ext cx="3063240" cy="0"/>
          </a:xfrm>
          <a:prstGeom prst="line">
            <a:avLst/>
          </a:prstGeom>
          <a:noFill/>
          <a:ln w="12700">
            <a:solidFill>
              <a:srgbClr val="EDE9DD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910828" y="530352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</p:sp>
      <p:pic>
        <p:nvPicPr>
          <p:cNvPr id="33" name="Image 5" descr="/home/claude/build/logos/home_incubator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65692" y="5376672"/>
            <a:ext cx="758952" cy="420624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9944100" y="5303520"/>
            <a:ext cx="868680" cy="566928"/>
          </a:xfrm>
          <a:prstGeom prst="roundRect">
            <a:avLst>
              <a:gd name="adj" fmla="val 9677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</p:sp>
      <p:pic>
        <p:nvPicPr>
          <p:cNvPr id="35" name="Image 6" descr="/home/claude/build/logos/bookworm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998964" y="5376672"/>
            <a:ext cx="758952" cy="42062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1218895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A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3000" dirty="0"/>
          </a:p>
        </p:txBody>
      </p:sp>
      <p:pic>
        <p:nvPicPr>
          <p:cNvPr id="3" name="Image 0" descr="/home/claude/build/logos/colorbar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3246120"/>
            <a:ext cx="475488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657600"/>
            <a:ext cx="12188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HOME Channel Bouquet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45920" y="4279392"/>
            <a:ext cx="8897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flagship channels with full brand synopses — plus 18 further identities in development — one continent-sized story spanning Nollywood, faith, culture, fashion, news and kids.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Proposed Channel Logos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identities across the HOME bouquet — 56 with full brand synopses on the following pages, plus 18 further channels in development.</a:t>
            </a:r>
            <a:endParaRPr lang="en-US" sz="1200" dirty="0"/>
          </a:p>
        </p:txBody>
      </p:sp>
      <p:sp>
        <p:nvSpPr>
          <p:cNvPr id="62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63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596" y="1472184"/>
            <a:ext cx="722376" cy="507492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929" y="1472184"/>
            <a:ext cx="733806" cy="507492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2317" y="1472184"/>
            <a:ext cx="737126" cy="50749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882" y="1472184"/>
            <a:ext cx="736092" cy="507492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4930" y="1472184"/>
            <a:ext cx="736092" cy="507492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2121" y="1472184"/>
            <a:ext cx="733806" cy="507492"/>
          </a:xfrm>
          <a:prstGeom prst="rect">
            <a:avLst/>
          </a:prstGeom>
        </p:spPr>
      </p:pic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026" y="1472184"/>
            <a:ext cx="736092" cy="507492"/>
          </a:xfrm>
          <a:prstGeom prst="rect">
            <a:avLst/>
          </a:prstGeom>
        </p:spPr>
      </p:pic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94217" y="1472184"/>
            <a:ext cx="733806" cy="507492"/>
          </a:xfrm>
          <a:prstGeom prst="rect">
            <a:avLst/>
          </a:prstGeom>
        </p:spPr>
      </p:pic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37457" y="1472184"/>
            <a:ext cx="739422" cy="507492"/>
          </a:xfrm>
          <a:prstGeom prst="rect">
            <a:avLst/>
          </a:prstGeom>
        </p:spPr>
      </p:pic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6313" y="1472184"/>
            <a:ext cx="733806" cy="507492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881" y="2089404"/>
            <a:ext cx="733806" cy="507492"/>
          </a:xfrm>
          <a:prstGeom prst="rect">
            <a:avLst/>
          </a:prstGeom>
        </p:spPr>
      </p:pic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7929" y="2089404"/>
            <a:ext cx="733806" cy="507492"/>
          </a:xfrm>
          <a:prstGeom prst="rect">
            <a:avLst/>
          </a:prstGeom>
        </p:spPr>
      </p:pic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63977" y="2089404"/>
            <a:ext cx="733806" cy="507492"/>
          </a:xfrm>
          <a:prstGeom prst="rect">
            <a:avLst/>
          </a:prstGeom>
        </p:spPr>
      </p:pic>
      <p:pic>
        <p:nvPicPr>
          <p:cNvPr id="77" name="Picture 7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10025" y="2089404"/>
            <a:ext cx="733806" cy="507492"/>
          </a:xfrm>
          <a:prstGeom prst="rect">
            <a:avLst/>
          </a:prstGeom>
        </p:spPr>
      </p:pic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54930" y="2089404"/>
            <a:ext cx="736092" cy="507492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00978" y="2089404"/>
            <a:ext cx="736092" cy="507492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47026" y="2089404"/>
            <a:ext cx="736092" cy="507492"/>
          </a:xfrm>
          <a:prstGeom prst="rect">
            <a:avLst/>
          </a:prstGeom>
        </p:spPr>
      </p:pic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96503" y="2089404"/>
            <a:ext cx="729234" cy="507492"/>
          </a:xfrm>
          <a:prstGeom prst="rect">
            <a:avLst/>
          </a:prstGeom>
        </p:spPr>
      </p:pic>
      <p:pic>
        <p:nvPicPr>
          <p:cNvPr id="82" name="Picture 8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41910" y="2089404"/>
            <a:ext cx="730515" cy="507492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86313" y="2089404"/>
            <a:ext cx="733806" cy="507492"/>
          </a:xfrm>
          <a:prstGeom prst="rect">
            <a:avLst/>
          </a:prstGeom>
        </p:spPr>
      </p:pic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0738" y="2706624"/>
            <a:ext cx="736092" cy="507492"/>
          </a:xfrm>
          <a:prstGeom prst="rect">
            <a:avLst/>
          </a:prstGeom>
        </p:spPr>
      </p:pic>
      <p:pic>
        <p:nvPicPr>
          <p:cNvPr id="85" name="Picture 8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20215" y="2706624"/>
            <a:ext cx="729234" cy="507492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12720" y="2757964"/>
            <a:ext cx="1036320" cy="404812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58768" y="2779014"/>
            <a:ext cx="1036320" cy="362712"/>
          </a:xfrm>
          <a:prstGeom prst="rect">
            <a:avLst/>
          </a:prstGeom>
        </p:spPr>
      </p:pic>
      <p:pic>
        <p:nvPicPr>
          <p:cNvPr id="88" name="Picture 87" descr="image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69230" y="2706624"/>
            <a:ext cx="507492" cy="507492"/>
          </a:xfrm>
          <a:prstGeom prst="rect">
            <a:avLst/>
          </a:prstGeom>
        </p:spPr>
      </p:pic>
      <p:pic>
        <p:nvPicPr>
          <p:cNvPr id="89" name="Picture 88" descr="image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15278" y="2706624"/>
            <a:ext cx="507492" cy="507492"/>
          </a:xfrm>
          <a:prstGeom prst="rect">
            <a:avLst/>
          </a:prstGeom>
        </p:spPr>
      </p:pic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561326" y="2706624"/>
            <a:ext cx="507492" cy="507492"/>
          </a:xfrm>
          <a:prstGeom prst="rect">
            <a:avLst/>
          </a:prstGeom>
        </p:spPr>
      </p:pic>
      <p:pic>
        <p:nvPicPr>
          <p:cNvPr id="91" name="Picture 90" descr="image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07374" y="2706624"/>
            <a:ext cx="507492" cy="507492"/>
          </a:xfrm>
          <a:prstGeom prst="rect">
            <a:avLst/>
          </a:prstGeom>
        </p:spPr>
      </p:pic>
      <p:pic>
        <p:nvPicPr>
          <p:cNvPr id="92" name="Picture 91" descr="image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853422" y="2706624"/>
            <a:ext cx="507492" cy="507492"/>
          </a:xfrm>
          <a:prstGeom prst="rect">
            <a:avLst/>
          </a:prstGeom>
        </p:spPr>
      </p:pic>
      <p:pic>
        <p:nvPicPr>
          <p:cNvPr id="93" name="Picture 92" descr="image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999470" y="2706624"/>
            <a:ext cx="507492" cy="507492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18309" y="3323844"/>
            <a:ext cx="640950" cy="507492"/>
          </a:xfrm>
          <a:prstGeom prst="rect">
            <a:avLst/>
          </a:prstGeom>
        </p:spPr>
      </p:pic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765235" y="3323844"/>
            <a:ext cx="639194" cy="507492"/>
          </a:xfrm>
          <a:prstGeom prst="rect">
            <a:avLst/>
          </a:prstGeom>
        </p:spPr>
      </p:pic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977134" y="3323844"/>
            <a:ext cx="507492" cy="507492"/>
          </a:xfrm>
          <a:prstGeom prst="rect">
            <a:avLst/>
          </a:prstGeom>
        </p:spPr>
      </p:pic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013472" y="3323844"/>
            <a:ext cx="726911" cy="507492"/>
          </a:xfrm>
          <a:prstGeom prst="rect">
            <a:avLst/>
          </a:prstGeom>
        </p:spPr>
      </p:pic>
      <p:pic>
        <p:nvPicPr>
          <p:cNvPr id="98" name="Picture 97" descr="image.jp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251246" y="3323844"/>
            <a:ext cx="543460" cy="507492"/>
          </a:xfrm>
          <a:prstGeom prst="rect">
            <a:avLst/>
          </a:prstGeom>
        </p:spPr>
      </p:pic>
      <p:pic>
        <p:nvPicPr>
          <p:cNvPr id="99" name="Picture 98" descr="image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414910" y="3323844"/>
            <a:ext cx="508227" cy="507492"/>
          </a:xfrm>
          <a:prstGeom prst="rect">
            <a:avLst/>
          </a:prstGeom>
        </p:spPr>
      </p:pic>
      <p:pic>
        <p:nvPicPr>
          <p:cNvPr id="100" name="Picture 99" descr="image.jp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61687" y="3323844"/>
            <a:ext cx="506770" cy="507492"/>
          </a:xfrm>
          <a:prstGeom prst="rect">
            <a:avLst/>
          </a:prstGeom>
        </p:spPr>
      </p:pic>
      <p:pic>
        <p:nvPicPr>
          <p:cNvPr id="101" name="Picture 100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642625" y="3323844"/>
            <a:ext cx="636989" cy="507492"/>
          </a:xfrm>
          <a:prstGeom prst="rect">
            <a:avLst/>
          </a:prstGeom>
        </p:spPr>
      </p:pic>
      <p:pic>
        <p:nvPicPr>
          <p:cNvPr id="102" name="Picture 101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853422" y="3323844"/>
            <a:ext cx="507492" cy="507492"/>
          </a:xfrm>
          <a:prstGeom prst="rect">
            <a:avLst/>
          </a:prstGeom>
        </p:spPr>
      </p:pic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999470" y="3323844"/>
            <a:ext cx="507492" cy="507492"/>
          </a:xfrm>
          <a:prstGeom prst="rect">
            <a:avLst/>
          </a:prstGeom>
        </p:spPr>
      </p:pic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85773" y="3941064"/>
            <a:ext cx="506021" cy="507492"/>
          </a:xfrm>
          <a:prstGeom prst="rect">
            <a:avLst/>
          </a:prstGeom>
        </p:spPr>
      </p:pic>
      <p:pic>
        <p:nvPicPr>
          <p:cNvPr id="105" name="Picture 104" descr="image.jp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828077" y="3941064"/>
            <a:ext cx="513509" cy="507492"/>
          </a:xfrm>
          <a:prstGeom prst="rect">
            <a:avLst/>
          </a:prstGeom>
        </p:spPr>
      </p:pic>
      <p:pic>
        <p:nvPicPr>
          <p:cNvPr id="106" name="Picture 105" descr="image.jp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977460" y="3941064"/>
            <a:ext cx="506840" cy="507492"/>
          </a:xfrm>
          <a:prstGeom prst="rect">
            <a:avLst/>
          </a:prstGeom>
        </p:spPr>
      </p:pic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057558" y="3941064"/>
            <a:ext cx="638739" cy="507492"/>
          </a:xfrm>
          <a:prstGeom prst="rect">
            <a:avLst/>
          </a:prstGeom>
        </p:spPr>
      </p:pic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004816" y="3976245"/>
            <a:ext cx="1036319" cy="437130"/>
          </a:xfrm>
          <a:prstGeom prst="rect">
            <a:avLst/>
          </a:prstGeom>
        </p:spPr>
      </p:pic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350529" y="3941064"/>
            <a:ext cx="636989" cy="507492"/>
          </a:xfrm>
          <a:prstGeom prst="rect">
            <a:avLst/>
          </a:prstGeom>
        </p:spPr>
      </p:pic>
      <p:pic>
        <p:nvPicPr>
          <p:cNvPr id="110" name="Picture 109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495702" y="3941064"/>
            <a:ext cx="638739" cy="507492"/>
          </a:xfrm>
          <a:prstGeom prst="rect">
            <a:avLst/>
          </a:prstGeom>
        </p:spPr>
      </p:pic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707374" y="3941064"/>
            <a:ext cx="507492" cy="507492"/>
          </a:xfrm>
          <a:prstGeom prst="rect">
            <a:avLst/>
          </a:prstGeom>
        </p:spPr>
      </p:pic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9729327" y="3941064"/>
            <a:ext cx="755681" cy="507492"/>
          </a:xfrm>
          <a:prstGeom prst="rect">
            <a:avLst/>
          </a:prstGeom>
        </p:spPr>
      </p:pic>
      <p:pic>
        <p:nvPicPr>
          <p:cNvPr id="113" name="Picture 112" descr="image.jp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0999470" y="3941064"/>
            <a:ext cx="507492" cy="507492"/>
          </a:xfrm>
          <a:prstGeom prst="rect">
            <a:avLst/>
          </a:prstGeom>
        </p:spPr>
      </p:pic>
      <p:pic>
        <p:nvPicPr>
          <p:cNvPr id="114" name="Picture 113" descr="image.jp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69179" y="4558284"/>
            <a:ext cx="539210" cy="507492"/>
          </a:xfrm>
          <a:prstGeom prst="rect">
            <a:avLst/>
          </a:prstGeom>
        </p:spPr>
      </p:pic>
      <p:pic>
        <p:nvPicPr>
          <p:cNvPr id="115" name="Picture 114" descr="image.jp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811436" y="4558284"/>
            <a:ext cx="546792" cy="507492"/>
          </a:xfrm>
          <a:prstGeom prst="rect">
            <a:avLst/>
          </a:prstGeom>
        </p:spPr>
      </p:pic>
      <p:pic>
        <p:nvPicPr>
          <p:cNvPr id="116" name="Picture 115" descr="image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889343" y="4558284"/>
            <a:ext cx="683073" cy="507492"/>
          </a:xfrm>
          <a:prstGeom prst="rect">
            <a:avLst/>
          </a:prstGeom>
        </p:spPr>
      </p:pic>
      <p:pic>
        <p:nvPicPr>
          <p:cNvPr id="117" name="Picture 116" descr="image.jp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103532" y="4558284"/>
            <a:ext cx="546792" cy="507492"/>
          </a:xfrm>
          <a:prstGeom prst="rect">
            <a:avLst/>
          </a:prstGeom>
        </p:spPr>
      </p:pic>
      <p:pic>
        <p:nvPicPr>
          <p:cNvPr id="118" name="Picture 117" descr="image.jp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269596" y="4558284"/>
            <a:ext cx="506759" cy="507492"/>
          </a:xfrm>
          <a:prstGeom prst="rect">
            <a:avLst/>
          </a:prstGeom>
        </p:spPr>
      </p:pic>
      <p:pic>
        <p:nvPicPr>
          <p:cNvPr id="119" name="Picture 118" descr="image.jp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6203368" y="4558284"/>
            <a:ext cx="931311" cy="507492"/>
          </a:xfrm>
          <a:prstGeom prst="rect">
            <a:avLst/>
          </a:prstGeom>
        </p:spPr>
      </p:pic>
      <p:pic>
        <p:nvPicPr>
          <p:cNvPr id="120" name="Picture 119" descr="ATQ TV.jp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7296912" y="4568301"/>
            <a:ext cx="1036320" cy="487457"/>
          </a:xfrm>
          <a:prstGeom prst="rect">
            <a:avLst/>
          </a:prstGeom>
        </p:spPr>
      </p:pic>
      <p:pic>
        <p:nvPicPr>
          <p:cNvPr id="121" name="Picture 120" descr="Afrosports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652644" y="4558284"/>
            <a:ext cx="616951" cy="507491"/>
          </a:xfrm>
          <a:prstGeom prst="rect">
            <a:avLst/>
          </a:prstGeom>
        </p:spPr>
      </p:pic>
      <p:pic>
        <p:nvPicPr>
          <p:cNvPr id="122" name="Picture 121" descr="Banger Tv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9853422" y="4558284"/>
            <a:ext cx="507492" cy="507492"/>
          </a:xfrm>
          <a:prstGeom prst="rect">
            <a:avLst/>
          </a:prstGeom>
        </p:spPr>
      </p:pic>
      <p:pic>
        <p:nvPicPr>
          <p:cNvPr id="123" name="Picture 122" descr="Dott TV.jp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0999470" y="4558284"/>
            <a:ext cx="507492" cy="507492"/>
          </a:xfrm>
          <a:prstGeom prst="rect">
            <a:avLst/>
          </a:prstGeom>
        </p:spPr>
      </p:pic>
      <p:pic>
        <p:nvPicPr>
          <p:cNvPr id="124" name="Picture 123" descr="GistMe TV.jp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85038" y="5175504"/>
            <a:ext cx="507492" cy="507492"/>
          </a:xfrm>
          <a:prstGeom prst="rect">
            <a:avLst/>
          </a:prstGeom>
        </p:spPr>
      </p:pic>
      <p:pic>
        <p:nvPicPr>
          <p:cNvPr id="125" name="Picture 124" descr="KilarigboTV.jp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970646" y="5175504"/>
            <a:ext cx="228371" cy="507492"/>
          </a:xfrm>
          <a:prstGeom prst="rect">
            <a:avLst/>
          </a:prstGeom>
        </p:spPr>
      </p:pic>
      <p:pic>
        <p:nvPicPr>
          <p:cNvPr id="126" name="Picture 125" descr="LN247 Lifestyle.jp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2977134" y="5175504"/>
            <a:ext cx="507491" cy="507491"/>
          </a:xfrm>
          <a:prstGeom prst="rect">
            <a:avLst/>
          </a:prstGeom>
        </p:spPr>
      </p:pic>
      <p:pic>
        <p:nvPicPr>
          <p:cNvPr id="127" name="Picture 126" descr="MUF TV.jp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4124483" y="5175504"/>
            <a:ext cx="504889" cy="507492"/>
          </a:xfrm>
          <a:prstGeom prst="rect">
            <a:avLst/>
          </a:prstGeom>
        </p:spPr>
      </p:pic>
      <p:pic>
        <p:nvPicPr>
          <p:cNvPr id="128" name="Picture 127" descr="Ozola TV.jp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5269230" y="5175504"/>
            <a:ext cx="507492" cy="507492"/>
          </a:xfrm>
          <a:prstGeom prst="rect">
            <a:avLst/>
          </a:prstGeom>
        </p:spPr>
      </p:pic>
      <p:pic>
        <p:nvPicPr>
          <p:cNvPr id="129" name="Picture 128" descr="R2TV.jp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6249754" y="5175504"/>
            <a:ext cx="838540" cy="507492"/>
          </a:xfrm>
          <a:prstGeom prst="rect">
            <a:avLst/>
          </a:prstGeom>
        </p:spPr>
      </p:pic>
      <p:pic>
        <p:nvPicPr>
          <p:cNvPr id="130" name="Picture 129" descr="Star Throne TV.jpe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7561326" y="5175504"/>
            <a:ext cx="507492" cy="507492"/>
          </a:xfrm>
          <a:prstGeom prst="rect">
            <a:avLst/>
          </a:prstGeom>
        </p:spPr>
      </p:pic>
      <p:pic>
        <p:nvPicPr>
          <p:cNvPr id="131" name="Picture 130" descr="WA7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8707374" y="5175504"/>
            <a:ext cx="507492" cy="507492"/>
          </a:xfrm>
          <a:prstGeom prst="rect">
            <a:avLst/>
          </a:prstGeom>
        </p:spPr>
      </p:pic>
      <p:pic>
        <p:nvPicPr>
          <p:cNvPr id="132" name="Picture 131" descr="X2D TV.jpe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9853422" y="5175504"/>
            <a:ext cx="507491" cy="507491"/>
          </a:xfrm>
          <a:prstGeom prst="rect">
            <a:avLst/>
          </a:prstGeom>
        </p:spPr>
      </p:pic>
      <p:pic>
        <p:nvPicPr>
          <p:cNvPr id="133" name="Picture 132" descr="Yanga TV.jp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10999470" y="5175504"/>
            <a:ext cx="507492" cy="507492"/>
          </a:xfrm>
          <a:prstGeom prst="rect">
            <a:avLst/>
          </a:prstGeom>
        </p:spPr>
      </p:pic>
      <p:pic>
        <p:nvPicPr>
          <p:cNvPr id="134" name="Picture 133" descr="Yoruba Telfisian.jp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717747" y="5792724"/>
            <a:ext cx="442073" cy="507492"/>
          </a:xfrm>
          <a:prstGeom prst="rect">
            <a:avLst/>
          </a:prstGeom>
        </p:spPr>
      </p:pic>
      <p:pic>
        <p:nvPicPr>
          <p:cNvPr id="135" name="Picture 134" descr="bmu_tv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1764357" y="5792724"/>
            <a:ext cx="640950" cy="507492"/>
          </a:xfrm>
          <a:prstGeom prst="rect">
            <a:avLst/>
          </a:prstGeom>
        </p:spPr>
      </p:pic>
      <p:pic>
        <p:nvPicPr>
          <p:cNvPr id="136" name="Picture 135" descr="csr_tv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2911510" y="5792724"/>
            <a:ext cx="638739" cy="507492"/>
          </a:xfrm>
          <a:prstGeom prst="rect">
            <a:avLst/>
          </a:prstGeom>
        </p:spPr>
      </p:pic>
      <p:pic>
        <p:nvPicPr>
          <p:cNvPr id="137" name="Picture 136" descr="mab_magicbox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4115420" y="5792724"/>
            <a:ext cx="523015" cy="5074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home/claude/build/logos/tatt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Tattase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CULTURE &amp; LIFESTYLE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pioneering Afrocentric digital multimedia platform focused on celebrating and promoting African cultures, cuisines, recipes, food brands and tourism — the flagship of the HOME bouquet.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/home/claude/build/logos/amen_movi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 Movies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MOVIES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Christian movie genre is fast developing and catering for the Christian community in Nigeria and around the world. Amen Movies is the definitive Christian Movies channel.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/home/claude/build/logos/amen_yorub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 Yoruba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YORUBA GOSPEL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Worship is a key part of Yoruba culture; this channel defines and chronicles the Yoruba gospel journey for millions of Yoruba-speaking believers.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/home/claude/build/logos/ashakat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Ashakata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 LIFESTYLE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definitive contemporary Hausa lifestyle channel, catering for millions of Hausa-speaking people across the length and breadth of Africa.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home/claude/build/logos/bou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treasures for your little treasure — an exclusive kiddies channel of cartoons, animations and excursions following the adventures of the Nigerian kid.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/home/claude/build/logos/laffo_tv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Laffo TV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wholly indigenous African comedy channel. Watch out for the kings and stars of African comedy, back to back.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/home/claude/build/logos/movieafric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Africa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NOLLYWOOD &amp; BEYOND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done right — everything Movies. Stories from an African perspective; our stories, our movies, Nollywood, Gollywood and all the other 'woods' across the continent.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/home/claude/build/logos/movieafrica_intl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Africa International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 CINEMA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extension of Movie Africa — entertainment done right, carrying African stories and movies to audiences beyond the continent.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home/claude/build/logos/movie_ind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India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BOLLYWOOD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Bollywood movies have long been a staple on the Nigerian and African movie menu. Follow the best and latest of the Bollywood blockbusters.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/home/claude/build/logos/naij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Naija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LIFESTYLE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wholly and fully Nigerian lifestyle channel featuring everything that defines Nigeria — the lingo, the food, the news, the challenges.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/home/claude/build/logos/ndtv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NDTV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 DELTA TELEVISION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first real digital pay-TV platform for the Niger Delta — the next largest homogenous block after the three major nations — chronicling its stories and struggles.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/home/claude/build/logos/notebook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SKILLS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education and skills channel — tutorials, skills and schools all re-defined right in your living room and bedroom.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home/claude/build/logos/oogine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Ooginee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IGBO CULTURE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has never been a popular, correctly-done television channel in the Igbo language — Ooginee is a uniquely crafted explosion into the life and times of the Igbo nation.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/home/claude/build/logos/platinum_pl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Platinum Play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MUSIC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CD goes platinum, it's a commercial blockbuster. This urban contemporary music channel follows the hip-hop artistes and dancehall anthems raving across Africa.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/home/claude/build/logos/pp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PPG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PRAISE · POWER · GLORY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Unleash the awesome power of the Almighty God as He inhabits our praises — Africa's premiere praise and worship channel, nonstop, to Him who deserves it.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/home/claude/build/logos/questv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QuesTV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FASHION, BEAUTY &amp; STYLE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premier fashion, beauty and style television lifestyle channel — speaking only the language of style, unmatched in covering the industry across the continent.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home/claude/build/logos/shaka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Shakara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FASHION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in the spirit of the mother continent — a dedicated African and Afrocentric fashion channel, formerly Quest TV, the first-ever 24-hour African fashion channel.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/home/claude/build/logos/hook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Hooked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to the couple. Weddings are the centrepiece of African celebration — Hooked follows the greatest love stories and the businesses built around them, on Africa's premiere wedding channel.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/home/claude/build/logos/oodua_sinema_olopi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Sinema Olopin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YORUBA MOVIES &amp; CULTURE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most contemporary Yoruba TV channel that is much more than movies and talk shows — Yoruba culture laid bare in all its beauty, subtitled in English.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/home/claude/build/logos/travel_nigeri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Nigeria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TOURISM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safari. Nigeria is a vast, travel-friendly nation — this channel presents it as the next big travel destination, the definitive guide for business and leisure travellers alike.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6" name="Image 0" descr="/home/claude/build/logos/tw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TWC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WOMAN CHANNEL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African woman is a unique breed — a beast of labour and love. TWC follows her stories through love, family, triumph and every fabled strength she carries.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/home/claude/build/logos/yotom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Yotomi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BROADCASTING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future-forward channel designed to propagate and elevate Yoruba values, ideas and ways of life — pioneering community broadcasting for national unity and progress.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/home/claude/build/logos/play_music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MUSIC + LIFESTYLE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music is massive around the world; Play delivers the best of Nigerian and African music — fresh, contemporary and retro — plus the whole lifestyle around the beat.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/home/claude/build/logos/the_cowri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Cowrie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MARKET DAY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shopping channel spotlighting Micro, Small and Medium enterprises across Africa — driven by food, fashion, agriculture and lifestyle content that sells.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Africa: Epic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NOLLYWOOD · EPIC &amp; HISTORICAL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period-drama arm of the Movie Africa family — kingdoms, warriors and legends brought to life in sweeping historical epics rooted in African history and folklore.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Africa: Yoruba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NOLLYWOOD · YORUBA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Yoruba-language cinema at its finest — from classic epics to contemporary drama, spotlighting the stars and stories that built the Yoruba film industry.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Africa: Originals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NOLLYWOOD · EXCLUSIVES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First-run, exclusive Nollywood productions commissioned for the Movie Africa family — fresh stories audiences won't find anywhere else.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Africa: Igbo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NOLLYWOOD · IGBO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definitive home of Igbo-language cinema — from the golden age of Nollywood East to today's rising storytellers.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30" name="Picture 29" descr="MAE log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pic>
        <p:nvPicPr>
          <p:cNvPr id="31" name="Picture 30" descr="MAY' logo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pic>
        <p:nvPicPr>
          <p:cNvPr id="32" name="Picture 31" descr="MAO logo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pic>
        <p:nvPicPr>
          <p:cNvPr id="33" name="Picture 32" descr="MAI logo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Africa: Halisa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NOLLYWOOD · HAUSA (KANNYWOOD)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Hausa-language cinema from Kano and beyond — Kannywood's biggest stars and stories for Northern Nigeria and the wider Hausa-speaking world.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 Africa: African Stories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NOLLYWOOD · PAN-AFRICAN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Nigeria — feature films and series from across the continent, widening the Movie Africa family into a true pan-African cinema library.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 TV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 &amp; LEGENDS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of legends — profiling the icons, trailblazers and larger-than-life personalities who have shaped African entertainment, business and culture.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Mandate News International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mandate-driven news coverage of Nigeria, Africa and the world — politics, business and the stories that matter, reported straight.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30" name="Picture 29" descr="MAH log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pic>
        <p:nvPicPr>
          <p:cNvPr id="31" name="Picture 30" descr="MAAS logo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pic>
        <p:nvPicPr>
          <p:cNvPr id="32" name="Picture 31" descr="cons_t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pic>
        <p:nvPicPr>
          <p:cNvPr id="33" name="Picture 32" descr="mandate_new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GoldMyne TV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NEWS &amp; CELEBRITY GIST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entertainment industry, mined for gold — celebrity news, red-carpet coverage and the stories behind the stars.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FAD360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FASHION, ART &amp; DESIGN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360-degree look at fashion, art and design across Africa — runway to studio, spotlighting the creatives defining the continent's aesthetic.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Sisi TV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LIFESTYLE &amp; GLAMOUR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glamour and lifestyle channel for the modern African woman — beauty, style and the everyday glow-up, told with confidence and flair.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Ability TV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ADVOCACY &amp; INCLUSION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able — a channel dedicated to disability advocacy, accessibility and the achievements of people living with disabilities across Africa.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30" name="Picture 29" descr="Goldmyne TV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pic>
        <p:nvPicPr>
          <p:cNvPr id="31" name="Picture 30" descr="FAD36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pic>
        <p:nvPicPr>
          <p:cNvPr id="32" name="Picture 31" descr="Sisi TV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pic>
        <p:nvPicPr>
          <p:cNvPr id="33" name="Picture 32" descr="Ability YTVxx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Sultana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· CHERUBIM &amp; SERAPHIM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of the Cherubim and Seraphim movement — worship, teaching and testimony for one of Africa's oldest indigenous church traditions.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Embassy TV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&amp; MINISTRY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programming, worship and teaching from Race Embassy — sermons, testimonies and church life for the faith community it serves.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Goge Africa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RURAL LIFESTYLE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farms, farmers and food systems — agribusiness, rural life and the people feeding the continent, one harvest at a time.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CKS TV (Charmingkids)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 TALENT &amp; GROOMING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broadcast home of Charmingkids — grooming, talent development and confidence-building programming for the next generation of African children.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30" name="Picture 29" descr="Sutana TV (2)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pic>
        <p:nvPicPr>
          <p:cNvPr id="31" name="Picture 30" descr="race_embas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pic>
        <p:nvPicPr>
          <p:cNvPr id="32" name="Picture 31" descr="Goje Africa T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pic>
        <p:nvPicPr>
          <p:cNvPr id="33" name="Picture 32" descr="Charming Kids Chnnel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PMAN TV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INDUSTRY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official voice of the Performing Musicians Association of Nigeria — industry news, artiste development and the business side of African music.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 Hotlegs TV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PAGEANTRY &amp; ENTERTAINMENT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Beauty, glamour and competition — behind-the-scenes access to the Miss Hotlegs pageant and the queens who own the runway.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CompassionTV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&amp; CHARITY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of compassion in action — charity drives, humanitarian work and the everyday Africans giving back to their communities.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C-Suite Café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EXECUTIVE TALK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from the executive suite — CEOs, founders and industry leaders unpacking strategy, leadership and the business of getting to the top.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30" name="Picture 29" descr="PMAN TV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pic>
        <p:nvPicPr>
          <p:cNvPr id="31" name="Picture 30" descr="Miss Hotlegs TV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pic>
        <p:nvPicPr>
          <p:cNvPr id="32" name="Picture 31" descr="Compassion TV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pic>
        <p:nvPicPr>
          <p:cNvPr id="33" name="Picture 32" descr="csuite_caf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 — Bridging The Gap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AFFAIRS &amp; COMMUNITY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government, business and everyday citizens — current affairs and community dialogue on the issues that divide and unite us.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JustU TV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DEVELOPMENT &amp; LIFESTYLE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you — a self-improvement and lifestyle channel on mindset, wellness and everyday personal growth for the modern African.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Estates TV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&amp; PROPERTY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Lifestyle, business and legacy — property listings, real estate investment advice and the developments shaping Africa's skylines.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Teen Africa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&amp; YOUTH LIFESTYLE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and for African teens — school life, trends, music and the issues that matter to the continent's next generation.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30" name="Picture 29" descr="BENT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pic>
        <p:nvPicPr>
          <p:cNvPr id="31" name="Picture 30" descr="justu_tv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pic>
        <p:nvPicPr>
          <p:cNvPr id="32" name="Picture 31" descr="estates_tv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pic>
        <p:nvPicPr>
          <p:cNvPr id="33" name="Picture 32" descr="TeenTV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TNT Television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ENTERTAINMENT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modern — a general entertainment channel blending African roots with contemporary programming for today's viewer.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Arewa24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NIGERIA / HAUSA ENTERTAINMENT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entertainment for Northern Nigeria and the Hausa-speaking world — drama, music and lifestyle programming rooted in Arewa culture.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Day TV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FINANCE NEWS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Markets, macroeconomics and the deals shaping Nigeria's economy — business news and analysis for investors, entrepreneurs and policy watchers.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Heritage TV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&amp; HERITAGE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history, traditions and heritage — documentaries and storytelling that preserve and celebrate the continent's cultural memory.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30" name="Picture 29" descr="TNT-LOGO-1 (1)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pic>
        <p:nvPicPr>
          <p:cNvPr id="31" name="Picture 30" descr="Arewa24-400x400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pic>
        <p:nvPicPr>
          <p:cNvPr id="32" name="Picture 31" descr="Business Day TV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pic>
        <p:nvPicPr>
          <p:cNvPr id="33" name="Picture 32" descr="Heritage TV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Synopses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377440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 TV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377440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&amp; E-COMMERCE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377440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Africa's television shopping destination — products, deals and live demos bringing e-commerce straight into the living room.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91072" y="9144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73952" y="10972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119872" y="10789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Itage TV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8119872" y="13898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THEATRE &amp; STAGE ARTS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19872" y="16642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stage — theatre, spoken word and the performing arts, spotlighting Africa's stage actors, playwrights and directors.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31520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2377440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Connect TV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2377440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NETWORKING &amp; EMPOWERMENT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2377440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African women in business, leadership and community — networking, mentorship and empowerment programming for women on the rise.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91072" y="342900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473952" y="3611880"/>
            <a:ext cx="1417320" cy="1874520"/>
          </a:xfrm>
          <a:prstGeom prst="roundRect">
            <a:avLst>
              <a:gd name="adj" fmla="val 3871"/>
            </a:avLst>
          </a:prstGeom>
          <a:solidFill>
            <a:srgbClr val="F5F3EC"/>
          </a:solidFill>
          <a:ln w="9525">
            <a:solidFill>
              <a:srgbClr val="EAE6D8"/>
            </a:solidFill>
            <a:prstDash val="solid"/>
          </a:ln>
        </p:spPr>
        <p:txBody>
          <a:bodyPr/>
          <a:p/>
        </p:txBody>
      </p:sp>
      <p:sp>
        <p:nvSpPr>
          <p:cNvPr id="25" name="Text 19"/>
          <p:cNvSpPr/>
          <p:nvPr/>
        </p:nvSpPr>
        <p:spPr>
          <a:xfrm>
            <a:off x="8119872" y="35935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People TV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8119872" y="390448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CELEBRITY &amp; ENTERTAINMENT NEWS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119872" y="4178808"/>
            <a:ext cx="3429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444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high society and beyond — celebrity news, parties and the social scene, brought to television.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30" name="Picture 29" descr="BUY T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1170432"/>
            <a:ext cx="1271016" cy="1728216"/>
          </a:xfrm>
          <a:prstGeom prst="rect">
            <a:avLst/>
          </a:prstGeom>
        </p:spPr>
      </p:pic>
      <p:pic>
        <p:nvPicPr>
          <p:cNvPr id="31" name="Picture 30" descr="Itage TV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1170432"/>
            <a:ext cx="1271016" cy="1728216"/>
          </a:xfrm>
          <a:prstGeom prst="rect">
            <a:avLst/>
          </a:prstGeom>
        </p:spPr>
      </p:pic>
      <p:pic>
        <p:nvPicPr>
          <p:cNvPr id="32" name="Picture 31" descr="Women Connec TV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3685032"/>
            <a:ext cx="1271016" cy="1728216"/>
          </a:xfrm>
          <a:prstGeom prst="rect">
            <a:avLst/>
          </a:prstGeom>
        </p:spPr>
      </p:pic>
      <p:pic>
        <p:nvPicPr>
          <p:cNvPr id="33" name="Picture 32" descr="City People TV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3685032"/>
            <a:ext cx="1271016" cy="17282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Terms</a:t>
            </a:r>
            <a:endParaRPr lang="en-US" sz="3000" dirty="0"/>
          </a:p>
        </p:txBody>
      </p:sp>
      <p:pic>
        <p:nvPicPr>
          <p:cNvPr id="3" name="Image 0" descr="/home/claude/build/logos/colorbar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365760" cy="182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554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D9A441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48640" y="1554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Exclusivity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154680" y="1554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D9A44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3154680" y="1554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Non-Exclusivity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1554480"/>
            <a:ext cx="2377440" cy="502920"/>
          </a:xfrm>
          <a:prstGeom prst="roundRect">
            <a:avLst>
              <a:gd name="adj" fmla="val 50909"/>
            </a:avLst>
          </a:prstGeom>
          <a:solidFill>
            <a:srgbClr val="D9A441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760720" y="1554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468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are available 90–120 days after signing. Social and digital versions are available ahead of the full channel launch.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6393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Exploitation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40233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is amenable to monetisation, digital TV platforms, subscriptions and international bundling — with advertising and partnership exploitation also do-able.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480974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Promotional Assets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640" y="519379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trailers and promotional montages follow upon agreement, ready to support launch and sales.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760" y="1691640"/>
            <a:ext cx="6858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3" name="Image 0" descr="/home/claude/build/logos/home_mast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2057400"/>
            <a:ext cx="548640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Africa's Premier OTT Platform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0" y="4251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Icons Limited  ·  08035382590  ·  @hometvafrica</a:t>
            </a:r>
            <a:endParaRPr lang="en-US" sz="1800" dirty="0"/>
          </a:p>
        </p:txBody>
      </p:sp>
      <p:pic>
        <p:nvPicPr>
          <p:cNvPr id="7" name="Image 1" descr="/home/claude/build/logos/colorbar_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6" y="5166360"/>
            <a:ext cx="402336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58064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Media Icons Africa for the Tattase TV project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ICONS AFRICA  ·  HOME TV.AFRICA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2026-08-09T12:05:50Z</dcterms:created>
  <dcterms:modified xsi:type="dcterms:W3CDTF">2026-08-09T12:05:50Z</dcterms:modified>
</cp:coreProperties>
</file>