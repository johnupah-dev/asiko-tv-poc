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 1</c:v>
                </c:pt>
              </c:strCache>
            </c:strRef>
          </c:tx>
          <c:spPr>
            <a:solidFill>
              <a:srgbClr val="C996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1E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EKS</c:v>
                  </c:pt>
                  <c:pt idx="1">
                    <c:v>Kulture Streams</c:v>
                  </c:pt>
                  <c:pt idx="2">
                    <c:v>Gen. Next</c:v>
                  </c:pt>
                  <c:pt idx="3">
                    <c:v>Miss Hotlegs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3413</c:v>
                </c:pt>
                <c:pt idx="1">
                  <c:v>0</c:v>
                </c:pt>
                <c:pt idx="2">
                  <c:v>0</c:v>
                </c:pt>
                <c:pt idx="3">
                  <c:v>36050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 2</c:v>
                </c:pt>
              </c:strCache>
            </c:strRef>
          </c:tx>
          <c:spPr>
            <a:solidFill>
              <a:srgbClr val="F1D2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1E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EKS</c:v>
                  </c:pt>
                  <c:pt idx="1">
                    <c:v>Kulture Streams</c:v>
                  </c:pt>
                  <c:pt idx="2">
                    <c:v>Gen. Next</c:v>
                  </c:pt>
                  <c:pt idx="3">
                    <c:v>Miss Hotlegs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118125</c:v>
                </c:pt>
                <c:pt idx="2">
                  <c:v>6825</c:v>
                </c:pt>
                <c:pt idx="3">
                  <c:v>105875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Year 3</c:v>
                </c:pt>
              </c:strCache>
            </c:strRef>
          </c:tx>
          <c:spPr>
            <a:solidFill>
              <a:srgbClr val="8A6B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1E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EKS</c:v>
                  </c:pt>
                  <c:pt idx="1">
                    <c:v>Kulture Streams</c:v>
                  </c:pt>
                  <c:pt idx="2">
                    <c:v>Gen. Next</c:v>
                  </c:pt>
                  <c:pt idx="3">
                    <c:v>Miss Hotlegs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511000</c:v>
                </c:pt>
                <c:pt idx="2">
                  <c:v>132300</c:v>
                </c:pt>
                <c:pt idx="3">
                  <c:v>209475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4F1E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F1E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A2A2A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4F1E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4F1E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996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481963</c:v>
                </c:pt>
                <c:pt idx="1">
                  <c:v>2068825</c:v>
                </c:pt>
                <c:pt idx="2">
                  <c:v>6617775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Expense</c:v>
                </c:pt>
              </c:strCache>
            </c:strRef>
          </c:tx>
          <c:spPr>
            <a:solidFill>
              <a:srgbClr val="5A5A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689850</c:v>
                </c:pt>
                <c:pt idx="1">
                  <c:v>2215500</c:v>
                </c:pt>
                <c:pt idx="2">
                  <c:v>5529195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4F1E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A2A2A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F1E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4F1E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Channel Sponsorship (A)</c:v>
                </c:pt>
              </c:strCache>
            </c:strRef>
          </c:tx>
          <c:spPr>
            <a:solidFill>
              <a:srgbClr val="C996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140000</c:v>
                </c:pt>
                <c:pt idx="1">
                  <c:v>660000</c:v>
                </c:pt>
                <c:pt idx="2">
                  <c:v>2125000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Entry Fees (B)</c:v>
                </c:pt>
              </c:strCache>
            </c:strRef>
          </c:tx>
          <c:spPr>
            <a:solidFill>
              <a:srgbClr val="F1D2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34500</c:v>
                </c:pt>
                <c:pt idx="1">
                  <c:v>233000</c:v>
                </c:pt>
                <c:pt idx="2">
                  <c:v>1160000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Voting (C)</c:v>
                </c:pt>
              </c:strCache>
            </c:strRef>
          </c:tx>
          <c:spPr>
            <a:solidFill>
              <a:srgbClr val="8A6B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39463</c:v>
                </c:pt>
                <c:pt idx="1">
                  <c:v>230825</c:v>
                </c:pt>
                <c:pt idx="2">
                  <c:v>852775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Event Sponsorship (D)</c:v>
                </c:pt>
              </c:strCache>
            </c:strRef>
          </c:tx>
          <c:spPr>
            <a:solidFill>
              <a:srgbClr val="6B54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190000</c:v>
                </c:pt>
                <c:pt idx="1">
                  <c:v>690000</c:v>
                </c:pt>
                <c:pt idx="2">
                  <c:v>1820000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Grants (E)</c:v>
                </c:pt>
              </c:strCache>
            </c:strRef>
          </c:tx>
          <c:spPr>
            <a:solidFill>
              <a:srgbClr val="4A4A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70000</c:v>
                </c:pt>
                <c:pt idx="1">
                  <c:v>220000</c:v>
                </c:pt>
                <c:pt idx="2">
                  <c:v>550000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Merch (F)</c:v>
                </c:pt>
              </c:strCache>
            </c:strRef>
          </c:tx>
          <c:spPr>
            <a:solidFill>
              <a:srgbClr val="2E2E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8000</c:v>
                </c:pt>
                <c:pt idx="1">
                  <c:v>35000</c:v>
                </c:pt>
                <c:pt idx="2">
                  <c:v>110000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4F1E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A2A2A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F1E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50">
              <a:solidFill>
                <a:srgbClr val="F4F1E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Year 3 Opex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9632"/>
              </a:solidFill>
              <a:effectLst/>
            </c:spPr>
          </c:dPt>
          <c:dPt>
            <c:idx val="1"/>
            <c:bubble3D val="0"/>
            <c:spPr>
              <a:solidFill>
                <a:srgbClr val="F1D28A"/>
              </a:solidFill>
              <a:effectLst/>
            </c:spPr>
          </c:dPt>
          <c:dPt>
            <c:idx val="2"/>
            <c:bubble3D val="0"/>
            <c:spPr>
              <a:solidFill>
                <a:srgbClr val="8A6B2E"/>
              </a:solidFill>
              <a:effectLst/>
            </c:spPr>
          </c:dPt>
          <c:dPt>
            <c:idx val="3"/>
            <c:bubble3D val="0"/>
            <c:spPr>
              <a:solidFill>
                <a:srgbClr val="6B5423"/>
              </a:solidFill>
              <a:effectLst/>
            </c:spPr>
          </c:dPt>
          <c:dPt>
            <c:idx val="4"/>
            <c:bubble3D val="0"/>
            <c:spPr>
              <a:solidFill>
                <a:srgbClr val="4A4A45"/>
              </a:solidFill>
              <a:effectLst/>
            </c:spPr>
          </c:dPt>
          <c:dPt>
            <c:idx val="5"/>
            <c:bubble3D val="0"/>
            <c:spPr>
              <a:solidFill>
                <a:srgbClr val="9A9A93"/>
              </a:solidFill>
              <a:effectLst/>
            </c:spPr>
          </c:dPt>
          <c:dPt>
            <c:idx val="6"/>
            <c:bubble3D val="0"/>
            <c:spPr>
              <a:solidFill>
                <a:srgbClr val="2E2E2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F1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F1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F1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F1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F1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F1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F1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Tech &amp; Platform</c:v>
                </c:pt>
                <c:pt idx="1">
                  <c:v>Content</c:v>
                </c:pt>
                <c:pt idx="2">
                  <c:v>Production &amp; Events</c:v>
                </c:pt>
                <c:pt idx="3">
                  <c:v>Marketing</c:v>
                </c:pt>
                <c:pt idx="4">
                  <c:v>Sales</c:v>
                </c:pt>
                <c:pt idx="5">
                  <c:v>Admin/HR/Staff</c:v>
                </c:pt>
                <c:pt idx="6">
                  <c:v>Contingency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380000</c:v>
                </c:pt>
                <c:pt idx="1">
                  <c:v>850000</c:v>
                </c:pt>
                <c:pt idx="2">
                  <c:v>950000</c:v>
                </c:pt>
                <c:pt idx="3">
                  <c:v>780000</c:v>
                </c:pt>
                <c:pt idx="4">
                  <c:v>753400</c:v>
                </c:pt>
                <c:pt idx="5">
                  <c:v>1552500</c:v>
                </c:pt>
                <c:pt idx="6">
                  <c:v>263295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4F1E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9632"/>
              </a:solidFill>
              <a:effectLst/>
            </c:spPr>
          </c:dPt>
          <c:dPt>
            <c:idx val="1"/>
            <c:bubble3D val="0"/>
            <c:spPr>
              <a:solidFill>
                <a:srgbClr val="F1D28A"/>
              </a:solidFill>
              <a:effectLst/>
            </c:spPr>
          </c:dPt>
          <c:dPt>
            <c:idx val="2"/>
            <c:bubble3D val="0"/>
            <c:spPr>
              <a:solidFill>
                <a:srgbClr val="8A6B2E"/>
              </a:solidFill>
              <a:effectLst/>
            </c:spPr>
          </c:dPt>
          <c:dPt>
            <c:idx val="3"/>
            <c:bubble3D val="0"/>
            <c:spPr>
              <a:solidFill>
                <a:srgbClr val="6B5423"/>
              </a:solidFill>
              <a:effectLst/>
            </c:spPr>
          </c:dPt>
          <c:dPt>
            <c:idx val="4"/>
            <c:bubble3D val="0"/>
            <c:spPr>
              <a:solidFill>
                <a:srgbClr val="4A4A45"/>
              </a:solidFill>
              <a:effectLst/>
            </c:spPr>
          </c:dPt>
          <c:dPt>
            <c:idx val="5"/>
            <c:bubble3D val="0"/>
            <c:spPr>
              <a:solidFill>
                <a:srgbClr val="9A9A93"/>
              </a:solidFill>
              <a:effectLst/>
            </c:spPr>
          </c:dPt>
          <c:dPt>
            <c:idx val="6"/>
            <c:bubble3D val="0"/>
            <c:spPr>
              <a:solidFill>
                <a:srgbClr val="2E2E2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F1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F1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F1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F1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F1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F1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4F1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Tech &amp; Platform</c:v>
                </c:pt>
                <c:pt idx="1">
                  <c:v>Content Fund</c:v>
                </c:pt>
                <c:pt idx="2">
                  <c:v>Production &amp; Events</c:v>
                </c:pt>
                <c:pt idx="3">
                  <c:v>Marketing</c:v>
                </c:pt>
                <c:pt idx="4">
                  <c:v>Sales</c:v>
                </c:pt>
                <c:pt idx="5">
                  <c:v>Admin/HR Buffer</c:v>
                </c:pt>
                <c:pt idx="6">
                  <c:v>Working Capital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700000</c:v>
                </c:pt>
                <c:pt idx="1">
                  <c:v>650000</c:v>
                </c:pt>
                <c:pt idx="2">
                  <c:v>900000</c:v>
                </c:pt>
                <c:pt idx="3">
                  <c:v>600000</c:v>
                </c:pt>
                <c:pt idx="4">
                  <c:v>250000</c:v>
                </c:pt>
                <c:pt idx="5">
                  <c:v>300000</c:v>
                </c:pt>
                <c:pt idx="6">
                  <c:v>100000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4F1E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ASIKO ECOSYSTEM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3246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SOUL OF AFRICA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9808" y="3703320"/>
            <a:ext cx="2011680" cy="0"/>
          </a:xfrm>
          <a:prstGeom prst="line">
            <a:avLst/>
          </a:prstGeom>
          <a:noFill/>
          <a:ln w="25400">
            <a:solidFill>
              <a:srgbClr val="C996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886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3-Year Funding Case for Africa's Pan-African FAST Platform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its Four Flagship Competitions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ASK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321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$3,500,000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263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Investor Review  |  Media Icons Africa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Idani Upah (ARPA), Managing Director  |  Lagos, Nigeria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Africa's streaming wars have a graveyard —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we know exactly why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Diaspora is disconnected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60M+ Africans abroad have no single trusted destination that keeps them and their children connected to home — content, culture, and community scattered across platforms built for someone else's market.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3429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Nollywood's monetization gap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9476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Nigeria's content economy is enormous, but the value rarely reaches producers or a Pan-African audience at scale — sponsorship, ad, and rights revenue leak out of the ecosystem.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4846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FAST platforms failed — but not for the reason people assume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212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MTN, Airtel, and GTB-backed platforms didn't collapse because ad-revenue-share is a bad model. They collapsed because promised revenue-share went unpaid for a year, and producers pulled every title out at once.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ICONS AFRICA  |  ASIKO ECOSYSTEM FUNDING PITCH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Asiko TV: a Pluto-style FAST platform,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own the African diaspora's attention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0848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channels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 per African country)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9659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37560" y="20848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category-exclusive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sectors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26480" y="20848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at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rollout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15400" y="19659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15400" y="20848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 competitions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content + votes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1064240" cy="2423160"/>
          </a:xfrm>
          <a:prstGeom prst="roundRect">
            <a:avLst>
              <a:gd name="adj" fmla="val 301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3794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avoids the graveyard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2245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22452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ad/sponsorship-funded FAST model — never SVOD — so it never repeats the rev-share promise that broke prior platforms.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6634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6634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Acquisition &amp; Guarantee Fund pays producers a guaranteed licence fee (not pure rev-share) — the fix identified by our own content-owner network.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10235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10235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exclusive brand per sector across 30 categories (telecom, fintech, FMCG, diaspora remittance, and more) — scarcity drives premium pricing.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54126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5541264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Diaspora-first distribution (UK/US/Canada/EU) monetized in hard currency, produced and operated from Lagos.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ICONS AFRICA  |  ASIKO ECOSYSTEM FUNDING PITCH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flagship competitions feed one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76272"/>
            <a:ext cx="320040" cy="320040"/>
          </a:xfrm>
          <a:prstGeom prst="rect">
            <a:avLst/>
          </a:prstGeom>
          <a:solidFill>
            <a:srgbClr val="C996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Kulture Streams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71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“Nollywood in Your Tongue” — AI-generated African folklore short films. Pan-African by Year 3, entry fees + AI-partner sponsorship + voting revenue.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82512" y="2176272"/>
            <a:ext cx="320040" cy="320040"/>
          </a:xfrm>
          <a:prstGeom prst="rect">
            <a:avLst/>
          </a:prstGeom>
          <a:solidFill>
            <a:srgbClr val="C996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82512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Edo Kulture Streams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2971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Edo State pilot of Kulture Streams — proves the model in Year 1 before national and Pan-African scale-up.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325112"/>
            <a:ext cx="320040" cy="320040"/>
          </a:xfrm>
          <a:prstGeom prst="rect">
            <a:avLst/>
          </a:prstGeom>
          <a:solidFill>
            <a:srgbClr val="C996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325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Next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5120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“Television Africa Entrepreneurs” — Pan-African media entrepreneurship competition; national selections across up to 54 countries by Year 3.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4069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2512" y="4325112"/>
            <a:ext cx="320040" cy="320040"/>
          </a:xfrm>
          <a:prstGeom prst="rect">
            <a:avLst/>
          </a:prstGeom>
          <a:solidFill>
            <a:srgbClr val="C996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82512" y="4325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Hotlegs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5120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Multi-country pageant (Ghana, Kenya, UK, South Africa) — diaspora-heavy audience, premium voting yield.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stream on Asiko TV and share its tech, sales, and marketing infrastructure — one cost base, four revenue engines.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ICONS AFRICA  |  ASIKO ECOSYSTEM FUNDING PITCH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revenue streams, built to be defensible line by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20391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391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&amp; Category Sponsorship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774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exclusive brand per sector, 30 sectors, Asiko TV-wide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26480" y="18745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27648" y="20391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20391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Entry Fees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3774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Kulture Streams / EKS entrants + Generation Next teams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49808" y="36393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393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/ USSD / App Voting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9776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SMS-USSD + diaspora app/web, net of telco &amp; gateway cut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34747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27648" y="36393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6393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/ Title Sponsorship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9776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Per-competition sponsors — automobile, insurance, fintech, FMCG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49808" y="5239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395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 / Government / Cultural Backing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5778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govts, embassies, Goethe-Institut/EU cultural networks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50749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27648" y="5239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52395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Merchandise &amp; Format Licensing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55778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merch + licensing the format to new markets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ICONS AFRICA  |  ASIKO ECOSYSTEM FUNDING PITCH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 — DEEP DIVE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SMS, USSD &amp; app voting: the differentiator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card (Year 1-3, held flat)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SMS/USSD — gross price/vote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2514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$0.065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484632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9169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— platform net take rate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9169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282696"/>
            <a:ext cx="484632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3192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— net revenue/vote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33192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$0.023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685032"/>
            <a:ext cx="484632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721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Diaspora app/web — gross price/vote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37216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087368"/>
            <a:ext cx="484632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1239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Diaspora — platform net take rate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41239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489704"/>
            <a:ext cx="484632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526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Diaspora — net revenue/vote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4526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65776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take-rate reflects the telco/gateway cut (industry norm 60-70% to telco). Diaspora take-rate is higher because direct card/mobile-money processing removes most intermediaries.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187452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4652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revenue by program ($)</a:t>
            </a:r>
            <a:endParaRPr lang="en-US" sz="13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309360" y="2423160"/>
          <a:ext cx="5120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ICONS AFRICA  |  ASIKO ECOSYSTEM FUNDING PITCH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3-year P&amp;L: a pilot posture that turns EBITDA-positive in Year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040880" cy="4206240"/>
          </a:xfrm>
          <a:prstGeom prst="roundRect">
            <a:avLst>
              <a:gd name="adj" fmla="val 173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77240" y="2011680"/>
          <a:ext cx="67665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53949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vs. Operating Expense ($)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818120" y="187452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467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EBITDA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286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7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-$207,888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818120" y="324612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4672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EBITDA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7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-$146,675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818120" y="461772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046720" y="4754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EBITDA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5029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B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+$1,088,580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ICONS AFRICA  |  ASIKO ECOSYSTEM FUNDING PITCH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— DEEP DIVE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Year 3's $6.6M comes from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223760" cy="4206240"/>
          </a:xfrm>
          <a:prstGeom prst="roundRect">
            <a:avLst>
              <a:gd name="adj" fmla="val 173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77240" y="2011680"/>
          <a:ext cx="69494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82880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18388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mix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 (A+D)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33272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59.6%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fees (B)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332720" y="28072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17.5%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31912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(C)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0332720" y="31912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3575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(E)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332720" y="35753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959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 (F)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0" y="39593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183880" y="44805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 dominates by design — category-exclusive brand deals scale faster than per-vote or per-entrant revenue and are the most defensible line in the model.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ICONS AFRICA  |  ASIKO ECOSYSTEM FUNDING PITCH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— DEEP DIVE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structure: where the $5.5M in Year 3 opex goes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760720" cy="4206240"/>
          </a:xfrm>
          <a:prstGeom prst="roundRect">
            <a:avLst>
              <a:gd name="adj" fmla="val 173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822960" y="20574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82880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7665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line items ($)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24231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Admin, HR &amp; Staff (45 FTE)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966960" y="24231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$1,552,500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28254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&amp; Events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966960" y="282549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$950,000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32278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Fund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966960" y="3227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$850,000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36301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966960" y="36301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$780,000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40325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(base + commission)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966960" y="40325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$753,400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44348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&amp; Platform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966960" y="44348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$380,000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48371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 (5%)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966960" y="483717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$263,295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766560" y="5257800"/>
            <a:ext cx="4663440" cy="0"/>
          </a:xfrm>
          <a:prstGeom prst="line">
            <a:avLst/>
          </a:prstGeom>
          <a:noFill/>
          <a:ln w="12700">
            <a:solidFill>
              <a:srgbClr val="C9963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66560" y="5330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Opex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784080" y="5330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$5,529,195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ICONS AFRICA  |  ASIKO ECOSYSTEM FUNDING PITCH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DE-RISKING THE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1-2 losses aren't a leak — they're a controlled 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2996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Year 1-2 EBITDA burn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20299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-$354,563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202996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cost of proving the model in Edo/Nigeria before Pan-African scale-up.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1272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growth, Year 1 → Year 3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31272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13.7x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312724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 by sponsor count, entrant volume, and vote volume — every driver is a stated, editable assumption.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2245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penetration by Year 3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42245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of 30 target sectors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422452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leaves headroom — the model doesn't assume we saturate the market to hit these numbers.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53218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count by Year 3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53218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~108 of ~108 planned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532180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rollout matches the stated 2-per-country strategy across 54 African countries.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ICONS AFRICA  |  ASIKO ECOSYSTEM FUNDING PITCH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 funds: $3,500,000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822960" y="2057400"/>
          <a:ext cx="52120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874520"/>
            <a:ext cx="5349240" cy="530352"/>
          </a:xfrm>
          <a:prstGeom prst="roundRect">
            <a:avLst>
              <a:gd name="adj" fmla="val 13793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187452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Platform Build-out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187452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$700,000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0881360" y="187452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63640" y="2482596"/>
            <a:ext cx="5349240" cy="530352"/>
          </a:xfrm>
          <a:prstGeom prst="roundRect">
            <a:avLst>
              <a:gd name="adj" fmla="val 13793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248259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Acquisition &amp; Guarantee Fund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9966960" y="248259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$650,000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0881360" y="248259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63640" y="3090672"/>
            <a:ext cx="5349240" cy="530352"/>
          </a:xfrm>
          <a:prstGeom prst="roundRect">
            <a:avLst>
              <a:gd name="adj" fmla="val 13793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309067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Production &amp; Events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9966960" y="309067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$900,000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0881360" y="309067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25.7%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263640" y="3698748"/>
            <a:ext cx="5349240" cy="530352"/>
          </a:xfrm>
          <a:prstGeom prst="roundRect">
            <a:avLst>
              <a:gd name="adj" fmla="val 13793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46520" y="369874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Audience Acquisition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966960" y="369874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$600,000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0881360" y="369874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263640" y="4306824"/>
            <a:ext cx="5349240" cy="530352"/>
          </a:xfrm>
          <a:prstGeom prst="roundRect">
            <a:avLst>
              <a:gd name="adj" fmla="val 13793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46520" y="430682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Team &amp; Infrastructure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966960" y="430682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$250,000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10881360" y="430682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63640" y="4914900"/>
            <a:ext cx="5349240" cy="530352"/>
          </a:xfrm>
          <a:prstGeom prst="roundRect">
            <a:avLst>
              <a:gd name="adj" fmla="val 13793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46520" y="491490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Admin, HR &amp; Core Staffing Buffer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9966960" y="49149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$300,000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10881360" y="491490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263640" y="5522976"/>
            <a:ext cx="5349240" cy="530352"/>
          </a:xfrm>
          <a:prstGeom prst="roundRect">
            <a:avLst>
              <a:gd name="adj" fmla="val 13793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46520" y="552297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 / Contingency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9966960" y="552297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$100,000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10881360" y="552297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ICONS AFRICA  |  ASIKO ECOSYSTEM FUNDING PITCH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years: pilot → national → Pan-African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Edo Kulture Streams launches in Edo State. Generation Next runs a Nigeria pilot. Miss Hotlegs finals across Ghana/Kenya/UK/South Africa. Asiko TV soft-launches ~7-20 channels, Nigeria + early UK/US diaspora.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SCALE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29184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Kulture Streams goes Nigeria-wide. Generation Next expands to 10 African countries. Asiko TV scales to ~50 channels; UK/US/Canada/EU diaspora markets fully active.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151515"/>
          </a:solidFill>
          <a:ln w="12700">
            <a:solidFill>
              <a:srgbClr val="C9963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03920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PAN-AFRICAN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29184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Kulture Streams and Generation Next go Pan-African across 54 countries. Asiko TV reaches its full ~108-channel footprint. Miss Hotlegs adds further markets.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ICONS AFRICA  |  ASIKO ECOSYSTEM FUNDING PITCH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MEDIA ICONS AFRICA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 years of Nigerian media monetization,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1D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first-time platform bet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 years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6517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Nigeria's media, broadcasting, and advertising industry, led by Managing Director John Idani Upah (ARPA)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9659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82512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divisions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382512" y="26517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one holding brand — ad sales, TV station build-out, events, sales academy, sports agency, digital, production, and more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4672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partners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7091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Wines of South Africa (3-4 year running relationship) and Brandrus (Alimosho Fashion Week &amp; Food Fair)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40233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82512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Since Nov 2005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47091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Icons Africa (Tattase TV) has operated as a Lagos-based media sales house and content curator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ICONS AFRICA  |  ASIKO ECOSYSTEM FUNDING PITCH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17830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$3,500,000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803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fund a 3-year, fully-costed build of the Asiko Ecosystem —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tech, content, production, marketing, sales, and staffing —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working-capital reserve built 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42793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of the pitch, in one line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720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1D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grows 13.7x over 3 years; EBITDA turns positive at +$1.09M in Year 3.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411480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0" y="4279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Idani Upah (ARPA)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Director, Media Icons Africa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john.upah@mediaiconsltd.com  |  +234 803 538 2590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Media Icons Africa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2026-09-04T09:14:25Z</dcterms:created>
  <dcterms:modified xsi:type="dcterms:W3CDTF">2026-09-04T09:14:25Z</dcterms:modified>
</cp:coreProperties>
</file>