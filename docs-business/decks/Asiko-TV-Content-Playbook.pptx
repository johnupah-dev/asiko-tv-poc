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51515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389120"/>
            <a:ext cx="4572000" cy="4572000"/>
          </a:xfrm>
          <a:prstGeom prst="ellipse">
            <a:avLst/>
          </a:prstGeom>
          <a:solidFill>
            <a:srgbClr val="15151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ASIKO TV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Playbook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 ·  Purchase  ·  Onboarding  ·  Monetisation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251960"/>
            <a:ext cx="2011680" cy="0"/>
          </a:xfrm>
          <a:prstGeom prst="line">
            <a:avLst/>
          </a:prstGeom>
          <a:noFill/>
          <a:ln w="25400">
            <a:solidFill>
              <a:srgbClr val="C996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480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definitive framework for acquiring, onboarding, and monetising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Nollywood content on a linear FAST platform.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Media Icons Africa  |  Asiko TV Content &amp; Partnerships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phases, one continuous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pure ad-supported FAST platform, content acquisition and ad monetisation are two ends of the same pipe — not separate workstreams.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274320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747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tiers, fee structure, MG vs rev-share, exclusivity terms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32461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91840" y="2148840"/>
            <a:ext cx="2514600" cy="274320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377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4747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agreement, rights, territory, deliverables schedule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32461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035040" y="2148840"/>
            <a:ext cx="2514600" cy="274320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377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4747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spec, HDD/cloud delivery, technical QC, scheduling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32461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778240" y="2148840"/>
            <a:ext cx="2514600" cy="2743200"/>
          </a:xfrm>
          <a:prstGeom prst="rect">
            <a:avLst/>
          </a:prstGeom>
          <a:solidFill>
            <a:srgbClr val="050505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06840" y="2377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Monetise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4747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SSAI ad stack, inventory design, category-exclusive sponsorship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principle: prove the model on a pilot batch before scaling content volume and advertiser tiers together.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things stand with the Blessing Agofure network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82880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048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genres requested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706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Epic, Contemporary/Glamour, Igbo, Hausa, Yoruba, Series, Comedy, Classics, Premiere, B-Rated/Street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3429000" cy="182880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4048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titles/genre offered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7706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~NGN 70M for 500 movies before series pricing — exact per-title cost still pending QC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3429000" cy="182880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4048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tracks available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7706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confirmed available in Hausa, Yoruba and Igbo, beyond the movie catalogue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items to resolve next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062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exact per-title QC and cost band across all 10 genres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the series catalogue separately (Hausa, Yoruba, Igbo)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delivery format and HDD handover logistics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availability discussion to draft licence terms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3794760"/>
            <a:ext cx="4937760" cy="242316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95160" y="3977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Negotiating posture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434340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guaranteed fee + fixed payment schedule, not pure ad-revenue-share — this directly answers the trust gap left by prior platforms (MTN, Airtel, GTB) that promised rev-share and didn’t pay.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063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31520" y="4069080"/>
            <a:ext cx="1463040" cy="0"/>
          </a:xfrm>
          <a:prstGeom prst="line">
            <a:avLst/>
          </a:prstGeom>
          <a:noFill/>
          <a:ln w="25400">
            <a:solidFill>
              <a:srgbClr val="C996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251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framework before a single title is discussed line-by-line.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NEGOTIATION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57255" y="457200"/>
            <a:ext cx="548640" cy="54864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57255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tiers and negotiation levers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TIERS BEFORE THE TABLE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429000" cy="141732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/ First-Window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9631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Fresh, exclusive, high-demand titles — top of the fee band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874520"/>
            <a:ext cx="3429000" cy="141732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Catalogue (1–3 yrs)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49631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fee band, non-exclusive acceptable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3429000" cy="141732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Catalogue / Library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49631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fee band, bulk/volume pricing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LEVERS YOU CONTROL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3192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Volume-for-rate: bulk commitment in exchange for lower per-title cost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Exclusivity-for-premium: pay more only for exclusive/first-window rights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cadence as a bargaining chip: faster pay can offset a lower headline fee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Bundling: pair weaker titles with stronger ones as a package rate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MFN clause: offered to top-volume partners in exchange for rate discipline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NEGOTIATION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57255" y="457200"/>
            <a:ext cx="548640" cy="54864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57255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bring, and what to probe for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29768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Per-title negotiation kit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synopsis, cast/crew, genre, year, runtime, rating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desired and exclusivity ask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length and proposed fee band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deliverables list: master, trailer, BTS, promos, short-form cutdown rights, key art, stills, subtitles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429768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flags to probe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2860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or undocumented chain of title — common in older catalogue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Music/soundtrack rights not cleared separately from the film licence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already exclusively licensed to a competing platform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NFVCB classification or certificate on file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063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&amp; Licensing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31520" y="4069080"/>
            <a:ext cx="1463040" cy="0"/>
          </a:xfrm>
          <a:prstGeom prst="line">
            <a:avLst/>
          </a:prstGeom>
          <a:noFill/>
          <a:ln w="25400">
            <a:solidFill>
              <a:srgbClr val="C996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251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agreed terms into a defensible, auditable licence agreement.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PURCHASE &amp; LICENSING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57255" y="457200"/>
            <a:ext cx="548640" cy="54864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57255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contract terms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73352"/>
            <a:ext cx="128016" cy="128016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5544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Rights granted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8562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FAST/linear, VOD if any, mobile, IPTV — plus explicit short-form/social cutdown rights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73352"/>
            <a:ext cx="128016" cy="128016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5544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Territory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8562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cover diaspora markets (UK/US/Canada/Europe), not just Nigeria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724912"/>
            <a:ext cx="128016" cy="128016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606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&amp; renewal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90779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renewal mechanism, rate escalation on renewal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724912"/>
            <a:ext cx="128016" cy="128016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606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Exclusivity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90779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vs non-exclusive, and any restriction on competing platforms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776472"/>
            <a:ext cx="128016" cy="128016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6576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&amp; payment schedule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95935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currency, instalments vs lump sum, Net-terms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776472"/>
            <a:ext cx="128016" cy="128016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36576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obligations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95935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data owed to the rights holder, and cadence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828032"/>
            <a:ext cx="128016" cy="128016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709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rights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01091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pre-roll/mid-roll/sponsorship monetisation without further consent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4828032"/>
            <a:ext cx="128016" cy="128016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92240" y="4709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Indemnity &amp; takedown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501091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if a rights dispute surfaces after the title is live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PURCHASE &amp; LICENSING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57255" y="457200"/>
            <a:ext cx="548640" cy="54864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57255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Per-title deliverables checklist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480560"/>
        </p:xfrm>
        <a:graphic>
          <a:graphicData uri="http://schemas.openxmlformats.org/drawingml/2006/table">
            <a:tbl>
              <a:tblPr/>
              <a:tblGrid>
                <a:gridCol w="2880360"/>
                <a:gridCol w="2743200"/>
                <a:gridCol w="274320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 Assets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 Assets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/ Compliance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file (broadcast spec)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Long/short synopsis + logline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art (with/without title)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NFVCB classification/certificate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Trailer(s) — official + teaser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 &amp; crew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Stills (5–10 per title)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BTS footage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Genre/category tags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 headshots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warnings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Promos (15/30 sec cutdowns)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year, runtime, 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kit / EPK if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Subtitle/caption files (SRT/VTT)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Short-form clip source + rights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Language(s)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crops (square/vertical)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Deleted/bonus scenes if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063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Format, Delivery &amp; Onboarding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31520" y="4069080"/>
            <a:ext cx="1463040" cy="0"/>
          </a:xfrm>
          <a:prstGeom prst="line">
            <a:avLst/>
          </a:prstGeom>
          <a:noFill/>
          <a:ln w="25400">
            <a:solidFill>
              <a:srgbClr val="C996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251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drives to a scheduled, ad-marked, cloud-hosted channel slot.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FORMAT, DELIVERY &amp; ONBOARDING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57255" y="457200"/>
            <a:ext cx="548640" cy="54864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57255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delivery specification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77724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73352"/>
            <a:ext cx="1554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673352"/>
            <a:ext cx="3383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(H.264) or MOV source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77724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73352"/>
            <a:ext cx="1554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codec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1673352"/>
            <a:ext cx="3383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H.264 (confirm H.265/HEVC support with Bunny Stream)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5394960" cy="77724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587752"/>
            <a:ext cx="1554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587752"/>
            <a:ext cx="3383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 minimum; 720p floor only for legacy catalogue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5394960" cy="77724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587752"/>
            <a:ext cx="1554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Bitrate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587752"/>
            <a:ext cx="3383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Mbps source for 1080p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5394960" cy="77724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502152"/>
            <a:ext cx="1554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3502152"/>
            <a:ext cx="3383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AAC, 128–192kbps min; ask about 5.1 for premium titles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429000"/>
            <a:ext cx="5394960" cy="77724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502152"/>
            <a:ext cx="1554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rate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3502152"/>
            <a:ext cx="3383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25fps (PAL) — flag mixed-frame-rate masters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5394960" cy="77724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416552"/>
            <a:ext cx="1554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4416552"/>
            <a:ext cx="3383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SRT/VTT files, not burned-in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4343400"/>
            <a:ext cx="5394960" cy="77724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0" y="4416552"/>
            <a:ext cx="1554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ratio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4416552"/>
            <a:ext cx="3383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 — flag/rework any 4:3 or pillarboxed masters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Blessing’s team’s actual master specs before finalising — older catalogue titles may need a lower accepted floor rather than outright rejection.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FORMAT, DELIVERY &amp; ONBOARDING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57255" y="457200"/>
            <a:ext cx="548640" cy="54864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57255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HDD for bulk handoff, cloud for everything after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920240" cy="118872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 delivery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Blessing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1691640"/>
            <a:ext cx="1920240" cy="118872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QC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transcoding check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0640" y="1691640"/>
            <a:ext cx="1920240" cy="118872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57800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cloud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(Bunny Stream/staging)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06640" y="1691640"/>
            <a:ext cx="1920240" cy="118872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43800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+ ad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in Hercules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92640" y="1691640"/>
            <a:ext cx="1920240" cy="118872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29800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829800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returned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wiped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SPLIT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61188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titles at broadcast quality is easily terabytes — uploading that over standard broadband would take weeks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handoff is still standard global practice for bulk library acquisitions, not a legacy shortcut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HDDs alone are a single point of failure — loss, damage, or theft with no redundancy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ingested, content should live in cloud storage as part of the QC pipeline, not stay parked on a drive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ongoing deliveries (post-bulk-load) shift naturally to direct cloud/FTP transfer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FORMAT, DELIVERY &amp; ONBOARDING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57255" y="457200"/>
            <a:ext cx="548640" cy="54864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57255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workflow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205740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Ingestion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masters vs. spec; reject and re-request if below floor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Insert/confirm SCTE-35 ad-break cue points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subtitle/caption files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metadata into Hercules CMS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205740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&amp; Compliance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031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NFVCB classification vs. destination-market standards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titles needing a TV-safe/censored cut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content warnings at metadata level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94960" cy="205740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023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Placement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891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correct channel bucket / genre lineup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EPG schedule slot(s) and day-part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rotation/refresh cadence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886200"/>
            <a:ext cx="5394960" cy="205740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4023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Rights Record-Keeping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3891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licence, chain-of-title, NFVCB cert against the title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term-expiry alerts (60/30 days before licence end)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partner status update once title is live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151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063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Monetisation — Ad-First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31520" y="4069080"/>
            <a:ext cx="1463040" cy="0"/>
          </a:xfrm>
          <a:prstGeom prst="line">
            <a:avLst/>
          </a:prstGeom>
          <a:noFill/>
          <a:ln w="25400">
            <a:solidFill>
              <a:srgbClr val="C996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251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pure FAST platform, the ad stack IS the business model, not a bolt-on.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MONETISATION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57255" y="457200"/>
            <a:ext cx="548640" cy="54864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57255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 tech stack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73352"/>
            <a:ext cx="292608" cy="292608"/>
          </a:xfrm>
          <a:prstGeom prst="ellipse">
            <a:avLst/>
          </a:prstGeom>
          <a:solidFill>
            <a:srgbClr val="05050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18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server / SSAI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6184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insertion stitches ads seamlessly into linear streams — confirm Bunny Stream/CloudStream native support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292608" cy="292608"/>
          </a:xfrm>
          <a:prstGeom prst="ellipse">
            <a:avLst/>
          </a:prstGeom>
          <a:solidFill>
            <a:srgbClr val="05050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597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SCTE-35 cue points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45973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at ingestion on every title so ad breaks fire reliably and consistently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55848"/>
            <a:ext cx="292608" cy="292608"/>
          </a:xfrm>
          <a:prstGeom prst="ellipse">
            <a:avLst/>
          </a:prstGeom>
          <a:solidFill>
            <a:srgbClr val="05050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300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decisioning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3009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scheduling/trafficking for direct-sold; programmatic (SSP) only after direct revenue is proven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97096"/>
            <a:ext cx="292608" cy="292608"/>
          </a:xfrm>
          <a:prstGeom prst="ellipse">
            <a:avLst/>
          </a:prstGeom>
          <a:solidFill>
            <a:srgbClr val="05050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142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capping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41422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same ad repeating in a session — protects advertiser satisfaction and renewal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038344"/>
            <a:ext cx="292608" cy="292608"/>
          </a:xfrm>
          <a:prstGeom prst="ellipse">
            <a:avLst/>
          </a:prstGeom>
          <a:solidFill>
            <a:srgbClr val="05050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038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983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&amp; verification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4983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Impressions, completion rate, audience segments — what justifies premium CPMs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MONETISATION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57255" y="457200"/>
            <a:ext cx="548640" cy="54864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57255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Monetisation packaging, by tier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420624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Category-Exclusive Channel Sponsor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advertiser per sector across ~30 target sectors — the anchor/premium package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06040" cy="420624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40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/ Flight Buys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3832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Shorter-term direct-sold campaigns for advertisers not ready for exclusivity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420624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240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Sponsorship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3832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“Brought to you by” against a specific title or franchise — easy entry point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52560" y="1691640"/>
            <a:ext cx="2606040" cy="420624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44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240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 / Remnant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33832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Ad-exchange demand fills unsold inventory — protects yield without empty slots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MONETISATION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57255" y="457200"/>
            <a:ext cx="548640" cy="54864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57255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sales ops, and the metrics that matter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OPERATIONS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kit: reach, diaspora audience composition, formats, case studies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card: CPM by ad format and channel tier, premium for exclusivity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pipeline mapped to 30 sectors via MIPAN, ADVAN, EXMAN contacts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Trafficking: booking → creative QC → scheduling → monitoring → reporting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collections: fast advertiser collection vs. reliable content payout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394960" cy="43434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FAST METRICS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rate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ad inventory actually sold — the single biggest driver of whether the model works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7614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 achieved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2761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Direct-sold vs. programmatic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4198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session length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4198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total ad exposure per viewer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0782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rate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40782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and content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7365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by channel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4736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which content is worth paying more to retain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sequencing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21308" y="1828800"/>
            <a:ext cx="512064" cy="512064"/>
          </a:xfrm>
          <a:prstGeom prst="ellipse">
            <a:avLst/>
          </a:prstGeom>
          <a:solidFill>
            <a:srgbClr val="05050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21308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framework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tiers, contract terms, technical spec finalised internally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2084832"/>
            <a:ext cx="194310" cy="0"/>
          </a:xfrm>
          <a:prstGeom prst="line">
            <a:avLst/>
          </a:prstGeom>
          <a:noFill/>
          <a:ln w="19050">
            <a:solidFill>
              <a:srgbClr val="E8E1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73018" y="1828800"/>
            <a:ext cx="512064" cy="512064"/>
          </a:xfrm>
          <a:prstGeom prst="ellipse">
            <a:avLst/>
          </a:prstGeom>
          <a:solidFill>
            <a:srgbClr val="05050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3018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800350" y="2514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batch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00350" y="30632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first licence agreements with Blessing’s network — not all titles at once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57750" y="2084832"/>
            <a:ext cx="194310" cy="0"/>
          </a:xfrm>
          <a:prstGeom prst="line">
            <a:avLst/>
          </a:prstGeom>
          <a:noFill/>
          <a:ln w="19050">
            <a:solidFill>
              <a:srgbClr val="E8E1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24728" y="1828800"/>
            <a:ext cx="512064" cy="512064"/>
          </a:xfrm>
          <a:prstGeom prst="ellipse">
            <a:avLst/>
          </a:prstGeom>
          <a:solidFill>
            <a:srgbClr val="05050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24728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52060" y="2514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onboarding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52060" y="30632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QC, metadata, ad markers on pilot titles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09460" y="2084832"/>
            <a:ext cx="194310" cy="0"/>
          </a:xfrm>
          <a:prstGeom prst="line">
            <a:avLst/>
          </a:prstGeom>
          <a:noFill/>
          <a:ln w="19050">
            <a:solidFill>
              <a:srgbClr val="E8E1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76438" y="1828800"/>
            <a:ext cx="512064" cy="512064"/>
          </a:xfrm>
          <a:prstGeom prst="ellipse">
            <a:avLst/>
          </a:prstGeom>
          <a:solidFill>
            <a:srgbClr val="05050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76438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03770" y="2514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ad sales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03770" y="30632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against the pilot lineup using the category-exclusivity model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361170" y="2084832"/>
            <a:ext cx="194310" cy="0"/>
          </a:xfrm>
          <a:prstGeom prst="line">
            <a:avLst/>
          </a:prstGeom>
          <a:noFill/>
          <a:ln w="19050">
            <a:solidFill>
              <a:srgbClr val="E8E1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28148" y="1828800"/>
            <a:ext cx="512064" cy="512064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328148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555480" y="2514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with data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30632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 fill-rate/CPM results to grow content volume and advertiser tiers together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F8F4EB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scale content volume and advertiser count in isolation — let pilot performance data set the pace for both.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TV  ·  CONTENT PLAYBOOK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2026-09-02T15:05:34Z</dcterms:created>
  <dcterms:modified xsi:type="dcterms:W3CDTF">2026-09-02T15:05:34Z</dcterms:modified>
</cp:coreProperties>
</file>