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A7E7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8A7E73"/>
                </a:solidFill>
                <a:latin typeface="Arial"/>
              </a:rPr>
              <a:t>Weighting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1502E"/>
              </a:solidFill>
              <a:effectLst/>
            </c:spPr>
          </c:dPt>
          <c:dPt>
            <c:idx val="1"/>
            <c:bubble3D val="0"/>
            <c:spPr>
              <a:solidFill>
                <a:srgbClr val="E8A9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Jury</c:v>
                </c:pt>
                <c:pt idx="1">
                  <c:v>Public Vote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4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241C16"/>
          </a:solidFill>
          <a:ln w="12700">
            <a:solidFill>
              <a:srgbClr val="E8A9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3749040" cy="3749040"/>
          </a:xfrm>
          <a:prstGeom prst="ellipse">
            <a:avLst/>
          </a:prstGeom>
          <a:ln w="12700">
            <a:solidFill>
              <a:srgbClr val="C150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 PRESENTS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TELEVISION AFRICA ENTREPRENEURS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NEXT!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African Story. Own the Narrative. Build the Future.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9050">
            <a:solidFill>
              <a:srgbClr val="E8A9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Pan-African Television, Media &amp; Content Entrepreneurship Competition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09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ASIKO / ASIKO.AFRICA  •  Media Icons Africa   |   Technology Partner: Enveu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PARTNERSHIP &amp; INVESTMENT PROSPECTUS  —  PROJECT BREAKDOWN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Media Icons Africa  •  John Idani Upah, Managing Director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 doesn't have a shortage of stories.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 shortage of African-owned platforms, distribution systems, investment and commercial infrastructure capable of turning those stories into sustainable media enterprises.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0424160" cy="9144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“Generation Next!” </a:t>
            </a:r>
            <a:pPr indent="0" marL="0">
              <a:buNone/>
            </a:pPr>
            <a:r>
              <a:rPr lang="en-US" sz="13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that — discovering the next generation of TV channel owners, OTT entrepreneurs, producers, broadcasters, show creators, documentary makers, cultural storytellers, sports-content entrepreneurs, tourism storytellers, digital publishers, media-tech entrepreneurs and production companies.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566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356616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3566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356616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3566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356616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3566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Support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42976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00400" y="4297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42976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0" y="4297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2976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4297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0292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Development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502920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00400" y="50292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Readiness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52160" y="502920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7F1E8"/>
          </a:solidFill>
          <a:ln w="9525">
            <a:solidFill>
              <a:srgbClr val="E6DCC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52160" y="50292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ASIKO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objective: find the people who will tell Africa's stories to Africa and the world — and give them the infrastructure to own those stories.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African stories are created locally — and commercialised elsewhere.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74920" cy="4160520"/>
          </a:xfrm>
          <a:prstGeom prst="roundRect">
            <a:avLst>
              <a:gd name="adj" fmla="val 1319"/>
            </a:avLst>
          </a:prstGeom>
          <a:solidFill>
            <a:srgbClr val="F7F1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AFRICA HAS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526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television ideas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YouTube channels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documentaries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cultural stories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local productions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sports concepts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tourism ideas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presenters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production skills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5074920" cy="4160520"/>
          </a:xfrm>
          <a:prstGeom prst="roundRect">
            <a:avLst>
              <a:gd name="adj" fmla="val 1319"/>
            </a:avLst>
          </a:prstGeom>
          <a:solidFill>
            <a:srgbClr val="1A151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9659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377440"/>
            <a:ext cx="4526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branding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training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infrastructure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access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expertise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exposure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development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management knowledge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strategy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access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5486400" cy="5486400"/>
          </a:xfrm>
          <a:prstGeom prst="ellipse">
            <a:avLst/>
          </a:prstGeom>
          <a:solidFill>
            <a:srgbClr val="241C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COMPETITION'S CENTRAL PROMISE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 must not merely be the subject of global media.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must increasingly become the owner, producer, distributor and commercial beneficiary of its own stories.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1064240" cy="0"/>
          </a:xfrm>
          <a:prstGeom prst="line">
            <a:avLst/>
          </a:prstGeom>
          <a:noFill/>
          <a:ln w="12700">
            <a:solidFill>
              <a:srgbClr val="C150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566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African story do you believe the world needs to see?”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0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4434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you turn that story into a sustainable television or media business?”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AFRICAN STORY.  OWN THE NARRATIVE.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5544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299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02996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&amp; commercial engine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50545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Enveu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50545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OTT enablement partner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9809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embassies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298094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cultural &amp; market gateways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48456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4564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Goethe-Institut / EU networks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45643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Culture, training &amp; internationalisation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9319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 (proposed)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393192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sports/media ecosystem partner — not assumed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99432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4074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authorities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440740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storytelling &amp; travel conversion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8828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sponsors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343400" y="488289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550408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35838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African entrepreneurs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535838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 and the stories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52360" y="1481328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1A151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266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FLOW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2011680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2345436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726680" y="2679192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3012948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726680" y="3346704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Development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726680" y="3680460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Channel / Programme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4014216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726680" y="4347972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726680" y="4681728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726680" y="5015484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726680" y="5349240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Distribution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726680" y="5682996"/>
            <a:ext cx="35661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African Media Businesses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enter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citizens, residents and legally established creative/media businesses across participating African countries, subject to the official eligibility rules.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429000" cy="3749040"/>
          </a:xfrm>
          <a:prstGeom prst="roundRect">
            <a:avLst>
              <a:gd name="adj" fmla="val 1867"/>
            </a:avLst>
          </a:prstGeom>
          <a:solidFill>
            <a:srgbClr val="F7F1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048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entrepreneurs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Filmmakers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/ graduates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professionals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2148840"/>
            <a:ext cx="3429000" cy="3749040"/>
          </a:xfrm>
          <a:prstGeom prst="roundRect">
            <a:avLst>
              <a:gd name="adj" fmla="val 1867"/>
            </a:avLst>
          </a:prstGeom>
          <a:solidFill>
            <a:srgbClr val="1A15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24048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92608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Technologists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2148840"/>
            <a:ext cx="3429000" cy="3749040"/>
          </a:xfrm>
          <a:prstGeom prst="roundRect">
            <a:avLst>
              <a:gd name="adj" fmla="val 1867"/>
            </a:avLst>
          </a:prstGeom>
          <a:solidFill>
            <a:srgbClr val="F7F1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4048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292608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companies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broadcasters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 companies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studios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organisations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Tourism-content companies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competition tracks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7F1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013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TV Channel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an original television / FAST / OTT channel — news, youth, women, business, fashion, culture, music, sports, tourism, food, film, comedy, religion, education, children, documentary or regional storytelling. Submit: concept, name, target audience, programming strategy, sample schedule, branding, trailer/promo, monetisation model.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0" y="16002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7F1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17647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8013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Big Show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TV programme that could become a major African format — reality, game show, talk show, documentary, magazine, travel, lifestyle, business, music, sports, youth, culture, comedy or talent. The test: “Would millions of Africans want to watch this every week?”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7F1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0965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1330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Our Story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177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documentary / factual storytelling category — African history, culture, heritage, food, fashion, music, people, cities, tourism, entrepreneurship, innovation, migration, diaspora and traditional knowledge. Where the cultural partnership opportunity becomes especially powerful.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393192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7F1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80760" y="40965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1330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 Entrepreneur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46177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programme required — pitch the media business you want to build: OTT channel, streaming service, production company, content network, sports/tourism/cultural media business, digital TV brand or regional network. Judges assess the business, not just the idea.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from every country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participating African countries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9659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8A7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737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finalists per country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9659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8A7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6675120" y="160020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241C16"/>
          </a:solidFill>
          <a:ln w="12700">
            <a:solidFill>
              <a:srgbClr val="E8A9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1783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270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finalists across the continent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national finalist receives: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241C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recognition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416052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241C1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8912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exposure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416052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241C1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9244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evaluation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241C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mentoring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480060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241C1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support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480060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241C1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9244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promotion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241C1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appear on the platform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544068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241C1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38912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access sponsors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544068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241C1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9244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develop their concept commercially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finalists then enter the Pan-African phase.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PARTNERS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country needs a national partner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participating country carries an “Official Generation Next Partner” — decentralising funding so ASIKO does not have to finance all 54 countries itself.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ANY OF: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Telecommunications company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350008" y="23774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Bank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151376" y="23774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Fintech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15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Airline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350008" y="2715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Beverage company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151376" y="2715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Technology company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540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Media group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350008" y="30540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Consumer brand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151376" y="30540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Insurance company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924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Tourism company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350008" y="33924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Government agency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51376" y="33924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National broadcaster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307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Private corporation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20574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1A151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2240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 NIGERIA — Official Partner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 GHANA — Official Partner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 KENYA — Official Partner  (etc.)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national partners receive: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7091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branding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73552" y="470916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64992" y="47091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rights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98464" y="470916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89904" y="47091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campaign exposure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723376" y="470916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14816" y="47091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platform visibility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5184648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51846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exposure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73552" y="5184648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64992" y="51846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finalist content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98464" y="5184648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89904" y="51846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interviews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723376" y="5184648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14816" y="51846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integrations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5660136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5660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access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73552" y="5660136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364992" y="5660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positioning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98464" y="5660136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089904" y="5660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empowerment positioning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723376" y="5660136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814816" y="5660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campaign reporting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23620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sponsor isn't buying advertising — it's investing in Africa's next media generation.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DIPLOMATIC &amp; TOURISM PARTNERS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gateways, not just sponsors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1429"/>
            </a:avLst>
          </a:prstGeom>
          <a:solidFill>
            <a:srgbClr val="F7F1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EMBASSIES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Cultural &amp; Market Partners, not simply sponsors. Missions can assist with: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participation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validation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national institutions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promotion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storytelling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promotion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exchange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engagement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ASIKO to national content owners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entrepreneurs with local ecosystems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your country tell its story to Africa and the world.”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5669280" cy="4480560"/>
          </a:xfrm>
          <a:prstGeom prst="roundRect">
            <a:avLst>
              <a:gd name="adj" fmla="val 1429"/>
            </a:avLst>
          </a:prstGeom>
          <a:solidFill>
            <a:srgbClr val="1A151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TOURISM CONNECTION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148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has places, people, festivals, food, music, history, wildlife, heritage, fashion, cities, beaches, mountains, architecture and culture.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063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AFRICA I KNOW”  &amp;  “DISCOVER AFRICA”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611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initiatives — e.g. a Senegal finalist tells the story of Dakar; a Kenyan finalist, the Maasai Mara; a Nigerian finalist, Lagos, Benin, Calabar, Kano or the Niger Delta.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4663440"/>
            <a:ext cx="5120640" cy="0"/>
          </a:xfrm>
          <a:prstGeom prst="line">
            <a:avLst/>
          </a:prstGeom>
          <a:noFill/>
          <a:ln w="12700">
            <a:solidFill>
              <a:srgbClr val="C150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4846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becomes: Media + Tourism + Culture + Commerce.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5486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authorities can commission content directly from finalists (e.g. Discover Rwanda, My Lagos, Hidden Ghana, Experience Senegal, Taste Ethiopia, Explore Kenya) — turning storytelling into destination marketing.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&amp; CREATIVE DEVELOPMENT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Goethe-Institut / cultural connection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around cultural exchange, creative-sector development, training and internationalisation — not simply asking cultural institutions to sponsor a TV competition.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424160" cy="960120"/>
          </a:xfrm>
          <a:prstGeom prst="roundRect">
            <a:avLst>
              <a:gd name="adj" fmla="val 5714"/>
            </a:avLst>
          </a:prstGeom>
          <a:solidFill>
            <a:srgbClr val="F7F1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precedent: </a:t>
            </a:r>
            <a:pPr indent="0" marL="0">
              <a:buNone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Goethe-Institut Nigeria currently participates in the Africa-Europe Partnerships for Culture, a 2025–2028 programme spanning 15 West African countries — covering cultural cooperation, stronger regional/intercontinental networks, qualification, promotion and international visibility.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NEXT CULTURAL MEDIA LAB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cultural-development stream teaching emerging entrepreneurs how to: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4164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 culture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404164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 cultural IP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25696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Produce documentaries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4425696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international partnerships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0974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Protect cultural heritage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480974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 across borders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9379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sustainable creative businesses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519379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Package African stories for international audiences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10424160" cy="73152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833872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the question from “Who has the best TV idea?” to “How can African creativity become a sustainable cultural and economic asset?”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PARTNERSHIP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Enveu — the technology enablement layer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Enveu's current partner programme supports </a:t>
            </a:r>
            <a:pPr indent="0" marL="0">
              <a:buNone/>
            </a:pPr>
            <a:r>
              <a:rPr lang="en-US" sz="13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technology/integration, reseller/referral and delivery/implementation partners</a:t>
            </a:r>
            <a:pPr indent="0" marL="0">
              <a:buNone/>
            </a:pPr>
            <a:r>
              <a:rPr lang="en-US" sz="13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including technical enablement, architecture support, co-marketing and OTT deployment capabilities.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“GENERATION NEXT — BUILD YOUR OWN TV”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Finalists are taught the practical curriculum of building a real media business: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1546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fundamentals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9080" y="315468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78808" y="31546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channels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315468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99248" y="31546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72160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9080" y="3721608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78808" y="372160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management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3721608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99248" y="372160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operations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88536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288536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69080" y="4288536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78808" y="4288536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analytics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4288536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99248" y="4288536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55464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485546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69080" y="4855464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78808" y="485546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4855464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99248" y="485546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 distribution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422392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54223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69080" y="5422392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78808" y="54223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rights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89520" y="5422392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99248" y="54223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business models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126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competition becomes a practical media entrepreneurship academy.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CERTIFICATION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ASIKO / Enveu Media Entrepreneur Certification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complete modules covering: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Starting a TV channel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Building a media brand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Content strategy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OTT / FAST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26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926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Rights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83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Advertising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383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Sponsorship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Audience development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840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Media sales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Digital marketing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297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&amp; analytics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for media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4754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Channel operations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12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Financial management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2360" y="1600200"/>
            <a:ext cx="4160520" cy="4572000"/>
          </a:xfrm>
          <a:prstGeom prst="roundRect">
            <a:avLst>
              <a:gd name="adj" fmla="val 1538"/>
            </a:avLst>
          </a:prstGeom>
          <a:solidFill>
            <a:srgbClr val="241C16"/>
          </a:solidFill>
          <a:ln w="12700">
            <a:solidFill>
              <a:srgbClr val="E8A9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266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CREDITS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22402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receive certification. The strongest graduates receive onboarding credits, for example: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32004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6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39776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qualifying ASIKO channel onboarding fees upon completion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48920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connects the competition to the broader Media Icons Africa / ASIKO channel-onboarding strategy.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 DIRECTORY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ASIKO “First Screen”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national finalist gets a digital home on ASIKO — a permanent, discoverable profile.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4023360" cy="3977640"/>
          </a:xfrm>
          <a:prstGeom prst="roundRect">
            <a:avLst>
              <a:gd name="adj" fmla="val 1839"/>
            </a:avLst>
          </a:prstGeom>
          <a:solidFill>
            <a:srgbClr val="1A1512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37744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241C16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774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Entrepreneur Name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· Track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Pitch   ▸ Trailer   ▸ Programme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394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links · Voting info · Sponsor info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148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profile contains: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560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Photograph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2560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Country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035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Entrepreneur profile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3035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Pitch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5112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Trailer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5112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Programme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9867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Channel concept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867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Social links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4622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Voting information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44622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Sponsor information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0" y="5212080"/>
            <a:ext cx="5943600" cy="822960"/>
          </a:xfrm>
          <a:prstGeom prst="rect">
            <a:avLst/>
          </a:prstGeom>
          <a:solidFill>
            <a:srgbClr val="F7F1E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57800" y="52852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“Africa's Next Television Entrepreneurs” — a permanent, public talent directory.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PAN-AFRICAN FINAL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270 finalists to one champion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56816" cy="2377440"/>
          </a:xfrm>
          <a:prstGeom prst="roundRect">
            <a:avLst>
              <a:gd name="adj" fmla="val 2804"/>
            </a:avLst>
          </a:prstGeom>
          <a:solidFill>
            <a:srgbClr val="241C16"/>
          </a:solidFill>
          <a:ln w="12700">
            <a:solidFill>
              <a:srgbClr val="3A2E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346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finalists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05456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34056" y="2029968"/>
            <a:ext cx="1956816" cy="2267712"/>
          </a:xfrm>
          <a:prstGeom prst="roundRect">
            <a:avLst>
              <a:gd name="adj" fmla="val 2804"/>
            </a:avLst>
          </a:prstGeom>
          <a:solidFill>
            <a:srgbClr val="241C16"/>
          </a:solidFill>
          <a:ln w="12700">
            <a:solidFill>
              <a:srgbClr val="3A2E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258568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294436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Semi-finalists (regional selection)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67004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19472" y="2139696"/>
            <a:ext cx="1956816" cy="2157984"/>
          </a:xfrm>
          <a:prstGeom prst="roundRect">
            <a:avLst>
              <a:gd name="adj" fmla="val 2804"/>
            </a:avLst>
          </a:prstGeom>
          <a:solidFill>
            <a:srgbClr val="241C16"/>
          </a:solidFill>
          <a:ln w="12700">
            <a:solidFill>
              <a:srgbClr val="3A2E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19472" y="2368296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054096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277977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04888" y="2249424"/>
            <a:ext cx="1956816" cy="2048256"/>
          </a:xfrm>
          <a:prstGeom prst="roundRect">
            <a:avLst>
              <a:gd name="adj" fmla="val 2804"/>
            </a:avLst>
          </a:prstGeom>
          <a:solidFill>
            <a:srgbClr val="241C16"/>
          </a:solidFill>
          <a:ln w="12700">
            <a:solidFill>
              <a:srgbClr val="3A2E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2478024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214616" y="3163824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061704" y="288950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90304" y="2359152"/>
            <a:ext cx="1956816" cy="1938528"/>
          </a:xfrm>
          <a:prstGeom prst="roundRect">
            <a:avLst>
              <a:gd name="adj" fmla="val 2830"/>
            </a:avLst>
          </a:prstGeom>
          <a:solidFill>
            <a:srgbClr val="C1502E"/>
          </a:solidFill>
          <a:ln w="12700">
            <a:solidFill>
              <a:srgbClr val="E8A9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90304" y="2587752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400032" y="327355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finalists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75488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241C16"/>
          </a:solidFill>
          <a:ln w="15875">
            <a:solidFill>
              <a:srgbClr val="E8A93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4560" y="47548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AFRICAN MEDIA ENTREPRENEUR OF THE YEAR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35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is designed to be a major television and streaming event.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Grand Prize &amp; category prizes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0424160" cy="1691640"/>
          </a:xfrm>
          <a:prstGeom prst="roundRect">
            <a:avLst>
              <a:gd name="adj" fmla="val 3784"/>
            </a:avLst>
          </a:prstGeom>
          <a:solidFill>
            <a:srgbClr val="1A15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642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PRIZE — AFRICAN MEDIA ENTREPRENEUR OF THE YEAR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Cash business development grant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20574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ASIKO channel launch package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071616" y="20574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Professional brand identity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695944" y="20574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Channel trailer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231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Pilot production support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4231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OTT deployment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071616" y="24231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Mentorship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95944" y="24231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Media sales support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788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Advertising introduction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2788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International exposure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071616" y="2788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Investor/business-dev preparation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2788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One-year platform support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758184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" y="35204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New TV Channel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69080" y="352044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1960" y="3758184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53128" y="35204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New TV Show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352044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3758184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73568" y="35204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African Story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462272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2688" y="42245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Cultural Storyteller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69080" y="4224528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1960" y="4462272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53128" y="42245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Tourism Story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89520" y="4224528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0" y="4462272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973568" y="42245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Sports Media Idea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928616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5166360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32688" y="492861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Youth Media Entrepreneur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069080" y="4928616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5166360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453128" y="492861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Women-Led Media Business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89520" y="4928616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7F1E8"/>
          </a:solidFill>
          <a:ln w="6350">
            <a:solidFill>
              <a:srgbClr val="E6D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0" y="5166360"/>
            <a:ext cx="91440" cy="9144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973568" y="492861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People's Choice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100-point scorecard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is not based simply on production quality.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0350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African relevance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Storytelling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potential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potential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feasibility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potential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readiness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/ cultural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A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1965960"/>
            <a:ext cx="4023360" cy="3977640"/>
          </a:xfrm>
          <a:prstGeom prst="roundRect">
            <a:avLst>
              <a:gd name="adj" fmla="val 1609"/>
            </a:avLst>
          </a:prstGeom>
          <a:solidFill>
            <a:srgbClr val="1A151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23760" y="2286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CONCEPT MUST DEMONSTRATE: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7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4343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7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4663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VOTING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Jury-weighted, not popularity-weighted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should not automatically determine the winner — this prevents a contestant winning purely on social-media following.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2024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120640" y="1965960"/>
            <a:ext cx="5806440" cy="1600200"/>
          </a:xfrm>
          <a:prstGeom prst="roundRect">
            <a:avLst>
              <a:gd name="adj" fmla="val 4000"/>
            </a:avLst>
          </a:prstGeom>
          <a:solidFill>
            <a:srgbClr val="F7F1E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0" y="21488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VOTE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2514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·  Mobile  ·  SMS  ·  USSD  ·  App  ·  Social engagement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9718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voting platform itself becomes commercial inventory.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3749040"/>
            <a:ext cx="5806440" cy="2194560"/>
          </a:xfrm>
          <a:prstGeom prst="roundRect">
            <a:avLst>
              <a:gd name="adj" fmla="val 2917"/>
            </a:avLst>
          </a:prstGeom>
          <a:solidFill>
            <a:srgbClr val="1A151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0" y="39319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SMS / USSD MATTERS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4279392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work for Africans not constantly connected to high-speed broadband. Telecoms become Official Voting Partners — receiving branding, customer engagement, campaign traffic, USSD/SMS revenue opportunity, sponsorship rights and youth positioning.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5486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voting mechanics, pricing and revenue share to be agreed with licensed telecom/VAS providers per market.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ENGINE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revenue streams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536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361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Sponsor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2880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brand owns “Presented by” across telecom, tech, banking, fintech, FMCG, airline, auto, energy, beverage or insurance.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52160" y="1463040"/>
            <a:ext cx="512064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61888" y="1536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5361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Sponsors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82880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sponsor for each of the 54 countries — decentralises funding away from ASIKO alone.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441448"/>
            <a:ext cx="512064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1460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Sponsors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807208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categories: technology, telecom, banking, airline, tourism, automobile, mobile, payment, cloud, camera, production, education, voting, travel.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2441448"/>
            <a:ext cx="512064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61888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51460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Sales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807208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finalist produces inventory: pre-/mid-roll, sponsorship bumpers, channel/programme sponsorship, branded content, CTV &amp; FAST advertising.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419856"/>
            <a:ext cx="512064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3493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4930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 Sponsorship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785616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“adopt” finalists — funding production, equipment, training, travel and branding as CSR + marketing.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3419856"/>
            <a:ext cx="512064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61888" y="3493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4930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Monetisation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785616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monetises AVOD, FAST advertising, sponsorship, branded and premium content, CTV and data-driven advertising.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398264"/>
            <a:ext cx="512064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4471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447141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764024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competition is the funnel top; premium programmes become the Media Icons Africa Academy.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4398264"/>
            <a:ext cx="512064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961888" y="4471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47141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Onboarding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4764024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entrepreneurs purchase channel setup, branding, OTT onboarding, consulting, media sales and distribution.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376672"/>
            <a:ext cx="512064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8368" y="5449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54498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188720" y="5742432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builds an investment pipeline (banks, VC, family offices, telecoms, DFIs) by making entrepreneurs investment-ready.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52160" y="5376672"/>
            <a:ext cx="512064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961888" y="5449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54498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&amp; Destination Marketing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5742432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authorities commission content from finalists, distributed via ASIKO and sponsor channels.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from the entrepreneurs.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should be free or extremely low-barrier to enter. The money comes from the ecosystem around the entrepreneurs.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148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Title sponsorship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60520" y="214884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70248" y="2148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National sponsorships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0" y="214884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82128" y="2148840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Corporate sponsorships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71576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Government/tourism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2715768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70248" y="271576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Cultural-development funding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2715768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82128" y="2715768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Technology partnerships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282696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28269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Telecom partnerships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3282696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70248" y="328269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Advertising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0" y="3282696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82128" y="328269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Media sales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49624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384962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Voting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60520" y="3849624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70248" y="384962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Training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0" y="3849624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82128" y="384962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Channel onboarding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416552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441655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Branded content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60520" y="4416552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270248" y="441655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International distribution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400" y="4416552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41C1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882128" y="441655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Investment partnerships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806440"/>
            <a:ext cx="10424160" cy="731520"/>
          </a:xfrm>
          <a:prstGeom prst="rect">
            <a:avLst/>
          </a:prstGeom>
          <a:solidFill>
            <a:srgbClr val="C150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960" y="5870448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monetise the African entrepreneur. Monetise the ecosystem that wants access to African audiences, stories, talent, markets and culture.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COMMERCIAL MODEL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mature continental season — revenue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targets, not guaranteed market prices. Structured so sponsorships are secured before significant expenditure.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0424160" cy="914400"/>
        </p:xfrm>
        <a:graphic>
          <a:graphicData uri="http://schemas.openxmlformats.org/drawingml/2006/table">
            <a:tbl>
              <a:tblPr/>
              <a:tblGrid>
                <a:gridCol w="722376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Sponsor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Pan-African Category Partners @ $100k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Country Partners @ average $25k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 / Cultural Partners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/ Platform Partners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Advertising &amp; Branded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/ Telecom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/ Commercial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GROSS 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0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0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COMMERCIAL MODEL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mature continental season — expenditure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4008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103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1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activations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prizes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/ mentorship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/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Judging / legal /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event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/ logistics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15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8A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463040"/>
            <a:ext cx="3703320" cy="4846320"/>
          </a:xfrm>
          <a:prstGeom prst="roundRect">
            <a:avLst>
              <a:gd name="adj" fmla="val 1728"/>
            </a:avLst>
          </a:prstGeom>
          <a:solidFill>
            <a:srgbClr val="1A151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4380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POSITION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2103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$3.5M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 $2.9M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expenditure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43800" y="3931920"/>
            <a:ext cx="3200400" cy="0"/>
          </a:xfrm>
          <a:prstGeom prst="line">
            <a:avLst/>
          </a:prstGeom>
          <a:noFill/>
          <a:ln w="12700">
            <a:solidFill>
              <a:srgbClr val="C150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4380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 $600K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4663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corporate overhead, taxes and other costs — assuming illustrative revenue and cost targets are achieved.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ARCHITECTURE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sponsorship ladder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412480" cy="621792"/>
          </a:xfrm>
          <a:prstGeom prst="roundRect">
            <a:avLst>
              <a:gd name="adj" fmla="val 7353"/>
            </a:avLst>
          </a:prstGeom>
          <a:solidFill>
            <a:srgbClr val="C15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Partner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15544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7223760" cy="621792"/>
          </a:xfrm>
          <a:prstGeom prst="roundRect">
            <a:avLst>
              <a:gd name="adj" fmla="val 7353"/>
            </a:avLst>
          </a:prstGeom>
          <a:solidFill>
            <a:srgbClr val="F7F1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26771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67712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Partner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26771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– $250k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80944"/>
            <a:ext cx="6035040" cy="621792"/>
          </a:xfrm>
          <a:prstGeom prst="roundRect">
            <a:avLst>
              <a:gd name="adj" fmla="val 7353"/>
            </a:avLst>
          </a:prstGeom>
          <a:solidFill>
            <a:srgbClr val="1A15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98094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98094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Partner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98094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 – $100k+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4846320" cy="621792"/>
          </a:xfrm>
          <a:prstGeom prst="roundRect">
            <a:avLst>
              <a:gd name="adj" fmla="val 7353"/>
            </a:avLst>
          </a:prstGeom>
          <a:solidFill>
            <a:srgbClr val="F7F1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69417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6941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Partner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3694176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 – $150k+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07408"/>
            <a:ext cx="3657600" cy="621792"/>
          </a:xfrm>
          <a:prstGeom prst="roundRect">
            <a:avLst>
              <a:gd name="adj" fmla="val 7353"/>
            </a:avLst>
          </a:prstGeom>
          <a:solidFill>
            <a:srgbClr val="1A15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40740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40740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Partner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4407408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– $25k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2468880" cy="621792"/>
          </a:xfrm>
          <a:prstGeom prst="roundRect">
            <a:avLst>
              <a:gd name="adj" fmla="val 7353"/>
            </a:avLst>
          </a:prstGeom>
          <a:solidFill>
            <a:srgbClr val="F7F1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512064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12064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In-Kind Partner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512064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Equipment, airtime, flights, accommodation, production, technology, venues, advertising, connectivity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263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initial packaging architecture — adjusted by country, category exclusivity, audience delivery and negotiated value.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ECOSYSTEM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categories of partner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7F1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733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057400"/>
            <a:ext cx="2185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Ministries of Information, Culture, Tourism; youth development &amp; creative-economy agencies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1A151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64992" y="16733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DIPLOMATIC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2057400"/>
            <a:ext cx="2185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embassies, High Commissions, cultural missions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52160" y="15087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7F1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16752" y="16733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016752" y="2057400"/>
            <a:ext cx="2185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Broadcasters, production companies, content owners, aggregators, media associations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03920" y="15087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1A151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68512" y="16733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668512" y="2057400"/>
            <a:ext cx="2185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Enveu, cloud &amp; CDN providers, OTT providers, AI companies, payment &amp; analytics providers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7F1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3803904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187952"/>
            <a:ext cx="2185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operators, ISPs, SMS/USSD providers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3639312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1A151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364992" y="3803904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364992" y="4187952"/>
            <a:ext cx="2185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fintechs, airlines, FMCGs, automotive, insurance, consumer electronics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52160" y="3639312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7F1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16752" y="3803904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016752" y="4187952"/>
            <a:ext cx="2185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Goethe-Institut, cultural institutions, museums, festivals, arts organisations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03920" y="3639312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1A151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68512" y="3803904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668512" y="4187952"/>
            <a:ext cx="2185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CAF, national federations, sports broadcasters, clubs, sports marketing organisations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SPORTS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CAF makes sense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 demonstrates how African intellectual property becomes a major commercial property — and its media-rights ecosystem shows the global appetite for African content and audiences.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931920" cy="1828800"/>
          </a:xfrm>
          <a:prstGeom prst="roundRect">
            <a:avLst>
              <a:gd name="adj" fmla="val 3500"/>
            </a:avLst>
          </a:prstGeom>
          <a:solidFill>
            <a:srgbClr val="241C16"/>
          </a:solidFill>
          <a:ln w="12700">
            <a:solidFill>
              <a:srgbClr val="E8A9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$166.42M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CAF's 2024–25 revenue — with major investment in competitions and development; commercial partnerships remain a core strategic component.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2194560"/>
            <a:ext cx="5989320" cy="1828800"/>
          </a:xfrm>
          <a:prstGeom prst="roundRect">
            <a:avLst>
              <a:gd name="adj" fmla="val 3500"/>
            </a:avLst>
          </a:prstGeom>
          <a:solidFill>
            <a:srgbClr val="241C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83480" y="23591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COLLABORATION AREAS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743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Sports storytelling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743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Youth development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2743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Football content entrepreneurs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31821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Women's football storytelling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31821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Country stories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31821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Sports documentaries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6210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Sports media education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6210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content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36210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Tourism around football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10149840" cy="1234440"/>
          </a:xfrm>
          <a:prstGeom prst="rect">
            <a:avLst/>
          </a:prstGeom>
          <a:solidFill>
            <a:srgbClr val="C150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370832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any CAF relationship must be developed as a formal partnership proposal and is not assumed to exist. CAF already operates a highly developed media, sponsorship and commercial ecosystem around African sport — making it a potentially valuable strategic relationship, not something to simply attach to the programme.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competition journey — nine phases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F7F1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Discover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applications across Africa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55448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1A151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5196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National Select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from each country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F7F1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Train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physical bootcamps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F7F1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73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Develop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30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become packaged projects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69080" y="3136392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1A15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51960" y="3273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Pitch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3730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pitch to industry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3136392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F7F1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0" y="3273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Produce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730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projects get production support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18304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F7F1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8554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Distribute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3126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appears on ASIKO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69080" y="4718304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1A151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51960" y="48554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Monetise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251960" y="53126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Advertising, sponsorship, commercial dev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9520" y="4718304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F7F1E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0" y="48554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Scale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531266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businesses become channels &amp; networks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PROGRAMME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ASIKO 90-Day Launchpad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selected entrepreneur enters a structured development programme.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3794760"/>
          </a:xfrm>
          <a:prstGeom prst="roundRect">
            <a:avLst>
              <a:gd name="adj" fmla="val 1867"/>
            </a:avLst>
          </a:prstGeom>
          <a:solidFill>
            <a:srgbClr val="241C16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328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Brand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42232" y="1965960"/>
            <a:ext cx="3429000" cy="3794760"/>
          </a:xfrm>
          <a:prstGeom prst="roundRect">
            <a:avLst>
              <a:gd name="adj" fmla="val 1867"/>
            </a:avLst>
          </a:prstGeom>
          <a:solidFill>
            <a:srgbClr val="241C16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70832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70832" y="25328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&amp; Technology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70832" y="315468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35824" y="1965960"/>
            <a:ext cx="3429000" cy="3794760"/>
          </a:xfrm>
          <a:prstGeom prst="roundRect">
            <a:avLst>
              <a:gd name="adj" fmla="val 1867"/>
            </a:avLst>
          </a:prstGeom>
          <a:solidFill>
            <a:srgbClr val="241C16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64424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64424" y="25328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Commercialisation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64424" y="315468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“LAUNCH READY.”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RIGHTS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ASIKO. Protecting the entrepreneur.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120640" cy="4434840"/>
          </a:xfrm>
          <a:prstGeom prst="roundRect">
            <a:avLst>
              <a:gd name="adj" fmla="val 1443"/>
            </a:avLst>
          </a:prstGeom>
          <a:solidFill>
            <a:srgbClr val="F7F1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ASIKO DISTRIBUTION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promise of permanent carriage. Selected content receives a limited-time ASIKO window — e.g. 30–90 days — subject to: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clearance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compliance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standards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viability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09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protects ASIKO while giving entrepreneurs genuine distribution.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5669280" cy="4434840"/>
          </a:xfrm>
          <a:prstGeom prst="roundRect">
            <a:avLst>
              <a:gd name="adj" fmla="val 1443"/>
            </a:avLst>
          </a:prstGeom>
          <a:solidFill>
            <a:srgbClr val="1A151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RIGHTS MODEL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194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entrepreneur retains ownership of underlying IP unless a separate agreement says otherwise. ASIKO receives the specific licence required to: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063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  ·   Stream   ·   Promote   ·   Market   ·   Advertise   ·   Distribute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agreed period and territories.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977640"/>
            <a:ext cx="5120640" cy="0"/>
          </a:xfrm>
          <a:prstGeom prst="line">
            <a:avLst/>
          </a:prstGeom>
          <a:noFill/>
          <a:ln w="12700">
            <a:solidFill>
              <a:srgbClr val="C150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41605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must not become another system that takes African creators' rights.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937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help you own more, not less.”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INTEGRITY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Terms, fairness &amp; anti-corruption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120640" cy="4572000"/>
          </a:xfrm>
          <a:prstGeom prst="roundRect">
            <a:avLst>
              <a:gd name="adj" fmla="val 1400"/>
            </a:avLst>
          </a:prstGeom>
          <a:solidFill>
            <a:srgbClr val="F7F1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T&amp;C PRINCIPLES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&amp; entry requirements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 — entries must be original or authorised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— entrants must own/control required rights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required for third-party material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disclosed where required by the rules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defamatory or unlawful material; no infringement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may reject material violating law/standards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Judges' decisions final, subject to published rules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auditable voting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agreements may govern prize benefits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are the recipient's responsibility unless stated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publicity rights; data-protection compliance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safeguarding protections apply to minors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0" y="1508760"/>
            <a:ext cx="5669280" cy="4572000"/>
          </a:xfrm>
          <a:prstGeom prst="roundRect">
            <a:avLst>
              <a:gd name="adj" fmla="val 1400"/>
            </a:avLst>
          </a:prstGeom>
          <a:solidFill>
            <a:srgbClr val="1A151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691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ANTI-CORRUPTION &amp; FAIRNESS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05740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judging panels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judging criteria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Conflict-of-interest declarations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recusal procedures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voting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 monitoring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&amp; appeals procedures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separation from judging — no sponsor purchasing a winner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4892040"/>
            <a:ext cx="5120640" cy="0"/>
          </a:xfrm>
          <a:prstGeom prst="line">
            <a:avLst/>
          </a:prstGeom>
          <a:noFill/>
          <a:ln w="12700">
            <a:solidFill>
              <a:srgbClr val="C15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Sponsors buy visibility.  Judges choose winners.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GAME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African Story Archive &amp; the 5-year vision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241C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AFRICAN STORY ARCHIVE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finalist contributes a permanent record: country, entrepreneur, story, programme, trailer, cultural context, interviews, production history.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ten years — one of the largest curated digital archives of emerging African television and storytelling talent.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841248" cy="868680"/>
          </a:xfrm>
          <a:prstGeom prst="roundRect">
            <a:avLst>
              <a:gd name="adj" fmla="val 6522"/>
            </a:avLst>
          </a:prstGeom>
          <a:solidFill>
            <a:srgbClr val="241C16"/>
          </a:solidFill>
          <a:ln w="9525">
            <a:solidFill>
              <a:srgbClr val="E8A9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79476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384048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17904" y="3703320"/>
            <a:ext cx="841248" cy="868680"/>
          </a:xfrm>
          <a:prstGeom prst="roundRect">
            <a:avLst>
              <a:gd name="adj" fmla="val 6522"/>
            </a:avLst>
          </a:prstGeom>
          <a:solidFill>
            <a:srgbClr val="241C16"/>
          </a:solidFill>
          <a:ln w="9525">
            <a:solidFill>
              <a:srgbClr val="E8A9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17904" y="379476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17904" y="411480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359152" y="384048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87168" y="3703320"/>
            <a:ext cx="841248" cy="868680"/>
          </a:xfrm>
          <a:prstGeom prst="roundRect">
            <a:avLst>
              <a:gd name="adj" fmla="val 6522"/>
            </a:avLst>
          </a:prstGeom>
          <a:solidFill>
            <a:srgbClr val="241C16"/>
          </a:solidFill>
          <a:ln w="9525">
            <a:solidFill>
              <a:srgbClr val="E8A9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87168" y="379476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87168" y="411480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328416" y="384048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56432" y="3703320"/>
            <a:ext cx="841248" cy="868680"/>
          </a:xfrm>
          <a:prstGeom prst="roundRect">
            <a:avLst>
              <a:gd name="adj" fmla="val 6522"/>
            </a:avLst>
          </a:prstGeom>
          <a:solidFill>
            <a:srgbClr val="241C16"/>
          </a:solidFill>
          <a:ln w="9525">
            <a:solidFill>
              <a:srgbClr val="E8A9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56432" y="379476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56432" y="411480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84048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25696" y="3703320"/>
            <a:ext cx="841248" cy="868680"/>
          </a:xfrm>
          <a:prstGeom prst="roundRect">
            <a:avLst>
              <a:gd name="adj" fmla="val 6522"/>
            </a:avLst>
          </a:prstGeom>
          <a:solidFill>
            <a:srgbClr val="C1502E"/>
          </a:solidFill>
          <a:ln w="9525">
            <a:solidFill>
              <a:srgbClr val="E8A9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25696" y="379476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425696" y="411480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1508760"/>
            <a:ext cx="5669280" cy="4572000"/>
          </a:xfrm>
          <a:prstGeom prst="roundRect">
            <a:avLst>
              <a:gd name="adj" fmla="val 1400"/>
            </a:avLst>
          </a:prstGeom>
          <a:solidFill>
            <a:srgbClr val="241C16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OBJECTIVE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African media businesses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788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trained media entrepreneurs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383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 new African channels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 of original programmes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572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 African audience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5212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“Generation Next” becomes bigger than one annual competition — an African media entrepreneurship movement.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EXCHANGE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stakeholder gets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1A15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· Channels · Audience · Brand · Data · Commercial inventory · Partners · Talent · Cultural authority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155448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7F1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8076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19456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&amp; industry development engine: media sales, sponsorship, training, channel onboarding, consulting, production, brand development, advertising strategy, distribution, commercial partnerships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1A151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COUNTRIES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52628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visibility · Tourism content · Youth development · Creative-sector development · Cultural promotion · National talent discovery · International storytelling · Corporate participation · New media entrepreneurs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38862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7F1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8076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SPONSORS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452628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people, audiences, stories, countries, culture, ASIKO's digital/OTT ecosystem, FAST/CTV inventory, creator-driven social campaigns and youth/creative-industry CSR positioning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 property — not a competition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BRANDS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“Africa is building its next generation of media entrepreneurs. Watch them grow. Support them. Sponsor them. Tell your brand story through them — and help build the African media industry at the same time.”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8076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CULTURAL INSTITUTIONS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21031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“Culture cannot survive only in archives. It must live on screens — documented, interpreted, shared, commercialised responsibly and passed to the next generation.”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23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GOVERNMENTS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348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country's story, your young people, your culture and your tourism destinations are all economic assets. Generation Next gives your country a platform to develop all four.”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0" y="384048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0760" y="4023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ENTREPRENEURS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44348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don't need to wait for a television station to discover you. Build the television station. Build the channel. Build the show. Build the audience. Own the narrative.”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BUSINESS MODEL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bigger business: a closed-loop economy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0424160" cy="1005840"/>
          </a:xfrm>
          <a:prstGeom prst="roundRect">
            <a:avLst>
              <a:gd name="adj" fmla="val 5455"/>
            </a:avLst>
          </a:prstGeom>
          <a:solidFill>
            <a:srgbClr val="1A15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ASIKO PRESENTS: TELEVISION AFRICA ENTREPRENEURS — GENERATION NEXT!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African Story. Own the Narrative.  —  a flagship property alongside African film, music, sports, culture, tourism, business, news, lifestyle and youth programming.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898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64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(talent enters)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278892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2898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264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(MIA trains)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278892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97880" y="2898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3264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(entrepreneurs create)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66760" y="278892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0" y="2898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264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(Enveu enables)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904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270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(ASIKO carries)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379476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91840" y="3904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4270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(MIA sells)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0" y="379476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897880" y="3904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4270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(brands fund)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66760" y="379476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03920" y="3904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503920" y="4270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(audiences engage)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80060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4910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2760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(performance measured)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54680" y="480060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291840" y="4910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52760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(businesses grow)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480060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7F1E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897880" y="4910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897880" y="52760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(capital enters)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66760" y="480060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C1502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503920" y="4910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51560" cy="493776"/>
          </a:xfrm>
          <a:prstGeom prst="roundRect">
            <a:avLst>
              <a:gd name="adj" fmla="val 9259"/>
            </a:avLst>
          </a:prstGeom>
          <a:solidFill>
            <a:srgbClr val="C150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55448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consortium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ASIKO, Media Icons Africa, Enveu, legal partner, voting technology, production partner, sponsorship team, national coordinators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1051560" cy="493776"/>
          </a:xfrm>
          <a:prstGeom prst="roundRect">
            <a:avLst>
              <a:gd name="adj" fmla="val 9259"/>
            </a:avLst>
          </a:prstGeom>
          <a:solidFill>
            <a:srgbClr val="C150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121408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M2–4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12140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country partners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12140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10–15 anchor countries initially, then expand toward continental coverage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051560" cy="493776"/>
          </a:xfrm>
          <a:prstGeom prst="roundRect">
            <a:avLst>
              <a:gd name="adj" fmla="val 9259"/>
            </a:avLst>
          </a:prstGeom>
          <a:solidFill>
            <a:srgbClr val="C150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688336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688336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applications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051560" cy="493776"/>
          </a:xfrm>
          <a:prstGeom prst="roundRect">
            <a:avLst>
              <a:gd name="adj" fmla="val 9259"/>
            </a:avLst>
          </a:prstGeom>
          <a:solidFill>
            <a:srgbClr val="C150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255264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325526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judging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22192"/>
            <a:ext cx="1051560" cy="493776"/>
          </a:xfrm>
          <a:prstGeom prst="roundRect">
            <a:avLst>
              <a:gd name="adj" fmla="val 9259"/>
            </a:avLst>
          </a:prstGeom>
          <a:solidFill>
            <a:srgbClr val="C150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822192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M7–8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3822192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announced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051560" cy="493776"/>
          </a:xfrm>
          <a:prstGeom prst="roundRect">
            <a:avLst>
              <a:gd name="adj" fmla="val 9259"/>
            </a:avLst>
          </a:prstGeom>
          <a:solidFill>
            <a:srgbClr val="C150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38912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M8–10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38912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production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56048"/>
            <a:ext cx="1051560" cy="493776"/>
          </a:xfrm>
          <a:prstGeom prst="roundRect">
            <a:avLst>
              <a:gd name="adj" fmla="val 9259"/>
            </a:avLst>
          </a:prstGeom>
          <a:solidFill>
            <a:srgbClr val="C150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956048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M10–11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783080" y="495604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judging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22976"/>
            <a:ext cx="1051560" cy="493776"/>
          </a:xfrm>
          <a:prstGeom prst="roundRect">
            <a:avLst>
              <a:gd name="adj" fmla="val 9259"/>
            </a:avLst>
          </a:prstGeom>
          <a:solidFill>
            <a:srgbClr val="C150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522976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783080" y="5522976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SEQUENCING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important decision: reverse the model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spend ASIKO's money first and then look for sponsors.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254034" cy="2286000"/>
          </a:xfrm>
          <a:prstGeom prst="roundRect">
            <a:avLst>
              <a:gd name="adj" fmla="val 4375"/>
            </a:avLst>
          </a:prstGeom>
          <a:solidFill>
            <a:srgbClr val="1A151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2240280"/>
            <a:ext cx="103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88920"/>
            <a:ext cx="1034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property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756954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76994" y="2103120"/>
            <a:ext cx="1254034" cy="2286000"/>
          </a:xfrm>
          <a:prstGeom prst="roundRect">
            <a:avLst>
              <a:gd name="adj" fmla="val 4375"/>
            </a:avLst>
          </a:prstGeom>
          <a:solidFill>
            <a:srgbClr val="F7F1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86722" y="2240280"/>
            <a:ext cx="103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186722" y="2788920"/>
            <a:ext cx="1034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sponsorship inventory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85309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05349" y="2103120"/>
            <a:ext cx="1254034" cy="2286000"/>
          </a:xfrm>
          <a:prstGeom prst="roundRect">
            <a:avLst>
              <a:gd name="adj" fmla="val 4375"/>
            </a:avLst>
          </a:prstGeom>
          <a:solidFill>
            <a:srgbClr val="1A151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15077" y="2240280"/>
            <a:ext cx="103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715077" y="2788920"/>
            <a:ext cx="1034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anchor sponsors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813663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33703" y="2103120"/>
            <a:ext cx="1254034" cy="2286000"/>
          </a:xfrm>
          <a:prstGeom prst="roundRect">
            <a:avLst>
              <a:gd name="adj" fmla="val 4375"/>
            </a:avLst>
          </a:prstGeom>
          <a:solidFill>
            <a:srgbClr val="F7F1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43431" y="2240280"/>
            <a:ext cx="103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243431" y="2788920"/>
            <a:ext cx="1034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national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342017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62057" y="2103120"/>
            <a:ext cx="1254034" cy="2286000"/>
          </a:xfrm>
          <a:prstGeom prst="roundRect">
            <a:avLst>
              <a:gd name="adj" fmla="val 4375"/>
            </a:avLst>
          </a:prstGeom>
          <a:solidFill>
            <a:srgbClr val="1A151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71785" y="2240280"/>
            <a:ext cx="103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771785" y="2788920"/>
            <a:ext cx="1034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technology partners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870371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90411" y="2103120"/>
            <a:ext cx="1254034" cy="2286000"/>
          </a:xfrm>
          <a:prstGeom prst="roundRect">
            <a:avLst>
              <a:gd name="adj" fmla="val 4375"/>
            </a:avLst>
          </a:prstGeom>
          <a:solidFill>
            <a:srgbClr val="F7F1E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00139" y="2240280"/>
            <a:ext cx="103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300139" y="2788920"/>
            <a:ext cx="1034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applications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398726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718766" y="2103120"/>
            <a:ext cx="1254034" cy="2286000"/>
          </a:xfrm>
          <a:prstGeom prst="roundRect">
            <a:avLst>
              <a:gd name="adj" fmla="val 4375"/>
            </a:avLst>
          </a:prstGeom>
          <a:solidFill>
            <a:srgbClr val="1A151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28494" y="2240280"/>
            <a:ext cx="103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9828494" y="2788920"/>
            <a:ext cx="1034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programme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0424160" cy="82296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48006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should become: SPONSOR-FUNDED CONTENT ACQUISITION + MEDIA ENTREPRENEURSHIP DEVELOPMENT.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CAMPAIGN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“BACK A NEW TV ENTREPRENEUR.”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brands can literally adopt the message: “We are backing the next generation of African television.”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291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campaign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3291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campaign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32918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3291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campaign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32918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41080" y="3291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university campaign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206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Embassy campaign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42062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4206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campaign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42062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9320" y="4206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campaign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2062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241C16"/>
          </a:solidFill>
          <a:ln w="9525">
            <a:solidFill>
              <a:srgbClr val="C150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41080" y="4206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campaign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41C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MESSAGE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 does not need another platform that simply imports content.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needs platforms that: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AFRICANS.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706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AFRICANS.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1810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AFRICANS.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6557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 AFRICANS.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130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MONETISE AFRICAN STORIES.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605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AFRICANS OWN THE BUSINESSES BUILT AROUND THOSE STORIES.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599432"/>
            <a:ext cx="11064240" cy="0"/>
          </a:xfrm>
          <a:prstGeom prst="line">
            <a:avLst/>
          </a:prstGeom>
          <a:noFill/>
          <a:ln w="12700">
            <a:solidFill>
              <a:srgbClr val="C15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76402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don't just sell media. We build the people who will own Africa's media future.”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2852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TELEVISION AFRICA ENTREPRENEURS — GENERATION NEXT!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05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African Story. Own the Narrative. Build the Future.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070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— The Natural Home of the African Story.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MANAGER'S RECOMMENDATION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step isn't the rules — it's the prospectus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</a:t>
            </a:r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 Master Partnership &amp; Investment Prospectus.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6309360" cy="3108960"/>
          </a:xfrm>
          <a:prstGeom prst="roundRect">
            <a:avLst>
              <a:gd name="adj" fmla="val 2059"/>
            </a:avLst>
          </a:prstGeom>
          <a:solidFill>
            <a:srgbClr val="F7F1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PROSPECTUS MUST CONTAIN: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architecture — who owns what, who pays what, what each partner receives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Country-by-country activation plan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inventory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funding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architecture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portal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system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academy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implementation budget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86600" y="2011680"/>
            <a:ext cx="4526280" cy="3108960"/>
          </a:xfrm>
          <a:prstGeom prst="roundRect">
            <a:avLst>
              <a:gd name="adj" fmla="val 2059"/>
            </a:avLst>
          </a:prstGeom>
          <a:solidFill>
            <a:srgbClr val="1A15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542032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Enveu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embassies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authorities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sponsors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institutions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media partners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60920" y="4206240"/>
            <a:ext cx="4023360" cy="0"/>
          </a:xfrm>
          <a:prstGeom prst="line">
            <a:avLst/>
          </a:prstGeom>
          <a:noFill/>
          <a:ln w="9525">
            <a:solidFill>
              <a:srgbClr val="C15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4343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 treats media rights &amp; sponsorship as core revenue infrastructure. Enveu's partner programme already supports integration, reseller and delivery models with joint go-to-market.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10424160" cy="777240"/>
          </a:xfrm>
          <a:prstGeom prst="rect">
            <a:avLst/>
          </a:prstGeom>
          <a:solidFill>
            <a:srgbClr val="C150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4681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bigger than a competition: it's a Pan-African media entrepreneurship pipeline feeding directly into ASIKO's channel, content, advertising and commercial ecosystem.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MANAGER'S RECOMMENDATION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first — not all 54 countries in 90 days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(broadcasting, data protection, promotional-competition permits) takes 4–12+ weeks per country and doesn't run in parallel cleanly. The better move: prove the model, then scale.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3017520"/>
          </a:xfrm>
          <a:prstGeom prst="roundRect">
            <a:avLst>
              <a:gd name="adj" fmla="val 2121"/>
            </a:avLst>
          </a:prstGeom>
          <a:solidFill>
            <a:srgbClr val="241C1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FULL CONTINENTAL LAUNCH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54 countries at once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points to show sponsors before asking for money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risk multiplied across every jurisdiction simultaneously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103120"/>
            <a:ext cx="5669280" cy="3017520"/>
          </a:xfrm>
          <a:prstGeom prst="roundRect">
            <a:avLst>
              <a:gd name="adj" fmla="val 2121"/>
            </a:avLst>
          </a:prstGeom>
          <a:solidFill>
            <a:srgbClr val="241C16"/>
          </a:solidFill>
          <a:ln w="15875">
            <a:solidFill>
              <a:srgbClr val="C15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90-DAY PILOT WAVE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6974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model end-to-end before continental commitment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real sponsor/viewership case studies for Year-1 recruitment of 10–15 anchor countries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Confines statutory/legal risk to a manageable few jurisdictions first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406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ANCHOR MARKETS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76072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874520" y="576072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74520" y="5760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99232" y="576072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999232" y="5760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23944" y="576072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23944" y="57607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52744" y="576072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52744" y="576072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Senegal or Côte d'Ivoire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90-day pilot launch plan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countries only — Nigeria, Ghana, Kenya, South Africa, +1 Francophone market.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7F1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86537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06654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consortium &amp; legal shell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313432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/ Enveu / Media Icons Africa MOU; activate the legal entity; engage local counsel in each anchor country immediately — licensing is the critical path.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852160" y="1783080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7F1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16752" y="186537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10–25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016752" y="206654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statutory &amp; regulatory applications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16752" y="2313432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notification, promotional-competition/lottery permit, data-protection registration, tax/business registration — in parallel, per country.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548640" y="2825496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7F1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290779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15–35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108960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technology &amp; voting rails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355848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Enveu builds the portal and OTT/FAST integration. Web/app voting first; SMS/USSD only once telecom + lottery paperwork clears.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852160" y="2825496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7F1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16752" y="290779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25–45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016752" y="3108960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anchor sponsors &amp; country partners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016752" y="3355848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Title Sponsor prospect + 1 National Partner per anchor country, sold before the programme spends its own money.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48640" y="3867912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7F1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395020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40–60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4151376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applications &amp; run national judging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398264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in anchor countries only, with broadcaster-association PR support and independent judging panels.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5852160" y="3867912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7F1E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16752" y="395020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60–75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016752" y="4151376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Top 5 per country &amp; begin training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016752" y="4398264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pilot finalists; start the ASIKO 90-Day Launchpad's Business &amp; Brand module.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48640" y="4910328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7F1E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499262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75–90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5193792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showcase &amp; Year-1 scale decision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544068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showcase event generates the proof points that anchor the Master Partnership &amp; Investment Prospectus.</a:t>
            </a:r>
            <a:endParaRPr lang="en-US" sz="83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CALL FIRST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partners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1A15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655064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Union of Broadcasting (AUB)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30552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member national broadcasters across Africa, HQ Dakar — the fastest route to a broadcaster partner in every anchor country at once.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150876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7F1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53328" y="1655064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FEPACI (Pan-African Federation of Filmmakers)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53328" y="2130552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filmmaker body with AU ties; natural partner for the “Tell Our Story” documentary track.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44952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1A151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191256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Audiovisual &amp; Cinema Commission (AACC)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666744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AU's own specialised agency for film/audiovisual policy, secretariat hosted in Kenya.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3044952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7F1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53328" y="3191256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Broadcasting Associations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053328" y="3666744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Industry-lobbying bodies (e.g. South Africa's NAB) — credibility and introductions in each anchor market.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1A15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4727448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Carriers (MTN, Airtel, Glo, Safaricom)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202936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as Category/Voting sponsors, and for SMS/USSD voting to function at all.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52160" y="4581144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7F1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53328" y="4727448"/>
            <a:ext cx="4718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/ Flutterwave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053328" y="5202936"/>
            <a:ext cx="4718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Nigeria-proven payment rails for entry fees, donations and paid voting.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CAPITAL 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pipelines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0424160" cy="1874520"/>
          </a:xfrm>
          <a:prstGeom prst="roundRect">
            <a:avLst>
              <a:gd name="adj" fmla="val 3415"/>
            </a:avLst>
          </a:prstGeom>
          <a:solidFill>
            <a:srgbClr val="1A1512"/>
          </a:solidFill>
          <a:ln w="12700">
            <a:solidFill>
              <a:srgbClr val="E8A9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 BILLION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Afreximbank CANEX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(Creative Africa Nexus)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737360"/>
            <a:ext cx="5989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Afreximbank's creative-economy financing window, doubled from $1B — covering film, music, fashion and sports content infrastructure. It also includes a $500M private equity film fund (FEDA) for production &amp; distribution. A far more realistic anchor funder than raising the full $3.5M target from title sponsors alone.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0424160" cy="822960"/>
          </a:xfrm>
          <a:prstGeom prst="roundRect">
            <a:avLst>
              <a:gd name="adj" fmla="val 6667"/>
            </a:avLst>
          </a:prstGeom>
          <a:solidFill>
            <a:srgbClr val="F7F1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7673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/ AACC creative-economy channels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69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Slower-moving (runs through member-state ratification) but valuable for legitimacy and government-level access.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0424160" cy="822960"/>
          </a:xfrm>
          <a:prstGeom prst="roundRect">
            <a:avLst>
              <a:gd name="adj" fmla="val 6667"/>
            </a:avLst>
          </a:prstGeom>
          <a:solidFill>
            <a:srgbClr val="F7F1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727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Goethe-Institut / Africa-Europe Partnerships for Culture (2025–2028)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029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current 15-country cultural-development programme — not a hypothetical.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577840"/>
            <a:ext cx="10424160" cy="822960"/>
          </a:xfrm>
          <a:prstGeom prst="roundRect">
            <a:avLst>
              <a:gd name="adj" fmla="val 6667"/>
            </a:avLst>
          </a:prstGeom>
          <a:solidFill>
            <a:srgbClr val="F7F1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6875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DFIs — AfDB, IFC, Development Finance Corporation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989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conversations that want evidence first — exactly what the 90-day pilot produces.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COULD STALL LAUNCH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Statutory requirements &amp; regulators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424160" cy="1920240"/>
          </a:xfrm>
          <a:prstGeom prst="roundRect">
            <a:avLst>
              <a:gd name="adj" fmla="val 3333"/>
            </a:avLst>
          </a:prstGeom>
          <a:solidFill>
            <a:srgbClr val="C150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CASE STUDY: PUBLIC VOTING = REGULATED GAMING ACTIVITY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47672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“Promotional Competition” with public voting and prizes is regulated as gaming, not just media — separately from any broadcasting licence. Nigeria's licensing landscape just shifted: the Supreme Court struck down the old National Lottery Act in late 2024; regulation now splits between the National Lottery Regulatory Commission (NLRC) federally and state gaming authorities (e.g. Lagos State Lotteries and Gaming Authority), under a newer Unified Regulatory Commission (URC) framework that explicitly covers Promotional Competitions.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3611880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NBC + Nigeria Broadcasting Code — applies if content airs on linear TV or a FAST channel.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70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4270248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NDPA 2023, enforced by the NDPC — registration, DPIAs, penalties up to 2% of gross revenue or ₦10M.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286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 CHECKLIST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4928616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Business/tax registration · broadcasting notification · promotional-competition/lottery permit · data-protection registration · local counsel review before applications open.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632704"/>
            <a:ext cx="10424160" cy="0"/>
          </a:xfrm>
          <a:prstGeom prst="line">
            <a:avLst/>
          </a:prstGeom>
          <a:noFill/>
          <a:ln w="6350">
            <a:solidFill>
              <a:srgbClr val="8A7E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7698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legal advice. This varies by country and changes fast — Nigeria's gaming law only settled in the last two years. Confirm licensing scope with qualified local counsel in each anchor market before opening applications.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241C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ASIKO PRESENTS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94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TELEVISION AFRICA ENTREPRENEURS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NEXT!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2926080" cy="0"/>
          </a:xfrm>
          <a:prstGeom prst="line">
            <a:avLst/>
          </a:prstGeom>
          <a:noFill/>
          <a:ln w="19050">
            <a:solidFill>
              <a:srgbClr val="E8A9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Idani Upah, ARPA — Managing Director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67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john.upah@mediaiconsltd.com   ·   +234 803 538 2590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60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Lagos, Nigeria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2026-08-31T18:04:39Z</dcterms:created>
  <dcterms:modified xsi:type="dcterms:W3CDTF">2026-08-31T18:04:39Z</dcterms:modified>
</cp:coreProperties>
</file>