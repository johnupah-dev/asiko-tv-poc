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141732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600" b="1" dirty="0">
                <a:solidFill>
                  <a:srgbClr val="EFBF0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ASIKO TV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11480" y="566928"/>
            <a:ext cx="5394960" cy="4206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POC → MVP Proof Plan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29768" y="1033272"/>
            <a:ext cx="749808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250" dirty="0">
                <a:solidFill>
                  <a:srgbClr val="B8C1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Recommendation: keep the working design, stop experimenting, prove one FAST template + one LIVE template, then replicate across the 28-channel POC before Enveu handover.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8549640" y="365760"/>
            <a:ext cx="2971800" cy="210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r" indent="0" marL="0">
              <a:lnSpc>
                <a:spcPct val="96000"/>
              </a:lnSpc>
              <a:buNone/>
            </a:pPr>
            <a:r>
              <a:rPr lang="en-US" sz="1350" b="1" dirty="0">
                <a:solidFill>
                  <a:srgbClr val="2EE5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TODAY: real FAST + Channel 27 LIVE proven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321040" y="704088"/>
            <a:ext cx="3200400" cy="210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r" indent="0" marL="0">
              <a:lnSpc>
                <a:spcPct val="96000"/>
              </a:lnSpc>
              <a:buNone/>
            </a:pPr>
            <a:r>
              <a:rPr lang="en-US" sz="1180" dirty="0">
                <a:solidFill>
                  <a:srgbClr val="EFBF0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MVP target: 14–21 days • Enveu full build: $13k</a:t>
            </a:r>
            <a:endParaRPr lang="en-US" sz="1180" dirty="0"/>
          </a:p>
        </p:txBody>
      </p:sp>
      <p:sp>
        <p:nvSpPr>
          <p:cNvPr id="7" name="Text 5"/>
          <p:cNvSpPr/>
          <p:nvPr/>
        </p:nvSpPr>
        <p:spPr>
          <a:xfrm>
            <a:off x="8321040" y="987552"/>
            <a:ext cx="3200400" cy="1920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r" indent="0" marL="0">
              <a:lnSpc>
                <a:spcPct val="96000"/>
              </a:lnSpc>
              <a:buNone/>
            </a:pPr>
            <a:r>
              <a:rPr lang="en-US" sz="1130" dirty="0">
                <a:solidFill>
                  <a:srgbClr val="8EA0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build 110 now. Prove 28 well.</a:t>
            </a:r>
            <a:endParaRPr lang="en-US" sz="1130" dirty="0"/>
          </a:p>
        </p:txBody>
      </p:sp>
      <p:sp>
        <p:nvSpPr>
          <p:cNvPr id="8" name="Shape 6"/>
          <p:cNvSpPr/>
          <p:nvPr/>
        </p:nvSpPr>
        <p:spPr>
          <a:xfrm>
            <a:off x="411480" y="1417320"/>
            <a:ext cx="11338560" cy="0"/>
          </a:xfrm>
          <a:prstGeom prst="line">
            <a:avLst/>
          </a:prstGeom>
          <a:noFill/>
          <a:ln w="12700">
            <a:solidFill>
              <a:srgbClr val="2C38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1591056"/>
            <a:ext cx="1325880" cy="3017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24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28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75488" y="1920240"/>
            <a:ext cx="132588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950" dirty="0">
                <a:solidFill>
                  <a:srgbClr val="B8C1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POC channels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167128" y="1627632"/>
            <a:ext cx="0" cy="457200"/>
          </a:xfrm>
          <a:prstGeom prst="line">
            <a:avLst/>
          </a:prstGeom>
          <a:noFill/>
          <a:ln w="12700">
            <a:solidFill>
              <a:srgbClr val="2C38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79192" y="1591056"/>
            <a:ext cx="1325880" cy="3017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2400" b="1" dirty="0">
                <a:solidFill>
                  <a:srgbClr val="FF4D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679192" y="1920240"/>
            <a:ext cx="132588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950" dirty="0">
                <a:solidFill>
                  <a:srgbClr val="B8C1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channels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370832" y="1627632"/>
            <a:ext cx="0" cy="457200"/>
          </a:xfrm>
          <a:prstGeom prst="line">
            <a:avLst/>
          </a:prstGeom>
          <a:noFill/>
          <a:ln w="12700">
            <a:solidFill>
              <a:srgbClr val="2C384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82896" y="1591056"/>
            <a:ext cx="1325880" cy="3017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2400" b="1" dirty="0">
                <a:solidFill>
                  <a:srgbClr val="2EE5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882896" y="1920240"/>
            <a:ext cx="132588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950" dirty="0">
                <a:solidFill>
                  <a:srgbClr val="B8C1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 template first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574536" y="1627632"/>
            <a:ext cx="0" cy="457200"/>
          </a:xfrm>
          <a:prstGeom prst="line">
            <a:avLst/>
          </a:prstGeom>
          <a:noFill/>
          <a:ln w="12700">
            <a:solidFill>
              <a:srgbClr val="2C384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86600" y="1591056"/>
            <a:ext cx="1325880" cy="3017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2400" b="1" dirty="0">
                <a:solidFill>
                  <a:srgbClr val="A78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72h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7086600" y="1920240"/>
            <a:ext cx="132588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950" dirty="0">
                <a:solidFill>
                  <a:srgbClr val="B8C1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soak test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778240" y="1627632"/>
            <a:ext cx="0" cy="457200"/>
          </a:xfrm>
          <a:prstGeom prst="line">
            <a:avLst/>
          </a:prstGeom>
          <a:noFill/>
          <a:ln w="12700">
            <a:solidFill>
              <a:srgbClr val="2C384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290304" y="1591056"/>
            <a:ext cx="1325880" cy="3017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2400" b="1" dirty="0">
                <a:solidFill>
                  <a:srgbClr val="EFBF0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$1k–$2.5k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9290304" y="1920240"/>
            <a:ext cx="132588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950" dirty="0">
                <a:solidFill>
                  <a:srgbClr val="B8C1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reserve to Dec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11480" y="2286000"/>
            <a:ext cx="11338560" cy="0"/>
          </a:xfrm>
          <a:prstGeom prst="line">
            <a:avLst/>
          </a:prstGeom>
          <a:noFill/>
          <a:ln w="12700">
            <a:solidFill>
              <a:srgbClr val="2C384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8912" y="2487168"/>
            <a:ext cx="365760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Step-by-step route to MVP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448056" y="2761488"/>
            <a:ext cx="384048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70" dirty="0">
                <a:solidFill>
                  <a:srgbClr val="8EA0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these in order — no new toys until these pass.</a:t>
            </a:r>
            <a:endParaRPr lang="en-US" sz="1070" dirty="0"/>
          </a:p>
        </p:txBody>
      </p:sp>
      <p:sp>
        <p:nvSpPr>
          <p:cNvPr id="26" name="Text 24"/>
          <p:cNvSpPr/>
          <p:nvPr/>
        </p:nvSpPr>
        <p:spPr>
          <a:xfrm>
            <a:off x="502920" y="3154680"/>
            <a:ext cx="27432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1800" b="1" dirty="0">
                <a:solidFill>
                  <a:srgbClr val="FF4D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886968" y="3154680"/>
            <a:ext cx="2770632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Fix trust first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886968" y="3383280"/>
            <a:ext cx="2770632" cy="3383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70" dirty="0">
                <a:solidFill>
                  <a:srgbClr val="B8C1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HTTPS/SSL on asiko.africa, no mixed content, no “Not secure” warning.</a:t>
            </a:r>
            <a:endParaRPr lang="en-US" sz="1070" dirty="0"/>
          </a:p>
        </p:txBody>
      </p:sp>
      <p:sp>
        <p:nvSpPr>
          <p:cNvPr id="29" name="Text 27"/>
          <p:cNvSpPr/>
          <p:nvPr/>
        </p:nvSpPr>
        <p:spPr>
          <a:xfrm>
            <a:off x="4343400" y="3154680"/>
            <a:ext cx="27432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1800" b="1" dirty="0">
                <a:solidFill>
                  <a:srgbClr val="2EE5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4727448" y="3154680"/>
            <a:ext cx="2862072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 one FAST channel bulletproof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4727448" y="3383280"/>
            <a:ext cx="2862072" cy="3383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70" dirty="0">
                <a:solidFill>
                  <a:srgbClr val="B8C1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Proper schedule, NOW/NEXT, EPG, fallback slate; run 24h → 48h → 72h.</a:t>
            </a:r>
            <a:endParaRPr lang="en-US" sz="1070" dirty="0"/>
          </a:p>
        </p:txBody>
      </p:sp>
      <p:sp>
        <p:nvSpPr>
          <p:cNvPr id="32" name="Text 30"/>
          <p:cNvSpPr/>
          <p:nvPr/>
        </p:nvSpPr>
        <p:spPr>
          <a:xfrm>
            <a:off x="8092440" y="3154680"/>
            <a:ext cx="27432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1800" b="1" dirty="0">
                <a:solidFill>
                  <a:srgbClr val="FF4D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8476488" y="3154680"/>
            <a:ext cx="3044952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 Channel 27 the LIVE reference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8476488" y="3383280"/>
            <a:ext cx="3044952" cy="3383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70" dirty="0">
                <a:solidFill>
                  <a:srgbClr val="B8C1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source loss, reconnect, audio sync, latency, mobile playback and multi-hour continuity.</a:t>
            </a:r>
            <a:endParaRPr lang="en-US" sz="1070" dirty="0"/>
          </a:p>
        </p:txBody>
      </p:sp>
      <p:sp>
        <p:nvSpPr>
          <p:cNvPr id="35" name="Text 33"/>
          <p:cNvSpPr/>
          <p:nvPr/>
        </p:nvSpPr>
        <p:spPr>
          <a:xfrm>
            <a:off x="502920" y="4023360"/>
            <a:ext cx="27432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886968" y="4023360"/>
            <a:ext cx="2770632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Fix mobile TV experience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886968" y="4251960"/>
            <a:ext cx="2770632" cy="3383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70" dirty="0">
                <a:solidFill>
                  <a:srgbClr val="B8C1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Portrait page, horizontal 16:9 player; landscape goes full-screen. No stretching/cropping.</a:t>
            </a:r>
            <a:endParaRPr lang="en-US" sz="1070" dirty="0"/>
          </a:p>
        </p:txBody>
      </p:sp>
      <p:sp>
        <p:nvSpPr>
          <p:cNvPr id="38" name="Text 36"/>
          <p:cNvSpPr/>
          <p:nvPr/>
        </p:nvSpPr>
        <p:spPr>
          <a:xfrm>
            <a:off x="4343400" y="4023360"/>
            <a:ext cx="27432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1800" b="1" dirty="0">
                <a:solidFill>
                  <a:srgbClr val="EFBF0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4727448" y="4023360"/>
            <a:ext cx="2862072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Prove ads + analytics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4727448" y="4251960"/>
            <a:ext cx="2862072" cy="3383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70" dirty="0">
                <a:solidFill>
                  <a:srgbClr val="B8C1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House ad break first; track play starts, watch time, channel, device, geography, failures.</a:t>
            </a:r>
            <a:endParaRPr lang="en-US" sz="1070" dirty="0"/>
          </a:p>
        </p:txBody>
      </p:sp>
      <p:sp>
        <p:nvSpPr>
          <p:cNvPr id="41" name="Text 39"/>
          <p:cNvSpPr/>
          <p:nvPr/>
        </p:nvSpPr>
        <p:spPr>
          <a:xfrm>
            <a:off x="8092440" y="4023360"/>
            <a:ext cx="27432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1800" b="1" dirty="0">
                <a:solidFill>
                  <a:srgbClr val="A78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8476488" y="4023360"/>
            <a:ext cx="3044952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Replicate only after proof</a:t>
            </a:r>
            <a:endParaRPr lang="en-US" sz="1350" dirty="0"/>
          </a:p>
        </p:txBody>
      </p:sp>
      <p:sp>
        <p:nvSpPr>
          <p:cNvPr id="43" name="Text 41"/>
          <p:cNvSpPr/>
          <p:nvPr/>
        </p:nvSpPr>
        <p:spPr>
          <a:xfrm>
            <a:off x="8476488" y="4251960"/>
            <a:ext cx="3044952" cy="3383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70" dirty="0">
                <a:solidFill>
                  <a:srgbClr val="B8C1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Clone the channel template across 28; QA on Android, iPhone, laptop, TV and mobile data.</a:t>
            </a:r>
            <a:endParaRPr lang="en-US" sz="1070" dirty="0"/>
          </a:p>
        </p:txBody>
      </p:sp>
      <p:sp>
        <p:nvSpPr>
          <p:cNvPr id="44" name="Shape 42"/>
          <p:cNvSpPr/>
          <p:nvPr/>
        </p:nvSpPr>
        <p:spPr>
          <a:xfrm>
            <a:off x="411480" y="4846320"/>
            <a:ext cx="11338560" cy="0"/>
          </a:xfrm>
          <a:prstGeom prst="line">
            <a:avLst/>
          </a:prstGeom>
          <a:noFill/>
          <a:ln w="12700">
            <a:solidFill>
              <a:srgbClr val="2C384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7200" y="5065776"/>
            <a:ext cx="292608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Content rule per channel</a:t>
            </a:r>
            <a:endParaRPr lang="en-US" sz="1700" dirty="0"/>
          </a:p>
        </p:txBody>
      </p:sp>
      <p:sp>
        <p:nvSpPr>
          <p:cNvPr id="46" name="Text 44"/>
          <p:cNvSpPr/>
          <p:nvPr/>
        </p:nvSpPr>
        <p:spPr>
          <a:xfrm>
            <a:off x="457200" y="5394960"/>
            <a:ext cx="3886200" cy="210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300" b="1" dirty="0">
                <a:solidFill>
                  <a:srgbClr val="2EE5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Minimum: 12 hrs unique content/channel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457200" y="5669280"/>
            <a:ext cx="388620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250" b="1" dirty="0">
                <a:solidFill>
                  <a:srgbClr val="EFBF0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 target: 24 hrs unique/channel</a:t>
            </a:r>
            <a:endParaRPr lang="en-US" sz="1250" dirty="0"/>
          </a:p>
        </p:txBody>
      </p:sp>
      <p:sp>
        <p:nvSpPr>
          <p:cNvPr id="48" name="Text 46"/>
          <p:cNvSpPr/>
          <p:nvPr/>
        </p:nvSpPr>
        <p:spPr>
          <a:xfrm>
            <a:off x="457200" y="5971032"/>
            <a:ext cx="5257800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20" dirty="0">
                <a:solidFill>
                  <a:srgbClr val="B8C1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28 channels = 336 hrs minimum • 672 hrs strong target. Repeats are allowed; refresh 10–20% weekly. LIVE needs fallback slate + recorded backup loop.</a:t>
            </a:r>
            <a:endParaRPr lang="en-US" sz="1020" dirty="0"/>
          </a:p>
        </p:txBody>
      </p:sp>
      <p:sp>
        <p:nvSpPr>
          <p:cNvPr id="49" name="Shape 47"/>
          <p:cNvSpPr/>
          <p:nvPr/>
        </p:nvSpPr>
        <p:spPr>
          <a:xfrm>
            <a:off x="5989320" y="5010912"/>
            <a:ext cx="0" cy="1344168"/>
          </a:xfrm>
          <a:prstGeom prst="line">
            <a:avLst/>
          </a:prstGeom>
          <a:noFill/>
          <a:ln w="12700">
            <a:solidFill>
              <a:srgbClr val="2C384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217920" y="5065776"/>
            <a:ext cx="347472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Brutal fixes before calling it MVP</a:t>
            </a:r>
            <a:endParaRPr lang="en-US" sz="1700" dirty="0"/>
          </a:p>
        </p:txBody>
      </p:sp>
      <p:sp>
        <p:nvSpPr>
          <p:cNvPr id="51" name="Text 49"/>
          <p:cNvSpPr/>
          <p:nvPr/>
        </p:nvSpPr>
        <p:spPr>
          <a:xfrm>
            <a:off x="6217920" y="5394960"/>
            <a:ext cx="5394960" cy="8046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30" dirty="0">
                <a:solidFill>
                  <a:srgbClr val="B8C1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No dead feeds or stale “7 channels” copy</a:t>
            </a:r>
            <a:endParaRPr lang="en-US" sz="1030" dirty="0"/>
          </a:p>
          <a:p>
            <a:pPr algn="l" indent="0" marL="0">
              <a:lnSpc>
                <a:spcPct val="96000"/>
              </a:lnSpc>
              <a:buNone/>
            </a:pPr>
            <a:r>
              <a:rPr lang="en-US" sz="1030" dirty="0">
                <a:solidFill>
                  <a:srgbClr val="B8C1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No loops pretending to be programmed TV</a:t>
            </a:r>
            <a:endParaRPr lang="en-US" sz="1030" dirty="0"/>
          </a:p>
          <a:p>
            <a:pPr algn="l" indent="0" marL="0">
              <a:lnSpc>
                <a:spcPct val="96000"/>
              </a:lnSpc>
              <a:buNone/>
            </a:pPr>
            <a:r>
              <a:rPr lang="en-US" sz="1030" dirty="0">
                <a:solidFill>
                  <a:srgbClr val="B8C1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No ad-revenue display unless tracking is real</a:t>
            </a:r>
            <a:endParaRPr lang="en-US" sz="1030" dirty="0"/>
          </a:p>
          <a:p>
            <a:pPr algn="l" indent="0" marL="0">
              <a:lnSpc>
                <a:spcPct val="96000"/>
              </a:lnSpc>
              <a:buNone/>
            </a:pPr>
            <a:r>
              <a:rPr lang="en-US" sz="1030" dirty="0">
                <a:solidFill>
                  <a:srgbClr val="B8C1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No HDD-only master archive</a:t>
            </a:r>
            <a:endParaRPr lang="en-US" sz="1030" dirty="0"/>
          </a:p>
          <a:p>
            <a:pPr algn="l" indent="0" marL="0">
              <a:lnSpc>
                <a:spcPct val="96000"/>
              </a:lnSpc>
              <a:buNone/>
            </a:pPr>
            <a:r>
              <a:rPr lang="en-US" sz="1030" dirty="0">
                <a:solidFill>
                  <a:srgbClr val="B8C1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No 28 separate paid engines until cost model is clear</a:t>
            </a:r>
            <a:endParaRPr lang="en-US" sz="1030" dirty="0"/>
          </a:p>
        </p:txBody>
      </p:sp>
      <p:sp>
        <p:nvSpPr>
          <p:cNvPr id="52" name="Shape 50"/>
          <p:cNvSpPr/>
          <p:nvPr/>
        </p:nvSpPr>
        <p:spPr>
          <a:xfrm>
            <a:off x="411480" y="6510528"/>
            <a:ext cx="11338560" cy="0"/>
          </a:xfrm>
          <a:prstGeom prst="line">
            <a:avLst/>
          </a:prstGeom>
          <a:noFill/>
          <a:ln w="12700">
            <a:solidFill>
              <a:srgbClr val="2C384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48640" y="6601968"/>
            <a:ext cx="1106424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880" dirty="0">
                <a:solidFill>
                  <a:srgbClr val="8EA0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MVP acceptance test: open Asiko on mobile data → pick FAST → switch to Channel 27 LIVE → rotate full-screen → see NOW/NEXT + ad break → no buffering or black screen.</a:t>
            </a:r>
            <a:endParaRPr lang="en-US" sz="8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Media Icons Africa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Asiko TV POC to MVP Proof Plan</dc:title>
  <dc:subject>Asiko TV POC to MVP recommendations</dc:subject>
  <dc:creator>OpenAI</dc:creator>
  <cp:lastModifiedBy>OpenAI</cp:lastModifiedBy>
  <cp:revision>1</cp:revision>
  <dcterms:created xsi:type="dcterms:W3CDTF">2026-09-12T14:37:08Z</dcterms:created>
  <dcterms:modified xsi:type="dcterms:W3CDTF">2026-09-12T14:37:08Z</dcterms:modified>
</cp:coreProperties>
</file>