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jpg"/><Relationship Id="rId6" Type="http://schemas.openxmlformats.org/officeDocument/2006/relationships/image" Target="../media/image-6-6.jpg"/><Relationship Id="rId7" Type="http://schemas.openxmlformats.org/officeDocument/2006/relationships/image" Target="../media/image-6-7.jpg"/><Relationship Id="rId8" Type="http://schemas.openxmlformats.org/officeDocument/2006/relationships/image" Target="../media/image-6-8.jpg"/><Relationship Id="rId9" Type="http://schemas.openxmlformats.org/officeDocument/2006/relationships/image" Target="../media/image-6-9.jpg"/><Relationship Id="rId10" Type="http://schemas.openxmlformats.org/officeDocument/2006/relationships/image" Target="../media/image-6-10.jp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jp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jp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jpg"/><Relationship Id="rId21" Type="http://schemas.openxmlformats.org/officeDocument/2006/relationships/image" Target="../media/image-6-21.jpg"/><Relationship Id="rId22" Type="http://schemas.openxmlformats.org/officeDocument/2006/relationships/image" Target="../media/image-6-22.jpg"/><Relationship Id="rId23" Type="http://schemas.openxmlformats.org/officeDocument/2006/relationships/image" Target="../media/image-6-23.jpg"/><Relationship Id="rId24" Type="http://schemas.openxmlformats.org/officeDocument/2006/relationships/image" Target="../media/image-6-24.jp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jp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jpg"/><Relationship Id="rId10" Type="http://schemas.openxmlformats.org/officeDocument/2006/relationships/image" Target="../media/image-7-10.jpg"/><Relationship Id="rId11" Type="http://schemas.openxmlformats.org/officeDocument/2006/relationships/image" Target="../media/image-7-11.jp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jpg"/><Relationship Id="rId16" Type="http://schemas.openxmlformats.org/officeDocument/2006/relationships/image" Target="../media/image-7-16.jp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jp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jpg"/><Relationship Id="rId23" Type="http://schemas.openxmlformats.org/officeDocument/2006/relationships/image" Target="../media/image-7-23.jpeg"/><Relationship Id="rId24" Type="http://schemas.openxmlformats.org/officeDocument/2006/relationships/image" Target="../media/image-7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jpg"/><Relationship Id="rId6" Type="http://schemas.openxmlformats.org/officeDocument/2006/relationships/image" Target="../media/image-8-6.jp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jp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jpg"/><Relationship Id="rId20" Type="http://schemas.openxmlformats.org/officeDocument/2006/relationships/image" Target="../media/image-8-20.jpg"/><Relationship Id="rId21" Type="http://schemas.openxmlformats.org/officeDocument/2006/relationships/image" Target="../media/image-8-21.png"/><Relationship Id="rId22" Type="http://schemas.openxmlformats.org/officeDocument/2006/relationships/image" Target="../media/image-8-22.jpg"/><Relationship Id="rId23" Type="http://schemas.openxmlformats.org/officeDocument/2006/relationships/image" Target="../media/image-8-23.jpg"/><Relationship Id="rId24" Type="http://schemas.openxmlformats.org/officeDocument/2006/relationships/image" Target="../media/image-8-24.jp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g"/><Relationship Id="rId3" Type="http://schemas.openxmlformats.org/officeDocument/2006/relationships/image" Target="../media/image-9-3.png"/><Relationship Id="rId4" Type="http://schemas.openxmlformats.org/officeDocument/2006/relationships/image" Target="../media/image-9-4.jpeg"/><Relationship Id="rId5" Type="http://schemas.openxmlformats.org/officeDocument/2006/relationships/image" Target="../media/image-9-5.jpeg"/><Relationship Id="rId6" Type="http://schemas.openxmlformats.org/officeDocument/2006/relationships/image" Target="../media/image-9-6.jpg"/><Relationship Id="rId7" Type="http://schemas.openxmlformats.org/officeDocument/2006/relationships/image" Target="../media/image-9-7.jpg"/><Relationship Id="rId8" Type="http://schemas.openxmlformats.org/officeDocument/2006/relationships/image" Target="../media/image-9-8.jpg"/><Relationship Id="rId9" Type="http://schemas.openxmlformats.org/officeDocument/2006/relationships/image" Target="../media/image-9-9.jpg"/><Relationship Id="rId10" Type="http://schemas.openxmlformats.org/officeDocument/2006/relationships/image" Target="../media/image-9-10.jpeg"/><Relationship Id="rId11" Type="http://schemas.openxmlformats.org/officeDocument/2006/relationships/image" Target="../media/image-9-11.jpeg"/><Relationship Id="rId12" Type="http://schemas.openxmlformats.org/officeDocument/2006/relationships/image" Target="../media/image-9-12.png"/><Relationship Id="rId13" Type="http://schemas.openxmlformats.org/officeDocument/2006/relationships/image" Target="../media/image-9-13.jpg"/><Relationship Id="rId14" Type="http://schemas.openxmlformats.org/officeDocument/2006/relationships/image" Target="../media/image-9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image" Target="../media/image-3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e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image" Target="../media/image-3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eg"/><Relationship Id="rId2" Type="http://schemas.openxmlformats.org/officeDocument/2006/relationships/image" Target="../media/image-3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image" Target="../media/image-3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eg"/><Relationship Id="rId2" Type="http://schemas.openxmlformats.org/officeDocument/2006/relationships/image" Target="../media/image-4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g"/><Relationship Id="rId2" Type="http://schemas.openxmlformats.org/officeDocument/2006/relationships/image" Target="../media/image-4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jp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jpg"/><Relationship Id="rId2" Type="http://schemas.openxmlformats.org/officeDocument/2006/relationships/image" Target="../media/image-51-2.jpg"/><Relationship Id="rId3" Type="http://schemas.openxmlformats.org/officeDocument/2006/relationships/image" Target="../media/image-51-3.jpg"/><Relationship Id="rId4" Type="http://schemas.openxmlformats.org/officeDocument/2006/relationships/image" Target="../media/image-51-4.png"/><Relationship Id="rId5" Type="http://schemas.openxmlformats.org/officeDocument/2006/relationships/image" Target="../media/image-51-5.jpg"/><Relationship Id="rId6" Type="http://schemas.openxmlformats.org/officeDocument/2006/relationships/image" Target="../media/image-51-6.jpg"/><Relationship Id="rId7" Type="http://schemas.openxmlformats.org/officeDocument/2006/relationships/image" Target="../media/image-51-7.png"/><Relationship Id="rId8" Type="http://schemas.openxmlformats.org/officeDocument/2006/relationships/image" Target="../media/image-51-8.png"/><Relationship Id="rId9" Type="http://schemas.openxmlformats.org/officeDocument/2006/relationships/image" Target="../media/image-51-9.jpg"/><Relationship Id="rId10" Type="http://schemas.openxmlformats.org/officeDocument/2006/relationships/image" Target="../media/image-5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20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200" kern="0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ASIKO TV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2971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C99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SOUL OF AFRICA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68680" y="3520440"/>
            <a:ext cx="2926080" cy="0"/>
          </a:xfrm>
          <a:prstGeom prst="line">
            <a:avLst/>
          </a:prstGeom>
          <a:noFill/>
          <a:ln w="19050">
            <a:solidFill>
              <a:srgbClr val="C996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3703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Full Channel Bouquet &amp; Content Map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2245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POC / MVP Platform Channel-Build Reference — One Africa. One Market. One Destination.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5989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by Media Icons Africa  ·  Managing Director: John Idani Upah (ARPA)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C996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AT A GLANCE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9601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Asiko TV, in numbers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15151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203911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963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86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7432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Channels mapped in this document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(84 onboarding + 2 new flagship)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547872" y="187452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15151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85032" y="203911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963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110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685032" y="27432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linear channels at full rollout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(~2 per African country, 54 countries)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72784" y="187452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15151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9944" y="203911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963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19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409944" y="27432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Genre categories in the Asiko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map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997696" y="187452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15151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34856" y="203911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963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100%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9134856" y="27432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Free, ad-supported FAST TV —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subscription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Audience &amp; model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279392"/>
            <a:ext cx="10332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audience: the African diaspora (UK, US, Canada, Europe) — plus "community TV" reach into the marketplace worldwide.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Mission: keep the diaspora connected to home, and introduce diaspora children to their heritage.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Monetisation: one category-exclusive market-leader sponsor per sector, across ~30 target sectors, layered with standard ad sales.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stage: live POC (asiko.africa) plus onboarding site (asiko.live) with 73+ channels already signalling interest — this document turns that interest list into a build-ready map.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023360" cy="329184"/>
          </a:xfrm>
          <a:prstGeom prst="roundRect">
            <a:avLst>
              <a:gd name="adj" fmla="val 50000"/>
            </a:avLst>
          </a:prstGeom>
          <a:solidFill>
            <a:srgbClr val="C996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TO USE THIS DOCUMENT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960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From an interest list to a build plan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916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deck replaces the earlier HOME TV Africa / Tattase TV brand-architecture concept with a single working document for Asiko TV: every channel that has indicated interest in the now-live asiko.africa / asiko.live sign-up, organised into one genre map, ready to hand to the channel-build (Eyevinn Channel Engine / EPG) workstream.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2468880" cy="2651760"/>
          </a:xfrm>
          <a:prstGeom prst="roundRect">
            <a:avLst>
              <a:gd name="adj" fmla="val 2963"/>
            </a:avLst>
          </a:prstGeom>
          <a:solidFill>
            <a:srgbClr val="151515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3063240"/>
            <a:ext cx="457200" cy="457200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05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657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1. Content Map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0690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 channels sorted into 19 genre categories — the shelf structure for the EPG.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47872" y="2880360"/>
            <a:ext cx="2468880" cy="2651760"/>
          </a:xfrm>
          <a:prstGeom prst="roundRect">
            <a:avLst>
              <a:gd name="adj" fmla="val 2963"/>
            </a:avLst>
          </a:prstGeom>
          <a:solidFill>
            <a:srgbClr val="151515"/>
          </a:solidFill>
          <a:ln/>
        </p:spPr>
      </p:sp>
      <p:sp>
        <p:nvSpPr>
          <p:cNvPr id="12" name="Shape 10"/>
          <p:cNvSpPr/>
          <p:nvPr/>
        </p:nvSpPr>
        <p:spPr>
          <a:xfrm>
            <a:off x="3730752" y="3063240"/>
            <a:ext cx="457200" cy="457200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730752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05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730752" y="3657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2. Channel Pages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730752" y="40690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confirmed channel with logo, genre tag and synopsis — copy-ready for the platform CMS.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72784" y="2880360"/>
            <a:ext cx="2468880" cy="2651760"/>
          </a:xfrm>
          <a:prstGeom prst="roundRect">
            <a:avLst>
              <a:gd name="adj" fmla="val 2963"/>
            </a:avLst>
          </a:prstGeom>
          <a:solidFill>
            <a:srgbClr val="151515"/>
          </a:solidFill>
          <a:ln/>
        </p:spPr>
      </p:sp>
      <p:sp>
        <p:nvSpPr>
          <p:cNvPr id="17" name="Shape 15"/>
          <p:cNvSpPr/>
          <p:nvPr/>
        </p:nvSpPr>
        <p:spPr>
          <a:xfrm>
            <a:off x="6455664" y="3063240"/>
            <a:ext cx="457200" cy="457200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55664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05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55664" y="3657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3. Onboarding Queue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55664" y="40690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Channels still needing a confirmed genre or synopsis, flagged so nothing launches un-briefed.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97696" y="2880360"/>
            <a:ext cx="2468880" cy="2651760"/>
          </a:xfrm>
          <a:prstGeom prst="roundRect">
            <a:avLst>
              <a:gd name="adj" fmla="val 2963"/>
            </a:avLst>
          </a:prstGeom>
          <a:solidFill>
            <a:srgbClr val="151515"/>
          </a:solidFill>
          <a:ln/>
        </p:spPr>
      </p:sp>
      <p:sp>
        <p:nvSpPr>
          <p:cNvPr id="22" name="Shape 20"/>
          <p:cNvSpPr/>
          <p:nvPr/>
        </p:nvSpPr>
        <p:spPr>
          <a:xfrm>
            <a:off x="9180576" y="3063240"/>
            <a:ext cx="457200" cy="457200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80576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05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180576" y="3657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4. Build Guidance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180576" y="40690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channels seed the POC, which fill out the MVP, and how the rest phases in toward 110.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657600" cy="329184"/>
          </a:xfrm>
          <a:prstGeom prst="roundRect">
            <a:avLst>
              <a:gd name="adj" fmla="val 50000"/>
            </a:avLst>
          </a:prstGeom>
          <a:solidFill>
            <a:srgbClr val="C996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ASIKO CONTENT MAP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9611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Genre overview  (1 of 2)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6002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Flagship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6002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two house channels that anchor the whole bouquet.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921240" y="16367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921240" y="16367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channels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0574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20574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Nollywood &amp; Drama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20574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Movies and scripted drama — the biggest, most universal block on the platform.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921240" y="20939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921240" y="20939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channels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25146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2514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Faith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25146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Worship, ministry and faith-led programming across denominations and languages.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921240" y="25511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921240" y="25511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channels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" y="29718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5840" y="29718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News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206240" y="29718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 news, politics and entertainment/celebrity news.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921240" y="30083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921240" y="30083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channels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2960" y="34290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05840" y="34290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Business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206240" y="34290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Markets, executive talk, real estate and corporate/CSR programming.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921240" y="34655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921240" y="34655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channels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" y="38862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05840" y="38862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Comedy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206240" y="38862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Indigenous African stand-up and comedy programming.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921240" y="39227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921240" y="39227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channels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22960" y="43434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05840" y="43434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Beauty &amp; Fashion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206240" y="43434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Style, glamour, runway and design across the continent.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921240" y="43799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921240" y="43799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channels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22960" y="48006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1005840" y="4800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Weddings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206240" y="48006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African celebration culture built around the wedding industry.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921240" y="48371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9921240" y="48371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channels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22960" y="52578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1005840" y="52578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Kiddies &amp; Teens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4206240" y="52578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Cartoons, talent-grooming and teen/youth lifestyle.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9921240" y="52943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9921240" y="52943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channels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22960" y="57150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1005840" y="57150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Music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4206240" y="57150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Urban, contemporary and industry-side African music.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9921240" y="57515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9921240" y="57515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channels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657600" cy="329184"/>
          </a:xfrm>
          <a:prstGeom prst="roundRect">
            <a:avLst>
              <a:gd name="adj" fmla="val 50000"/>
            </a:avLst>
          </a:prstGeom>
          <a:solidFill>
            <a:srgbClr val="C996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ASIKO CONTENT MAP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9611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Genre overview  (2 of 2)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6002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Culture &amp; Heritage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6002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Language-rooted culture channels and heritage documentary.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921240" y="16367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921240" y="16367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channels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0574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20574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Women's Empowerment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20574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Networking, mentorship and stories built for African women.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921240" y="20939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921240" y="20939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channels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25146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2514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Community, Civic &amp; Advocacy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25146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broadcasting, current affairs, inclusion and humanitarian work.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921240" y="25511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921240" y="25511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channels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" y="29718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5840" y="29718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Lifestyle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206240" y="29718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Food, personal development, national lifestyle and rural/agric life.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921240" y="30083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921240" y="30083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channels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2960" y="34290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05840" y="34290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Shopping &amp; Marketplace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206240" y="34290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MSME-driven shopping and e-commerce television.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921240" y="34655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921240" y="34655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channels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" y="38862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05840" y="38862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Travel &amp; Tourism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206240" y="38862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Destination and tourism content.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921240" y="39227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921240" y="39227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channels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22960" y="43434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05840" y="43434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Sports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206240" y="43434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Pan-African sports — a newly opened shelf.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921240" y="43799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921240" y="43799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channel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22960" y="48006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1005840" y="4800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General Entertainment &amp; Talent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206240" y="48006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Broad entertainment, icons/legends profiling and pageantry.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921240" y="48371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9921240" y="48371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channels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22960" y="52578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1005840" y="52578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Arts, Education &amp; Skills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4206240" y="52578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arts and skills/education programming.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9921240" y="52943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9921240" y="52943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channels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22960" y="57150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1005840" y="57150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Pending Classification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4206240" y="57150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channels whose genre can't yet be confirmed from name alone.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9921240" y="57515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9921240" y="57515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channels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108960" cy="329184"/>
          </a:xfrm>
          <a:prstGeom prst="roundRect">
            <a:avLst>
              <a:gd name="adj" fmla="val 50000"/>
            </a:avLst>
          </a:prstGeom>
          <a:solidFill>
            <a:srgbClr val="C996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ASIKO BOUQUET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9611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All channel identities  (86 logos on file)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Asiko TV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847" y="1898452"/>
            <a:ext cx="1026323" cy="60136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Asiko TV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892808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1" descr="/tmp/claude-0/-home-claude/dd876a1d-2a2f-5fed-893a-30051c76f5a3/scratchpad/work/logos_opt/Asiko+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295" y="1898452"/>
            <a:ext cx="1026323" cy="60136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892808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Asiko+</a:t>
            </a:r>
            <a:endParaRPr lang="en-US" sz="700" dirty="0"/>
          </a:p>
        </p:txBody>
      </p:sp>
      <p:sp>
        <p:nvSpPr>
          <p:cNvPr id="11" name="Shape 7"/>
          <p:cNvSpPr/>
          <p:nvPr/>
        </p:nvSpPr>
        <p:spPr>
          <a:xfrm>
            <a:off x="3191256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2" descr="/tmp/claude-0/-home-claude/dd876a1d-2a2f-5fed-893a-30051c76f5a3/scratchpad/work/logos_opt/movieafric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0743" y="1807663"/>
            <a:ext cx="1026323" cy="78293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191256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Movie Africa</a:t>
            </a:r>
            <a:endParaRPr lang="en-US" sz="700" dirty="0"/>
          </a:p>
        </p:txBody>
      </p:sp>
      <p:sp>
        <p:nvSpPr>
          <p:cNvPr id="14" name="Shape 9"/>
          <p:cNvSpPr/>
          <p:nvPr/>
        </p:nvSpPr>
        <p:spPr>
          <a:xfrm>
            <a:off x="4489704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5" name="Image 3" descr="/tmp/claude-0/-home-claude/dd876a1d-2a2f-5fed-893a-30051c76f5a3/scratchpad/work/logos_opt/movieafrica_int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9191" y="1817926"/>
            <a:ext cx="1026323" cy="762411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489704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Movie Africa International</a:t>
            </a:r>
            <a:endParaRPr lang="en-US" sz="700" dirty="0"/>
          </a:p>
        </p:txBody>
      </p:sp>
      <p:sp>
        <p:nvSpPr>
          <p:cNvPr id="17" name="Shape 11"/>
          <p:cNvSpPr/>
          <p:nvPr/>
        </p:nvSpPr>
        <p:spPr>
          <a:xfrm>
            <a:off x="5788152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8" name="Image 4" descr="/tmp/claude-0/-home-claude/dd876a1d-2a2f-5fed-893a-30051c76f5a3/scratchpad/work/logos_opt/MAE logo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4382" y="1782714"/>
            <a:ext cx="832836" cy="83283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788152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Movie Africa: Epic</a:t>
            </a:r>
            <a:endParaRPr lang="en-US" sz="700" dirty="0"/>
          </a:p>
        </p:txBody>
      </p:sp>
      <p:sp>
        <p:nvSpPr>
          <p:cNvPr id="20" name="Shape 13"/>
          <p:cNvSpPr/>
          <p:nvPr/>
        </p:nvSpPr>
        <p:spPr>
          <a:xfrm>
            <a:off x="7086600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1" name="Image 5" descr="/tmp/claude-0/-home-claude/dd876a1d-2a2f-5fed-893a-30051c76f5a3/scratchpad/work/logos_opt/MAY' logo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2830" y="1782714"/>
            <a:ext cx="832836" cy="832836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086600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Movie Africa: Yoruba</a:t>
            </a:r>
            <a:endParaRPr lang="en-US" sz="700" dirty="0"/>
          </a:p>
        </p:txBody>
      </p:sp>
      <p:sp>
        <p:nvSpPr>
          <p:cNvPr id="23" name="Shape 15"/>
          <p:cNvSpPr/>
          <p:nvPr/>
        </p:nvSpPr>
        <p:spPr>
          <a:xfrm>
            <a:off x="8385048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4" name="Image 6" descr="/tmp/claude-0/-home-claude/dd876a1d-2a2f-5fed-893a-30051c76f5a3/scratchpad/work/logos_opt/MAO logo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1278" y="1782714"/>
            <a:ext cx="832836" cy="832836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8385048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Movie Africa: Originals</a:t>
            </a:r>
            <a:endParaRPr lang="en-US" sz="700" dirty="0"/>
          </a:p>
        </p:txBody>
      </p:sp>
      <p:sp>
        <p:nvSpPr>
          <p:cNvPr id="26" name="Shape 17"/>
          <p:cNvSpPr/>
          <p:nvPr/>
        </p:nvSpPr>
        <p:spPr>
          <a:xfrm>
            <a:off x="9683496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7" name="Image 7" descr="/tmp/claude-0/-home-claude/dd876a1d-2a2f-5fed-893a-30051c76f5a3/scratchpad/work/logos_opt/MAI logo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9726" y="1782714"/>
            <a:ext cx="832836" cy="832836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9683496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Movie Africa: Igbo</a:t>
            </a:r>
            <a:endParaRPr lang="en-US" sz="700" dirty="0"/>
          </a:p>
        </p:txBody>
      </p:sp>
      <p:sp>
        <p:nvSpPr>
          <p:cNvPr id="29" name="Shape 19"/>
          <p:cNvSpPr/>
          <p:nvPr/>
        </p:nvSpPr>
        <p:spPr>
          <a:xfrm>
            <a:off x="594360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0" name="Image 8" descr="/tmp/claude-0/-home-claude/dd876a1d-2a2f-5fed-893a-30051c76f5a3/scratchpad/work/logos_opt/MAH logo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590" y="3200034"/>
            <a:ext cx="832836" cy="832836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594360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Movie Africa: Halisa</a:t>
            </a:r>
            <a:endParaRPr lang="en-US" sz="700" dirty="0"/>
          </a:p>
        </p:txBody>
      </p:sp>
      <p:sp>
        <p:nvSpPr>
          <p:cNvPr id="32" name="Shape 21"/>
          <p:cNvSpPr/>
          <p:nvPr/>
        </p:nvSpPr>
        <p:spPr>
          <a:xfrm>
            <a:off x="1892808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3" name="Image 9" descr="/tmp/claude-0/-home-claude/dd876a1d-2a2f-5fed-893a-30051c76f5a3/scratchpad/work/logos_opt/MAAS logo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89038" y="3200034"/>
            <a:ext cx="832836" cy="832836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1892808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Movie Africa: African Stories</a:t>
            </a:r>
            <a:endParaRPr lang="en-US" sz="700" dirty="0"/>
          </a:p>
        </p:txBody>
      </p:sp>
      <p:sp>
        <p:nvSpPr>
          <p:cNvPr id="35" name="Shape 23"/>
          <p:cNvSpPr/>
          <p:nvPr/>
        </p:nvSpPr>
        <p:spPr>
          <a:xfrm>
            <a:off x="3191256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6" name="Image 10" descr="/tmp/claude-0/-home-claude/dd876a1d-2a2f-5fed-893a-30051c76f5a3/scratchpad/work/logos_opt/oodua_sinema_olopin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90743" y="3235246"/>
            <a:ext cx="1026323" cy="762411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3191256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Sinema Olopin</a:t>
            </a:r>
            <a:endParaRPr lang="en-US" sz="700" dirty="0"/>
          </a:p>
        </p:txBody>
      </p:sp>
      <p:sp>
        <p:nvSpPr>
          <p:cNvPr id="38" name="Shape 25"/>
          <p:cNvSpPr/>
          <p:nvPr/>
        </p:nvSpPr>
        <p:spPr>
          <a:xfrm>
            <a:off x="4489704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9" name="Image 11" descr="/tmp/claude-0/-home-claude/dd876a1d-2a2f-5fed-893a-30051c76f5a3/scratchpad/work/logos_opt/movie_india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89191" y="3264251"/>
            <a:ext cx="1026323" cy="704402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4489704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Movie India</a:t>
            </a:r>
            <a:endParaRPr lang="en-US" sz="700" dirty="0"/>
          </a:p>
        </p:txBody>
      </p:sp>
      <p:sp>
        <p:nvSpPr>
          <p:cNvPr id="41" name="Shape 27"/>
          <p:cNvSpPr/>
          <p:nvPr/>
        </p:nvSpPr>
        <p:spPr>
          <a:xfrm>
            <a:off x="5788152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2" name="Image 12" descr="/tmp/claude-0/-home-claude/dd876a1d-2a2f-5fed-893a-30051c76f5a3/scratchpad/work/logos_opt/Yoruba Telfisian.jp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38517" y="3200034"/>
            <a:ext cx="724567" cy="832836"/>
          </a:xfrm>
          <a:prstGeom prst="rect">
            <a:avLst/>
          </a:prstGeom>
        </p:spPr>
      </p:pic>
      <p:sp>
        <p:nvSpPr>
          <p:cNvPr id="43" name="Text 28"/>
          <p:cNvSpPr txBox="1"/>
          <p:nvPr/>
        </p:nvSpPr>
        <p:spPr>
          <a:xfrm>
            <a:off x="5788152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Yoruba Telfisian</a:t>
            </a:r>
            <a:endParaRPr lang="en-US" sz="700" dirty="0"/>
          </a:p>
        </p:txBody>
      </p:sp>
      <p:sp>
        <p:nvSpPr>
          <p:cNvPr id="44" name="Shape 29"/>
          <p:cNvSpPr/>
          <p:nvPr/>
        </p:nvSpPr>
        <p:spPr>
          <a:xfrm>
            <a:off x="7086600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5" name="Image 13" descr="/tmp/claude-0/-home-claude/dd876a1d-2a2f-5fed-893a-30051c76f5a3/scratchpad/work/logos_opt/amen_movies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86087" y="3261555"/>
            <a:ext cx="1026323" cy="709793"/>
          </a:xfrm>
          <a:prstGeom prst="rect">
            <a:avLst/>
          </a:prstGeom>
        </p:spPr>
      </p:pic>
      <p:sp>
        <p:nvSpPr>
          <p:cNvPr id="46" name="Text 30"/>
          <p:cNvSpPr txBox="1"/>
          <p:nvPr/>
        </p:nvSpPr>
        <p:spPr>
          <a:xfrm>
            <a:off x="7086600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Amen Movies</a:t>
            </a:r>
            <a:endParaRPr lang="en-US" sz="700" dirty="0"/>
          </a:p>
        </p:txBody>
      </p:sp>
      <p:sp>
        <p:nvSpPr>
          <p:cNvPr id="47" name="Shape 31"/>
          <p:cNvSpPr/>
          <p:nvPr/>
        </p:nvSpPr>
        <p:spPr>
          <a:xfrm>
            <a:off x="8385048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8" name="Image 14" descr="/tmp/claude-0/-home-claude/dd876a1d-2a2f-5fed-893a-30051c76f5a3/scratchpad/work/logos_opt/amen_yoruba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84535" y="3263154"/>
            <a:ext cx="1026323" cy="706596"/>
          </a:xfrm>
          <a:prstGeom prst="rect">
            <a:avLst/>
          </a:prstGeom>
        </p:spPr>
      </p:pic>
      <p:sp>
        <p:nvSpPr>
          <p:cNvPr id="49" name="Text 32"/>
          <p:cNvSpPr txBox="1"/>
          <p:nvPr/>
        </p:nvSpPr>
        <p:spPr>
          <a:xfrm>
            <a:off x="8385048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Amen Yoruba</a:t>
            </a:r>
            <a:endParaRPr lang="en-US" sz="700" dirty="0"/>
          </a:p>
        </p:txBody>
      </p:sp>
      <p:sp>
        <p:nvSpPr>
          <p:cNvPr id="50" name="Shape 33"/>
          <p:cNvSpPr/>
          <p:nvPr/>
        </p:nvSpPr>
        <p:spPr>
          <a:xfrm>
            <a:off x="9683496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1" name="Image 15" descr="/tmp/claude-0/-home-claude/dd876a1d-2a2f-5fed-893a-30051c76f5a3/scratchpad/work/logos_opt/ppg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82983" y="3224983"/>
            <a:ext cx="1026323" cy="782937"/>
          </a:xfrm>
          <a:prstGeom prst="rect">
            <a:avLst/>
          </a:prstGeom>
        </p:spPr>
      </p:pic>
      <p:sp>
        <p:nvSpPr>
          <p:cNvPr id="52" name="Text 34"/>
          <p:cNvSpPr txBox="1"/>
          <p:nvPr/>
        </p:nvSpPr>
        <p:spPr>
          <a:xfrm>
            <a:off x="9683496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PPG</a:t>
            </a:r>
            <a:endParaRPr lang="en-US" sz="700" dirty="0"/>
          </a:p>
        </p:txBody>
      </p:sp>
      <p:sp>
        <p:nvSpPr>
          <p:cNvPr id="53" name="Shape 35"/>
          <p:cNvSpPr/>
          <p:nvPr/>
        </p:nvSpPr>
        <p:spPr>
          <a:xfrm>
            <a:off x="594360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4" name="Image 16" descr="/tmp/claude-0/-home-claude/dd876a1d-2a2f-5fed-893a-30051c76f5a3/scratchpad/work/logos_opt/Sutana TV (2).jp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1185" y="4617354"/>
            <a:ext cx="831646" cy="832836"/>
          </a:xfrm>
          <a:prstGeom prst="rect">
            <a:avLst/>
          </a:prstGeom>
        </p:spPr>
      </p:pic>
      <p:sp>
        <p:nvSpPr>
          <p:cNvPr id="55" name="Text 36"/>
          <p:cNvSpPr txBox="1"/>
          <p:nvPr/>
        </p:nvSpPr>
        <p:spPr>
          <a:xfrm>
            <a:off x="594360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Sultana</a:t>
            </a:r>
            <a:endParaRPr lang="en-US" sz="700" dirty="0"/>
          </a:p>
        </p:txBody>
      </p:sp>
      <p:sp>
        <p:nvSpPr>
          <p:cNvPr id="56" name="Shape 37"/>
          <p:cNvSpPr/>
          <p:nvPr/>
        </p:nvSpPr>
        <p:spPr>
          <a:xfrm>
            <a:off x="1892808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7" name="Image 17" descr="/tmp/claude-0/-home-claude/dd876a1d-2a2f-5fed-893a-30051c76f5a3/scratchpad/work/logos_opt/race_embassy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86042" y="4617354"/>
            <a:ext cx="838827" cy="832836"/>
          </a:xfrm>
          <a:prstGeom prst="rect">
            <a:avLst/>
          </a:prstGeom>
        </p:spPr>
      </p:pic>
      <p:sp>
        <p:nvSpPr>
          <p:cNvPr id="58" name="Text 38"/>
          <p:cNvSpPr txBox="1"/>
          <p:nvPr/>
        </p:nvSpPr>
        <p:spPr>
          <a:xfrm>
            <a:off x="1892808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Grace Embassy TV</a:t>
            </a:r>
            <a:endParaRPr lang="en-US" sz="700" dirty="0"/>
          </a:p>
        </p:txBody>
      </p:sp>
      <p:sp>
        <p:nvSpPr>
          <p:cNvPr id="59" name="Shape 39"/>
          <p:cNvSpPr/>
          <p:nvPr/>
        </p:nvSpPr>
        <p:spPr>
          <a:xfrm>
            <a:off x="3191256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0" name="Image 18" descr="/tmp/claude-0/-home-claude/dd876a1d-2a2f-5fed-893a-30051c76f5a3/scratchpad/work/logos_opt/mandate_news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290743" y="4626345"/>
            <a:ext cx="1026323" cy="814855"/>
          </a:xfrm>
          <a:prstGeom prst="rect">
            <a:avLst/>
          </a:prstGeom>
        </p:spPr>
      </p:pic>
      <p:sp>
        <p:nvSpPr>
          <p:cNvPr id="61" name="Text 40"/>
          <p:cNvSpPr txBox="1"/>
          <p:nvPr/>
        </p:nvSpPr>
        <p:spPr>
          <a:xfrm>
            <a:off x="3191256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Mandate News International</a:t>
            </a:r>
            <a:endParaRPr lang="en-US" sz="700" dirty="0"/>
          </a:p>
        </p:txBody>
      </p:sp>
      <p:sp>
        <p:nvSpPr>
          <p:cNvPr id="62" name="Shape 41"/>
          <p:cNvSpPr/>
          <p:nvPr/>
        </p:nvSpPr>
        <p:spPr>
          <a:xfrm>
            <a:off x="4489704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3" name="Image 19" descr="/tmp/claude-0/-home-claude/dd876a1d-2a2f-5fed-893a-30051c76f5a3/scratchpad/work/logos_opt/Goldmyne TV.jp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85934" y="4617354"/>
            <a:ext cx="832836" cy="832836"/>
          </a:xfrm>
          <a:prstGeom prst="rect">
            <a:avLst/>
          </a:prstGeom>
        </p:spPr>
      </p:pic>
      <p:sp>
        <p:nvSpPr>
          <p:cNvPr id="64" name="Text 42"/>
          <p:cNvSpPr txBox="1"/>
          <p:nvPr/>
        </p:nvSpPr>
        <p:spPr>
          <a:xfrm>
            <a:off x="4489704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GoldMyne TV</a:t>
            </a:r>
            <a:endParaRPr lang="en-US" sz="700" dirty="0"/>
          </a:p>
        </p:txBody>
      </p:sp>
      <p:sp>
        <p:nvSpPr>
          <p:cNvPr id="65" name="Shape 43"/>
          <p:cNvSpPr/>
          <p:nvPr/>
        </p:nvSpPr>
        <p:spPr>
          <a:xfrm>
            <a:off x="5788152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6" name="Image 20" descr="/tmp/claude-0/-home-claude/dd876a1d-2a2f-5fed-893a-30051c76f5a3/scratchpad/work/logos_opt/City People TV.jp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887639" y="4754139"/>
            <a:ext cx="1026323" cy="559266"/>
          </a:xfrm>
          <a:prstGeom prst="rect">
            <a:avLst/>
          </a:prstGeom>
        </p:spPr>
      </p:pic>
      <p:sp>
        <p:nvSpPr>
          <p:cNvPr id="67" name="Text 44"/>
          <p:cNvSpPr txBox="1"/>
          <p:nvPr/>
        </p:nvSpPr>
        <p:spPr>
          <a:xfrm>
            <a:off x="5788152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City People TV</a:t>
            </a:r>
            <a:endParaRPr lang="en-US" sz="700" dirty="0"/>
          </a:p>
        </p:txBody>
      </p:sp>
      <p:sp>
        <p:nvSpPr>
          <p:cNvPr id="68" name="Shape 45"/>
          <p:cNvSpPr/>
          <p:nvPr/>
        </p:nvSpPr>
        <p:spPr>
          <a:xfrm>
            <a:off x="7086600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9" name="Image 21" descr="/tmp/claude-0/-home-claude/dd876a1d-2a2f-5fed-893a-30051c76f5a3/scratchpad/work/logos_opt/GistMe TV.jp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82830" y="4617354"/>
            <a:ext cx="832836" cy="832836"/>
          </a:xfrm>
          <a:prstGeom prst="rect">
            <a:avLst/>
          </a:prstGeom>
        </p:spPr>
      </p:pic>
      <p:sp>
        <p:nvSpPr>
          <p:cNvPr id="70" name="Text 46"/>
          <p:cNvSpPr txBox="1"/>
          <p:nvPr/>
        </p:nvSpPr>
        <p:spPr>
          <a:xfrm>
            <a:off x="7086600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GistMe TV</a:t>
            </a:r>
            <a:endParaRPr lang="en-US" sz="700" dirty="0"/>
          </a:p>
        </p:txBody>
      </p:sp>
      <p:sp>
        <p:nvSpPr>
          <p:cNvPr id="71" name="Shape 47"/>
          <p:cNvSpPr/>
          <p:nvPr/>
        </p:nvSpPr>
        <p:spPr>
          <a:xfrm>
            <a:off x="8385048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72" name="Image 22" descr="/tmp/claude-0/-home-claude/dd876a1d-2a2f-5fed-893a-30051c76f5a3/scratchpad/work/logos_opt/FAD360.jp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84535" y="4676025"/>
            <a:ext cx="1026323" cy="715493"/>
          </a:xfrm>
          <a:prstGeom prst="rect">
            <a:avLst/>
          </a:prstGeom>
        </p:spPr>
      </p:pic>
      <p:sp>
        <p:nvSpPr>
          <p:cNvPr id="73" name="Text 48"/>
          <p:cNvSpPr txBox="1"/>
          <p:nvPr/>
        </p:nvSpPr>
        <p:spPr>
          <a:xfrm>
            <a:off x="8385048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FAD360</a:t>
            </a:r>
            <a:endParaRPr lang="en-US" sz="700" dirty="0"/>
          </a:p>
        </p:txBody>
      </p:sp>
      <p:sp>
        <p:nvSpPr>
          <p:cNvPr id="74" name="Shape 49"/>
          <p:cNvSpPr/>
          <p:nvPr/>
        </p:nvSpPr>
        <p:spPr>
          <a:xfrm>
            <a:off x="9683496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75" name="Image 23" descr="/tmp/claude-0/-home-claude/dd876a1d-2a2f-5fed-893a-30051c76f5a3/scratchpad/work/logos_opt/Dott TV.jp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782983" y="4822643"/>
            <a:ext cx="1026323" cy="422258"/>
          </a:xfrm>
          <a:prstGeom prst="rect">
            <a:avLst/>
          </a:prstGeom>
        </p:spPr>
      </p:pic>
      <p:sp>
        <p:nvSpPr>
          <p:cNvPr id="76" name="Text 50"/>
          <p:cNvSpPr txBox="1"/>
          <p:nvPr/>
        </p:nvSpPr>
        <p:spPr>
          <a:xfrm>
            <a:off x="9683496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Dott TV</a:t>
            </a:r>
            <a:endParaRPr lang="en-US" sz="700" dirty="0"/>
          </a:p>
        </p:txBody>
      </p:sp>
      <p:sp>
        <p:nvSpPr>
          <p:cNvPr id="77" name="Text 5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78" name="Text 5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108960" cy="329184"/>
          </a:xfrm>
          <a:prstGeom prst="roundRect">
            <a:avLst>
              <a:gd name="adj" fmla="val 50000"/>
            </a:avLst>
          </a:prstGeom>
          <a:solidFill>
            <a:srgbClr val="C996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ASIKO BOUQUET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9611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All channel identities  (86 logos on file)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csuite_caf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847" y="1791415"/>
            <a:ext cx="1026323" cy="81543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C-Suite Café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892808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1" descr="/tmp/claude-0/-home-claude/dd876a1d-2a2f-5fed-893a-30051c76f5a3/scratchpad/work/logos_opt/Business Day TV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012" y="1782714"/>
            <a:ext cx="884888" cy="83283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892808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Day TV</a:t>
            </a:r>
            <a:endParaRPr lang="en-US" sz="700" dirty="0"/>
          </a:p>
        </p:txBody>
      </p:sp>
      <p:sp>
        <p:nvSpPr>
          <p:cNvPr id="11" name="Shape 7"/>
          <p:cNvSpPr/>
          <p:nvPr/>
        </p:nvSpPr>
        <p:spPr>
          <a:xfrm>
            <a:off x="3191256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2" descr="/tmp/claude-0/-home-claude/dd876a1d-2a2f-5fed-893a-30051c76f5a3/scratchpad/work/logos_opt/estates_tv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2565" y="1782714"/>
            <a:ext cx="842677" cy="8328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191256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Estates TV</a:t>
            </a:r>
            <a:endParaRPr lang="en-US" sz="700" dirty="0"/>
          </a:p>
        </p:txBody>
      </p:sp>
      <p:sp>
        <p:nvSpPr>
          <p:cNvPr id="14" name="Shape 9"/>
          <p:cNvSpPr/>
          <p:nvPr/>
        </p:nvSpPr>
        <p:spPr>
          <a:xfrm>
            <a:off x="4489704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5" name="Image 3" descr="/tmp/claude-0/-home-claude/dd876a1d-2a2f-5fed-893a-30051c76f5a3/scratchpad/work/logos_opt/csr_tv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9191" y="1791415"/>
            <a:ext cx="1026323" cy="81543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489704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CSR TV</a:t>
            </a:r>
            <a:endParaRPr lang="en-US" sz="700" dirty="0"/>
          </a:p>
        </p:txBody>
      </p:sp>
      <p:sp>
        <p:nvSpPr>
          <p:cNvPr id="17" name="Shape 11"/>
          <p:cNvSpPr/>
          <p:nvPr/>
        </p:nvSpPr>
        <p:spPr>
          <a:xfrm>
            <a:off x="5788152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8" name="Image 4" descr="/tmp/claude-0/-home-claude/dd876a1d-2a2f-5fed-893a-30051c76f5a3/scratchpad/work/logos_opt/laffo_tv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7639" y="1817926"/>
            <a:ext cx="1026323" cy="762411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788152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Laffo TV</a:t>
            </a:r>
            <a:endParaRPr lang="en-US" sz="700" dirty="0"/>
          </a:p>
        </p:txBody>
      </p:sp>
      <p:sp>
        <p:nvSpPr>
          <p:cNvPr id="20" name="Shape 13"/>
          <p:cNvSpPr/>
          <p:nvPr/>
        </p:nvSpPr>
        <p:spPr>
          <a:xfrm>
            <a:off x="7086600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1" name="Image 5" descr="/tmp/claude-0/-home-claude/dd876a1d-2a2f-5fed-893a-30051c76f5a3/scratchpad/work/logos_opt/Nite of a Thousand Laughs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2830" y="1782714"/>
            <a:ext cx="832836" cy="832836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086600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Nite of a Thousand Laughs</a:t>
            </a:r>
            <a:endParaRPr lang="en-US" sz="700" dirty="0"/>
          </a:p>
        </p:txBody>
      </p:sp>
      <p:sp>
        <p:nvSpPr>
          <p:cNvPr id="23" name="Shape 15"/>
          <p:cNvSpPr/>
          <p:nvPr/>
        </p:nvSpPr>
        <p:spPr>
          <a:xfrm>
            <a:off x="8385048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4" name="Image 6" descr="/tmp/claude-0/-home-claude/dd876a1d-2a2f-5fed-893a-30051c76f5a3/scratchpad/work/logos_opt/questv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4535" y="1845338"/>
            <a:ext cx="1026323" cy="707589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8385048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QuesTV</a:t>
            </a:r>
            <a:endParaRPr lang="en-US" sz="700" dirty="0"/>
          </a:p>
        </p:txBody>
      </p:sp>
      <p:sp>
        <p:nvSpPr>
          <p:cNvPr id="26" name="Shape 17"/>
          <p:cNvSpPr/>
          <p:nvPr/>
        </p:nvSpPr>
        <p:spPr>
          <a:xfrm>
            <a:off x="9683496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7" name="Image 7" descr="/tmp/claude-0/-home-claude/dd876a1d-2a2f-5fed-893a-30051c76f5a3/scratchpad/work/logos_opt/shakara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82983" y="1817926"/>
            <a:ext cx="1026323" cy="762411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9683496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Shakara</a:t>
            </a:r>
            <a:endParaRPr lang="en-US" sz="700" dirty="0"/>
          </a:p>
        </p:txBody>
      </p:sp>
      <p:sp>
        <p:nvSpPr>
          <p:cNvPr id="29" name="Shape 19"/>
          <p:cNvSpPr/>
          <p:nvPr/>
        </p:nvSpPr>
        <p:spPr>
          <a:xfrm>
            <a:off x="594360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0" name="Image 8" descr="/tmp/claude-0/-home-claude/dd876a1d-2a2f-5fed-893a-30051c76f5a3/scratchpad/work/logos_opt/Sisi TV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0618" y="3200034"/>
            <a:ext cx="892779" cy="832836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594360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Sisi TV</a:t>
            </a:r>
            <a:endParaRPr lang="en-US" sz="700" dirty="0"/>
          </a:p>
        </p:txBody>
      </p:sp>
      <p:sp>
        <p:nvSpPr>
          <p:cNvPr id="32" name="Shape 21"/>
          <p:cNvSpPr/>
          <p:nvPr/>
        </p:nvSpPr>
        <p:spPr>
          <a:xfrm>
            <a:off x="1892808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3" name="Image 9" descr="/tmp/claude-0/-home-claude/dd876a1d-2a2f-5fed-893a-30051c76f5a3/scratchpad/work/logos_opt/Yanga TV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89038" y="3200034"/>
            <a:ext cx="832836" cy="832836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1892808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Yanga TV</a:t>
            </a:r>
            <a:endParaRPr lang="en-US" sz="700" dirty="0"/>
          </a:p>
        </p:txBody>
      </p:sp>
      <p:sp>
        <p:nvSpPr>
          <p:cNvPr id="35" name="Shape 23"/>
          <p:cNvSpPr/>
          <p:nvPr/>
        </p:nvSpPr>
        <p:spPr>
          <a:xfrm>
            <a:off x="3191256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6" name="Image 10" descr="/tmp/claude-0/-home-claude/dd876a1d-2a2f-5fed-893a-30051c76f5a3/scratchpad/work/logos_opt/MUF TV.jp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90743" y="3274833"/>
            <a:ext cx="1026323" cy="683238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3191256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MUF TV (The Makeup Fair TV)</a:t>
            </a:r>
            <a:endParaRPr lang="en-US" sz="700" dirty="0"/>
          </a:p>
        </p:txBody>
      </p:sp>
      <p:sp>
        <p:nvSpPr>
          <p:cNvPr id="38" name="Shape 25"/>
          <p:cNvSpPr/>
          <p:nvPr/>
        </p:nvSpPr>
        <p:spPr>
          <a:xfrm>
            <a:off x="4489704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9" name="Image 11" descr="/tmp/claude-0/-home-claude/dd876a1d-2a2f-5fed-893a-30051c76f5a3/scratchpad/work/logos_opt/bmu_tv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90098" y="3200034"/>
            <a:ext cx="824507" cy="832836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4489704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BMU TV (Beauty &amp; Makeup TV)</a:t>
            </a:r>
            <a:endParaRPr lang="en-US" sz="700" dirty="0"/>
          </a:p>
        </p:txBody>
      </p:sp>
      <p:sp>
        <p:nvSpPr>
          <p:cNvPr id="41" name="Shape 27"/>
          <p:cNvSpPr/>
          <p:nvPr/>
        </p:nvSpPr>
        <p:spPr>
          <a:xfrm>
            <a:off x="5788152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2" name="Image 12" descr="/tmp/claude-0/-home-claude/dd876a1d-2a2f-5fed-893a-30051c76f5a3/scratchpad/work/logos_opt/hook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87639" y="3235246"/>
            <a:ext cx="1026323" cy="762411"/>
          </a:xfrm>
          <a:prstGeom prst="rect">
            <a:avLst/>
          </a:prstGeom>
        </p:spPr>
      </p:pic>
      <p:sp>
        <p:nvSpPr>
          <p:cNvPr id="43" name="Text 28"/>
          <p:cNvSpPr txBox="1"/>
          <p:nvPr/>
        </p:nvSpPr>
        <p:spPr>
          <a:xfrm>
            <a:off x="5788152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Hooked</a:t>
            </a:r>
            <a:endParaRPr lang="en-US" sz="700" dirty="0"/>
          </a:p>
        </p:txBody>
      </p:sp>
      <p:sp>
        <p:nvSpPr>
          <p:cNvPr id="44" name="Shape 29"/>
          <p:cNvSpPr/>
          <p:nvPr/>
        </p:nvSpPr>
        <p:spPr>
          <a:xfrm>
            <a:off x="7086600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5" name="Image 13" descr="/tmp/claude-0/-home-claude/dd876a1d-2a2f-5fed-893a-30051c76f5a3/scratchpad/work/logos_opt/bounc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86087" y="3224983"/>
            <a:ext cx="1026323" cy="782937"/>
          </a:xfrm>
          <a:prstGeom prst="rect">
            <a:avLst/>
          </a:prstGeom>
        </p:spPr>
      </p:pic>
      <p:sp>
        <p:nvSpPr>
          <p:cNvPr id="46" name="Text 30"/>
          <p:cNvSpPr txBox="1"/>
          <p:nvPr/>
        </p:nvSpPr>
        <p:spPr>
          <a:xfrm>
            <a:off x="7086600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Bounce</a:t>
            </a:r>
            <a:endParaRPr lang="en-US" sz="700" dirty="0"/>
          </a:p>
        </p:txBody>
      </p:sp>
      <p:sp>
        <p:nvSpPr>
          <p:cNvPr id="47" name="Shape 31"/>
          <p:cNvSpPr/>
          <p:nvPr/>
        </p:nvSpPr>
        <p:spPr>
          <a:xfrm>
            <a:off x="8385048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8" name="Image 14" descr="/tmp/claude-0/-home-claude/dd876a1d-2a2f-5fed-893a-30051c76f5a3/scratchpad/work/logos_opt/Charming Kids Chnnel.jp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81278" y="3200034"/>
            <a:ext cx="832836" cy="832836"/>
          </a:xfrm>
          <a:prstGeom prst="rect">
            <a:avLst/>
          </a:prstGeom>
        </p:spPr>
      </p:pic>
      <p:sp>
        <p:nvSpPr>
          <p:cNvPr id="49" name="Text 32"/>
          <p:cNvSpPr txBox="1"/>
          <p:nvPr/>
        </p:nvSpPr>
        <p:spPr>
          <a:xfrm>
            <a:off x="8385048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CKS TV (Charmingkids)</a:t>
            </a:r>
            <a:endParaRPr lang="en-US" sz="700" dirty="0"/>
          </a:p>
        </p:txBody>
      </p:sp>
      <p:sp>
        <p:nvSpPr>
          <p:cNvPr id="50" name="Shape 33"/>
          <p:cNvSpPr/>
          <p:nvPr/>
        </p:nvSpPr>
        <p:spPr>
          <a:xfrm>
            <a:off x="9683496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1" name="Image 15" descr="/tmp/claude-0/-home-claude/dd876a1d-2a2f-5fed-893a-30051c76f5a3/scratchpad/work/logos_opt/TeenTV.jp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879726" y="3200034"/>
            <a:ext cx="832836" cy="832836"/>
          </a:xfrm>
          <a:prstGeom prst="rect">
            <a:avLst/>
          </a:prstGeom>
        </p:spPr>
      </p:pic>
      <p:sp>
        <p:nvSpPr>
          <p:cNvPr id="52" name="Text 34"/>
          <p:cNvSpPr txBox="1"/>
          <p:nvPr/>
        </p:nvSpPr>
        <p:spPr>
          <a:xfrm>
            <a:off x="9683496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Teen Africa</a:t>
            </a:r>
            <a:endParaRPr lang="en-US" sz="700" dirty="0"/>
          </a:p>
        </p:txBody>
      </p:sp>
      <p:sp>
        <p:nvSpPr>
          <p:cNvPr id="53" name="Shape 35"/>
          <p:cNvSpPr/>
          <p:nvPr/>
        </p:nvSpPr>
        <p:spPr>
          <a:xfrm>
            <a:off x="594360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4" name="Image 16" descr="/tmp/claude-0/-home-claude/dd876a1d-2a2f-5fed-893a-30051c76f5a3/scratchpad/work/logos_opt/platinum_play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3847" y="4652566"/>
            <a:ext cx="1026323" cy="762411"/>
          </a:xfrm>
          <a:prstGeom prst="rect">
            <a:avLst/>
          </a:prstGeom>
        </p:spPr>
      </p:pic>
      <p:sp>
        <p:nvSpPr>
          <p:cNvPr id="55" name="Text 36"/>
          <p:cNvSpPr txBox="1"/>
          <p:nvPr/>
        </p:nvSpPr>
        <p:spPr>
          <a:xfrm>
            <a:off x="594360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Platinum Play</a:t>
            </a:r>
            <a:endParaRPr lang="en-US" sz="700" dirty="0"/>
          </a:p>
        </p:txBody>
      </p:sp>
      <p:sp>
        <p:nvSpPr>
          <p:cNvPr id="56" name="Shape 37"/>
          <p:cNvSpPr/>
          <p:nvPr/>
        </p:nvSpPr>
        <p:spPr>
          <a:xfrm>
            <a:off x="1892808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7" name="Image 17" descr="/tmp/claude-0/-home-claude/dd876a1d-2a2f-5fed-893a-30051c76f5a3/scratchpad/work/logos_opt/play_music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92295" y="4833318"/>
            <a:ext cx="1026323" cy="400907"/>
          </a:xfrm>
          <a:prstGeom prst="rect">
            <a:avLst/>
          </a:prstGeom>
        </p:spPr>
      </p:pic>
      <p:sp>
        <p:nvSpPr>
          <p:cNvPr id="58" name="Text 38"/>
          <p:cNvSpPr txBox="1"/>
          <p:nvPr/>
        </p:nvSpPr>
        <p:spPr>
          <a:xfrm>
            <a:off x="1892808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</a:t>
            </a:r>
            <a:endParaRPr lang="en-US" sz="700" dirty="0"/>
          </a:p>
        </p:txBody>
      </p:sp>
      <p:sp>
        <p:nvSpPr>
          <p:cNvPr id="59" name="Shape 39"/>
          <p:cNvSpPr/>
          <p:nvPr/>
        </p:nvSpPr>
        <p:spPr>
          <a:xfrm>
            <a:off x="3191256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0" name="Image 18" descr="/tmp/claude-0/-home-claude/dd876a1d-2a2f-5fed-893a-30051c76f5a3/scratchpad/work/logos_opt/PMAN TV.jp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388693" y="4617354"/>
            <a:ext cx="830422" cy="832836"/>
          </a:xfrm>
          <a:prstGeom prst="rect">
            <a:avLst/>
          </a:prstGeom>
        </p:spPr>
      </p:pic>
      <p:sp>
        <p:nvSpPr>
          <p:cNvPr id="61" name="Text 40"/>
          <p:cNvSpPr txBox="1"/>
          <p:nvPr/>
        </p:nvSpPr>
        <p:spPr>
          <a:xfrm>
            <a:off x="3191256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PMAN TV</a:t>
            </a:r>
            <a:endParaRPr lang="en-US" sz="700" dirty="0"/>
          </a:p>
        </p:txBody>
      </p:sp>
      <p:sp>
        <p:nvSpPr>
          <p:cNvPr id="62" name="Shape 41"/>
          <p:cNvSpPr/>
          <p:nvPr/>
        </p:nvSpPr>
        <p:spPr>
          <a:xfrm>
            <a:off x="4489704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3" name="Image 19" descr="/tmp/claude-0/-home-claude/dd876a1d-2a2f-5fed-893a-30051c76f5a3/scratchpad/work/logos_opt/Banger Tv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85934" y="4617354"/>
            <a:ext cx="832836" cy="832836"/>
          </a:xfrm>
          <a:prstGeom prst="rect">
            <a:avLst/>
          </a:prstGeom>
        </p:spPr>
      </p:pic>
      <p:sp>
        <p:nvSpPr>
          <p:cNvPr id="64" name="Text 42"/>
          <p:cNvSpPr txBox="1"/>
          <p:nvPr/>
        </p:nvSpPr>
        <p:spPr>
          <a:xfrm>
            <a:off x="4489704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Banger TV</a:t>
            </a:r>
            <a:endParaRPr lang="en-US" sz="700" dirty="0"/>
          </a:p>
        </p:txBody>
      </p:sp>
      <p:sp>
        <p:nvSpPr>
          <p:cNvPr id="65" name="Shape 43"/>
          <p:cNvSpPr/>
          <p:nvPr/>
        </p:nvSpPr>
        <p:spPr>
          <a:xfrm>
            <a:off x="5788152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6" name="Image 20" descr="/tmp/claude-0/-home-claude/dd876a1d-2a2f-5fed-893a-30051c76f5a3/scratchpad/work/logos_opt/ooginee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887639" y="4642303"/>
            <a:ext cx="1026323" cy="782937"/>
          </a:xfrm>
          <a:prstGeom prst="rect">
            <a:avLst/>
          </a:prstGeom>
        </p:spPr>
      </p:pic>
      <p:sp>
        <p:nvSpPr>
          <p:cNvPr id="67" name="Text 44"/>
          <p:cNvSpPr txBox="1"/>
          <p:nvPr/>
        </p:nvSpPr>
        <p:spPr>
          <a:xfrm>
            <a:off x="5788152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Ooginee</a:t>
            </a:r>
            <a:endParaRPr lang="en-US" sz="700" dirty="0"/>
          </a:p>
        </p:txBody>
      </p:sp>
      <p:sp>
        <p:nvSpPr>
          <p:cNvPr id="68" name="Shape 45"/>
          <p:cNvSpPr/>
          <p:nvPr/>
        </p:nvSpPr>
        <p:spPr>
          <a:xfrm>
            <a:off x="7086600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9" name="Image 21" descr="/tmp/claude-0/-home-claude/dd876a1d-2a2f-5fed-893a-30051c76f5a3/scratchpad/work/logos_opt/Heritage TV.jp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50107" y="4617354"/>
            <a:ext cx="898282" cy="832836"/>
          </a:xfrm>
          <a:prstGeom prst="rect">
            <a:avLst/>
          </a:prstGeom>
        </p:spPr>
      </p:pic>
      <p:sp>
        <p:nvSpPr>
          <p:cNvPr id="70" name="Text 46"/>
          <p:cNvSpPr txBox="1"/>
          <p:nvPr/>
        </p:nvSpPr>
        <p:spPr>
          <a:xfrm>
            <a:off x="7086600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Heritage TV</a:t>
            </a:r>
            <a:endParaRPr lang="en-US" sz="700" dirty="0"/>
          </a:p>
        </p:txBody>
      </p:sp>
      <p:sp>
        <p:nvSpPr>
          <p:cNvPr id="71" name="Shape 47"/>
          <p:cNvSpPr/>
          <p:nvPr/>
        </p:nvSpPr>
        <p:spPr>
          <a:xfrm>
            <a:off x="8385048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72" name="Image 22" descr="/tmp/claude-0/-home-claude/dd876a1d-2a2f-5fed-893a-30051c76f5a3/scratchpad/work/logos_opt/Arewa24-400x400.jpe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581278" y="4617354"/>
            <a:ext cx="832836" cy="832836"/>
          </a:xfrm>
          <a:prstGeom prst="rect">
            <a:avLst/>
          </a:prstGeom>
        </p:spPr>
      </p:pic>
      <p:sp>
        <p:nvSpPr>
          <p:cNvPr id="73" name="Text 48"/>
          <p:cNvSpPr txBox="1"/>
          <p:nvPr/>
        </p:nvSpPr>
        <p:spPr>
          <a:xfrm>
            <a:off x="8385048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Arewa24</a:t>
            </a:r>
            <a:endParaRPr lang="en-US" sz="700" dirty="0"/>
          </a:p>
        </p:txBody>
      </p:sp>
      <p:sp>
        <p:nvSpPr>
          <p:cNvPr id="74" name="Shape 49"/>
          <p:cNvSpPr/>
          <p:nvPr/>
        </p:nvSpPr>
        <p:spPr>
          <a:xfrm>
            <a:off x="9683496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75" name="Image 23" descr="/tmp/claude-0/-home-claude/dd876a1d-2a2f-5fed-893a-30051c76f5a3/scratchpad/work/logos_opt/ndtv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782983" y="4652566"/>
            <a:ext cx="1026323" cy="762411"/>
          </a:xfrm>
          <a:prstGeom prst="rect">
            <a:avLst/>
          </a:prstGeom>
        </p:spPr>
      </p:pic>
      <p:sp>
        <p:nvSpPr>
          <p:cNvPr id="76" name="Text 50"/>
          <p:cNvSpPr txBox="1"/>
          <p:nvPr/>
        </p:nvSpPr>
        <p:spPr>
          <a:xfrm>
            <a:off x="9683496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NDTV</a:t>
            </a:r>
            <a:endParaRPr lang="en-US" sz="700" dirty="0"/>
          </a:p>
        </p:txBody>
      </p:sp>
      <p:sp>
        <p:nvSpPr>
          <p:cNvPr id="77" name="Text 5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78" name="Text 5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108960" cy="329184"/>
          </a:xfrm>
          <a:prstGeom prst="roundRect">
            <a:avLst>
              <a:gd name="adj" fmla="val 50000"/>
            </a:avLst>
          </a:prstGeom>
          <a:solidFill>
            <a:srgbClr val="C996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ASIKO BOUQUET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9611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All channel identities  (86 logos on file)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tw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847" y="1845338"/>
            <a:ext cx="1026323" cy="70758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TWC (The Woman Channel)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892808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1" descr="/tmp/claude-0/-home-claude/dd876a1d-2a2f-5fed-893a-30051c76f5a3/scratchpad/work/logos_opt/Women Connec TV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639" y="1782714"/>
            <a:ext cx="831634" cy="83283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892808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Women Connect TV</a:t>
            </a:r>
            <a:endParaRPr lang="en-US" sz="700" dirty="0"/>
          </a:p>
        </p:txBody>
      </p:sp>
      <p:sp>
        <p:nvSpPr>
          <p:cNvPr id="11" name="Shape 7"/>
          <p:cNvSpPr/>
          <p:nvPr/>
        </p:nvSpPr>
        <p:spPr>
          <a:xfrm>
            <a:off x="3191256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2" descr="/tmp/claude-0/-home-claude/dd876a1d-2a2f-5fed-893a-30051c76f5a3/scratchpad/work/logos_opt/yotom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0743" y="1817926"/>
            <a:ext cx="1026323" cy="762411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191256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Yotomi</a:t>
            </a:r>
            <a:endParaRPr lang="en-US" sz="700" dirty="0"/>
          </a:p>
        </p:txBody>
      </p:sp>
      <p:sp>
        <p:nvSpPr>
          <p:cNvPr id="14" name="Shape 9"/>
          <p:cNvSpPr/>
          <p:nvPr/>
        </p:nvSpPr>
        <p:spPr>
          <a:xfrm>
            <a:off x="4489704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5" name="Image 3" descr="/tmp/claude-0/-home-claude/dd876a1d-2a2f-5fed-893a-30051c76f5a3/scratchpad/work/logos_opt/BENTV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9191" y="1982675"/>
            <a:ext cx="1026323" cy="43291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489704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 — Bridging The Gap</a:t>
            </a:r>
            <a:endParaRPr lang="en-US" sz="700" dirty="0"/>
          </a:p>
        </p:txBody>
      </p:sp>
      <p:sp>
        <p:nvSpPr>
          <p:cNvPr id="17" name="Shape 11"/>
          <p:cNvSpPr/>
          <p:nvPr/>
        </p:nvSpPr>
        <p:spPr>
          <a:xfrm>
            <a:off x="5788152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8" name="Image 4" descr="/tmp/claude-0/-home-claude/dd876a1d-2a2f-5fed-893a-30051c76f5a3/scratchpad/work/logos_opt/Ability YTVxx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3779" y="1782714"/>
            <a:ext cx="834043" cy="83283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788152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Ability TV</a:t>
            </a:r>
            <a:endParaRPr lang="en-US" sz="700" dirty="0"/>
          </a:p>
        </p:txBody>
      </p:sp>
      <p:sp>
        <p:nvSpPr>
          <p:cNvPr id="20" name="Shape 13"/>
          <p:cNvSpPr/>
          <p:nvPr/>
        </p:nvSpPr>
        <p:spPr>
          <a:xfrm>
            <a:off x="7086600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1" name="Image 5" descr="/tmp/claude-0/-home-claude/dd876a1d-2a2f-5fed-893a-30051c76f5a3/scratchpad/work/logos_opt/Compassion TV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3425" y="1782714"/>
            <a:ext cx="831646" cy="832836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086600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CompassionTV</a:t>
            </a:r>
            <a:endParaRPr lang="en-US" sz="700" dirty="0"/>
          </a:p>
        </p:txBody>
      </p:sp>
      <p:sp>
        <p:nvSpPr>
          <p:cNvPr id="23" name="Shape 15"/>
          <p:cNvSpPr/>
          <p:nvPr/>
        </p:nvSpPr>
        <p:spPr>
          <a:xfrm>
            <a:off x="8385048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4" name="Image 6" descr="/tmp/claude-0/-home-claude/dd876a1d-2a2f-5fed-893a-30051c76f5a3/scratchpad/work/logos_opt/tattas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4535" y="1838620"/>
            <a:ext cx="1026323" cy="721024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8385048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Tattase</a:t>
            </a:r>
            <a:endParaRPr lang="en-US" sz="700" dirty="0"/>
          </a:p>
        </p:txBody>
      </p:sp>
      <p:sp>
        <p:nvSpPr>
          <p:cNvPr id="26" name="Shape 17"/>
          <p:cNvSpPr/>
          <p:nvPr/>
        </p:nvSpPr>
        <p:spPr>
          <a:xfrm>
            <a:off x="9683496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7" name="Image 7" descr="/tmp/claude-0/-home-claude/dd876a1d-2a2f-5fed-893a-30051c76f5a3/scratchpad/work/logos_opt/ashakata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82983" y="1845338"/>
            <a:ext cx="1026323" cy="707589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9683496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Ashakata</a:t>
            </a:r>
            <a:endParaRPr lang="en-US" sz="700" dirty="0"/>
          </a:p>
        </p:txBody>
      </p:sp>
      <p:sp>
        <p:nvSpPr>
          <p:cNvPr id="29" name="Shape 19"/>
          <p:cNvSpPr/>
          <p:nvPr/>
        </p:nvSpPr>
        <p:spPr>
          <a:xfrm>
            <a:off x="594360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0" name="Image 8" descr="/tmp/claude-0/-home-claude/dd876a1d-2a2f-5fed-893a-30051c76f5a3/scratchpad/work/logos_opt/naij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847" y="3235246"/>
            <a:ext cx="1026323" cy="762411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594360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Naija</a:t>
            </a:r>
            <a:endParaRPr lang="en-US" sz="700" dirty="0"/>
          </a:p>
        </p:txBody>
      </p:sp>
      <p:sp>
        <p:nvSpPr>
          <p:cNvPr id="32" name="Shape 21"/>
          <p:cNvSpPr/>
          <p:nvPr/>
        </p:nvSpPr>
        <p:spPr>
          <a:xfrm>
            <a:off x="1892808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3" name="Image 9" descr="/tmp/claude-0/-home-claude/dd876a1d-2a2f-5fed-893a-30051c76f5a3/scratchpad/work/logos_opt/justu_tv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2295" y="3207615"/>
            <a:ext cx="1026323" cy="817675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1892808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JustU TV</a:t>
            </a:r>
            <a:endParaRPr lang="en-US" sz="700" dirty="0"/>
          </a:p>
        </p:txBody>
      </p:sp>
      <p:sp>
        <p:nvSpPr>
          <p:cNvPr id="35" name="Shape 23"/>
          <p:cNvSpPr/>
          <p:nvPr/>
        </p:nvSpPr>
        <p:spPr>
          <a:xfrm>
            <a:off x="3191256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6" name="Image 10" descr="/tmp/claude-0/-home-claude/dd876a1d-2a2f-5fed-893a-30051c76f5a3/scratchpad/work/logos_opt/Goje Africa TV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87486" y="3200034"/>
            <a:ext cx="832836" cy="832836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3191256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Goge Africa</a:t>
            </a:r>
            <a:endParaRPr lang="en-US" sz="700" dirty="0"/>
          </a:p>
        </p:txBody>
      </p:sp>
      <p:sp>
        <p:nvSpPr>
          <p:cNvPr id="38" name="Shape 25"/>
          <p:cNvSpPr/>
          <p:nvPr/>
        </p:nvSpPr>
        <p:spPr>
          <a:xfrm>
            <a:off x="4489704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9" name="Image 11" descr="/tmp/claude-0/-home-claude/dd876a1d-2a2f-5fed-893a-30051c76f5a3/scratchpad/work/logos_opt/LN247 Lifestyle.jp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85934" y="3200034"/>
            <a:ext cx="832836" cy="832836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4489704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LN247 Lifestyle</a:t>
            </a:r>
            <a:endParaRPr lang="en-US" sz="700" dirty="0"/>
          </a:p>
        </p:txBody>
      </p:sp>
      <p:sp>
        <p:nvSpPr>
          <p:cNvPr id="41" name="Shape 27"/>
          <p:cNvSpPr/>
          <p:nvPr/>
        </p:nvSpPr>
        <p:spPr>
          <a:xfrm>
            <a:off x="5788152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2" name="Image 12" descr="/tmp/claude-0/-home-claude/dd876a1d-2a2f-5fed-893a-30051c76f5a3/scratchpad/work/logos_opt/the_cowri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87639" y="3436846"/>
            <a:ext cx="1026323" cy="359213"/>
          </a:xfrm>
          <a:prstGeom prst="rect">
            <a:avLst/>
          </a:prstGeom>
        </p:spPr>
      </p:pic>
      <p:sp>
        <p:nvSpPr>
          <p:cNvPr id="43" name="Text 28"/>
          <p:cNvSpPr txBox="1"/>
          <p:nvPr/>
        </p:nvSpPr>
        <p:spPr>
          <a:xfrm>
            <a:off x="5788152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Cowrie</a:t>
            </a:r>
            <a:endParaRPr lang="en-US" sz="700" dirty="0"/>
          </a:p>
        </p:txBody>
      </p:sp>
      <p:sp>
        <p:nvSpPr>
          <p:cNvPr id="44" name="Shape 29"/>
          <p:cNvSpPr/>
          <p:nvPr/>
        </p:nvSpPr>
        <p:spPr>
          <a:xfrm>
            <a:off x="7086600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5" name="Image 13" descr="/tmp/claude-0/-home-claude/dd876a1d-2a2f-5fed-893a-30051c76f5a3/scratchpad/work/logos_opt/BUY TV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86087" y="3235246"/>
            <a:ext cx="1026323" cy="762411"/>
          </a:xfrm>
          <a:prstGeom prst="rect">
            <a:avLst/>
          </a:prstGeom>
        </p:spPr>
      </p:pic>
      <p:sp>
        <p:nvSpPr>
          <p:cNvPr id="46" name="Text 30"/>
          <p:cNvSpPr txBox="1"/>
          <p:nvPr/>
        </p:nvSpPr>
        <p:spPr>
          <a:xfrm>
            <a:off x="7086600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 TV</a:t>
            </a:r>
            <a:endParaRPr lang="en-US" sz="700" dirty="0"/>
          </a:p>
        </p:txBody>
      </p:sp>
      <p:sp>
        <p:nvSpPr>
          <p:cNvPr id="47" name="Shape 31"/>
          <p:cNvSpPr/>
          <p:nvPr/>
        </p:nvSpPr>
        <p:spPr>
          <a:xfrm>
            <a:off x="8385048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8" name="Image 14" descr="/tmp/claude-0/-home-claude/dd876a1d-2a2f-5fed-893a-30051c76f5a3/scratchpad/work/logos_opt/travel_nigeria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84535" y="3261555"/>
            <a:ext cx="1026323" cy="709793"/>
          </a:xfrm>
          <a:prstGeom prst="rect">
            <a:avLst/>
          </a:prstGeom>
        </p:spPr>
      </p:pic>
      <p:sp>
        <p:nvSpPr>
          <p:cNvPr id="49" name="Text 32"/>
          <p:cNvSpPr txBox="1"/>
          <p:nvPr/>
        </p:nvSpPr>
        <p:spPr>
          <a:xfrm>
            <a:off x="8385048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Travel Nigeria</a:t>
            </a:r>
            <a:endParaRPr lang="en-US" sz="700" dirty="0"/>
          </a:p>
        </p:txBody>
      </p:sp>
      <p:sp>
        <p:nvSpPr>
          <p:cNvPr id="50" name="Shape 33"/>
          <p:cNvSpPr/>
          <p:nvPr/>
        </p:nvSpPr>
        <p:spPr>
          <a:xfrm>
            <a:off x="9683496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1" name="Image 15" descr="/tmp/claude-0/-home-claude/dd876a1d-2a2f-5fed-893a-30051c76f5a3/scratchpad/work/logos_opt/Afrosports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89911" y="3200034"/>
            <a:ext cx="1012467" cy="832836"/>
          </a:xfrm>
          <a:prstGeom prst="rect">
            <a:avLst/>
          </a:prstGeom>
        </p:spPr>
      </p:pic>
      <p:sp>
        <p:nvSpPr>
          <p:cNvPr id="52" name="Text 34"/>
          <p:cNvSpPr txBox="1"/>
          <p:nvPr/>
        </p:nvSpPr>
        <p:spPr>
          <a:xfrm>
            <a:off x="9683496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Afrosports</a:t>
            </a:r>
            <a:endParaRPr lang="en-US" sz="700" dirty="0"/>
          </a:p>
        </p:txBody>
      </p:sp>
      <p:sp>
        <p:nvSpPr>
          <p:cNvPr id="53" name="Shape 35"/>
          <p:cNvSpPr/>
          <p:nvPr/>
        </p:nvSpPr>
        <p:spPr>
          <a:xfrm>
            <a:off x="594360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4" name="Image 16" descr="/tmp/claude-0/-home-claude/dd876a1d-2a2f-5fed-893a-30051c76f5a3/scratchpad/work/logos_opt/TNT-LOGO-1 (1)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3847" y="4689149"/>
            <a:ext cx="1026323" cy="689246"/>
          </a:xfrm>
          <a:prstGeom prst="rect">
            <a:avLst/>
          </a:prstGeom>
        </p:spPr>
      </p:pic>
      <p:sp>
        <p:nvSpPr>
          <p:cNvPr id="55" name="Text 36"/>
          <p:cNvSpPr txBox="1"/>
          <p:nvPr/>
        </p:nvSpPr>
        <p:spPr>
          <a:xfrm>
            <a:off x="594360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TNT Television</a:t>
            </a:r>
            <a:endParaRPr lang="en-US" sz="700" dirty="0"/>
          </a:p>
        </p:txBody>
      </p:sp>
      <p:sp>
        <p:nvSpPr>
          <p:cNvPr id="56" name="Shape 37"/>
          <p:cNvSpPr/>
          <p:nvPr/>
        </p:nvSpPr>
        <p:spPr>
          <a:xfrm>
            <a:off x="1892808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7" name="Image 17" descr="/tmp/claude-0/-home-claude/dd876a1d-2a2f-5fed-893a-30051c76f5a3/scratchpad/work/logos_opt/cons_tv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92295" y="4627461"/>
            <a:ext cx="1026323" cy="812623"/>
          </a:xfrm>
          <a:prstGeom prst="rect">
            <a:avLst/>
          </a:prstGeom>
        </p:spPr>
      </p:pic>
      <p:sp>
        <p:nvSpPr>
          <p:cNvPr id="58" name="Text 38"/>
          <p:cNvSpPr txBox="1"/>
          <p:nvPr/>
        </p:nvSpPr>
        <p:spPr>
          <a:xfrm>
            <a:off x="1892808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 TV</a:t>
            </a:r>
            <a:endParaRPr lang="en-US" sz="700" dirty="0"/>
          </a:p>
        </p:txBody>
      </p:sp>
      <p:sp>
        <p:nvSpPr>
          <p:cNvPr id="59" name="Shape 39"/>
          <p:cNvSpPr/>
          <p:nvPr/>
        </p:nvSpPr>
        <p:spPr>
          <a:xfrm>
            <a:off x="3191256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0" name="Image 18" descr="/tmp/claude-0/-home-claude/dd876a1d-2a2f-5fed-893a-30051c76f5a3/scratchpad/work/logos_opt/Miss Hotlegs TV.jp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382063" y="4617354"/>
            <a:ext cx="843683" cy="832836"/>
          </a:xfrm>
          <a:prstGeom prst="rect">
            <a:avLst/>
          </a:prstGeom>
        </p:spPr>
      </p:pic>
      <p:sp>
        <p:nvSpPr>
          <p:cNvPr id="61" name="Text 40"/>
          <p:cNvSpPr txBox="1"/>
          <p:nvPr/>
        </p:nvSpPr>
        <p:spPr>
          <a:xfrm>
            <a:off x="3191256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 Hotlegs TV</a:t>
            </a:r>
            <a:endParaRPr lang="en-US" sz="700" dirty="0"/>
          </a:p>
        </p:txBody>
      </p:sp>
      <p:sp>
        <p:nvSpPr>
          <p:cNvPr id="62" name="Shape 41"/>
          <p:cNvSpPr/>
          <p:nvPr/>
        </p:nvSpPr>
        <p:spPr>
          <a:xfrm>
            <a:off x="4489704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3" name="Image 19" descr="/tmp/claude-0/-home-claude/dd876a1d-2a2f-5fed-893a-30051c76f5a3/scratchpad/work/logos_opt/Itage TV.jp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53211" y="4617354"/>
            <a:ext cx="898282" cy="832836"/>
          </a:xfrm>
          <a:prstGeom prst="rect">
            <a:avLst/>
          </a:prstGeom>
        </p:spPr>
      </p:pic>
      <p:sp>
        <p:nvSpPr>
          <p:cNvPr id="64" name="Text 42"/>
          <p:cNvSpPr txBox="1"/>
          <p:nvPr/>
        </p:nvSpPr>
        <p:spPr>
          <a:xfrm>
            <a:off x="4489704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Itage TV</a:t>
            </a:r>
            <a:endParaRPr lang="en-US" sz="700" dirty="0"/>
          </a:p>
        </p:txBody>
      </p:sp>
      <p:sp>
        <p:nvSpPr>
          <p:cNvPr id="65" name="Shape 43"/>
          <p:cNvSpPr/>
          <p:nvPr/>
        </p:nvSpPr>
        <p:spPr>
          <a:xfrm>
            <a:off x="5788152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6" name="Image 20" descr="/tmp/claude-0/-home-claude/dd876a1d-2a2f-5fed-893a-30051c76f5a3/scratchpad/work/logos_opt/notebook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887639" y="4652566"/>
            <a:ext cx="1026323" cy="762411"/>
          </a:xfrm>
          <a:prstGeom prst="rect">
            <a:avLst/>
          </a:prstGeom>
        </p:spPr>
      </p:pic>
      <p:sp>
        <p:nvSpPr>
          <p:cNvPr id="67" name="Text 44"/>
          <p:cNvSpPr txBox="1"/>
          <p:nvPr/>
        </p:nvSpPr>
        <p:spPr>
          <a:xfrm>
            <a:off x="5788152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NoteBook</a:t>
            </a:r>
            <a:endParaRPr lang="en-US" sz="700" dirty="0"/>
          </a:p>
        </p:txBody>
      </p:sp>
      <p:sp>
        <p:nvSpPr>
          <p:cNvPr id="68" name="Shape 45"/>
          <p:cNvSpPr/>
          <p:nvPr/>
        </p:nvSpPr>
        <p:spPr>
          <a:xfrm>
            <a:off x="7086600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9" name="Image 21" descr="/tmp/claude-0/-home-claude/dd876a1d-2a2f-5fed-893a-30051c76f5a3/scratchpad/work/logos_opt/GhanaWeds.jp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186087" y="4670894"/>
            <a:ext cx="1026323" cy="725757"/>
          </a:xfrm>
          <a:prstGeom prst="rect">
            <a:avLst/>
          </a:prstGeom>
        </p:spPr>
      </p:pic>
      <p:sp>
        <p:nvSpPr>
          <p:cNvPr id="70" name="Text 46"/>
          <p:cNvSpPr txBox="1"/>
          <p:nvPr/>
        </p:nvSpPr>
        <p:spPr>
          <a:xfrm>
            <a:off x="7086600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GhanaWeds</a:t>
            </a:r>
            <a:endParaRPr lang="en-US" sz="700" dirty="0"/>
          </a:p>
        </p:txBody>
      </p:sp>
      <p:sp>
        <p:nvSpPr>
          <p:cNvPr id="71" name="Shape 47"/>
          <p:cNvSpPr/>
          <p:nvPr/>
        </p:nvSpPr>
        <p:spPr>
          <a:xfrm>
            <a:off x="8385048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72" name="Image 22" descr="/tmp/claude-0/-home-claude/dd876a1d-2a2f-5fed-893a-30051c76f5a3/scratchpad/work/logos_opt/OGN TV.jp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581278" y="4617354"/>
            <a:ext cx="832836" cy="832836"/>
          </a:xfrm>
          <a:prstGeom prst="rect">
            <a:avLst/>
          </a:prstGeom>
        </p:spPr>
      </p:pic>
      <p:sp>
        <p:nvSpPr>
          <p:cNvPr id="73" name="Text 48"/>
          <p:cNvSpPr txBox="1"/>
          <p:nvPr/>
        </p:nvSpPr>
        <p:spPr>
          <a:xfrm>
            <a:off x="8385048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OGN TV</a:t>
            </a:r>
            <a:endParaRPr lang="en-US" sz="700" dirty="0"/>
          </a:p>
        </p:txBody>
      </p:sp>
      <p:sp>
        <p:nvSpPr>
          <p:cNvPr id="74" name="Shape 49"/>
          <p:cNvSpPr/>
          <p:nvPr/>
        </p:nvSpPr>
        <p:spPr>
          <a:xfrm>
            <a:off x="9683496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75" name="Image 23" descr="/tmp/claude-0/-home-claude/dd876a1d-2a2f-5fed-893a-30051c76f5a3/scratchpad/work/logos_opt/EKS TV.jp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017144" y="4617354"/>
            <a:ext cx="558000" cy="832836"/>
          </a:xfrm>
          <a:prstGeom prst="rect">
            <a:avLst/>
          </a:prstGeom>
        </p:spPr>
      </p:pic>
      <p:sp>
        <p:nvSpPr>
          <p:cNvPr id="76" name="Text 50"/>
          <p:cNvSpPr txBox="1"/>
          <p:nvPr/>
        </p:nvSpPr>
        <p:spPr>
          <a:xfrm>
            <a:off x="9683496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EKS TV (Edo Kulture Streams)</a:t>
            </a:r>
            <a:endParaRPr lang="en-US" sz="700" dirty="0"/>
          </a:p>
        </p:txBody>
      </p:sp>
      <p:sp>
        <p:nvSpPr>
          <p:cNvPr id="77" name="Text 5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78" name="Text 5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108960" cy="329184"/>
          </a:xfrm>
          <a:prstGeom prst="roundRect">
            <a:avLst>
              <a:gd name="adj" fmla="val 50000"/>
            </a:avLst>
          </a:prstGeom>
          <a:solidFill>
            <a:srgbClr val="C996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ASIKO BOUQUET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9611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All channel identities  (86 logos on file)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Kulture Streams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397" y="1782714"/>
            <a:ext cx="835222" cy="8328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Kulture Streams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892808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1" descr="/tmp/claude-0/-home-claude/dd876a1d-2a2f-5fed-893a-30051c76f5a3/scratchpad/work/logos_opt/Africa Celebrates TV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038" y="1782714"/>
            <a:ext cx="832836" cy="83283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892808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Africa Celebrates TV</a:t>
            </a:r>
            <a:endParaRPr lang="en-US" sz="700" dirty="0"/>
          </a:p>
        </p:txBody>
      </p:sp>
      <p:sp>
        <p:nvSpPr>
          <p:cNvPr id="11" name="Shape 7"/>
          <p:cNvSpPr/>
          <p:nvPr/>
        </p:nvSpPr>
        <p:spPr>
          <a:xfrm>
            <a:off x="3191256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2" descr="/tmp/claude-0/-home-claude/dd876a1d-2a2f-5fed-893a-30051c76f5a3/scratchpad/work/logos_opt/Key TV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7486" y="1782714"/>
            <a:ext cx="832836" cy="8328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191256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TV</a:t>
            </a:r>
            <a:endParaRPr lang="en-US" sz="700" dirty="0"/>
          </a:p>
        </p:txBody>
      </p:sp>
      <p:sp>
        <p:nvSpPr>
          <p:cNvPr id="14" name="Shape 9"/>
          <p:cNvSpPr/>
          <p:nvPr/>
        </p:nvSpPr>
        <p:spPr>
          <a:xfrm>
            <a:off x="4489704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5" name="Image 3" descr="/tmp/claude-0/-home-claude/dd876a1d-2a2f-5fed-893a-30051c76f5a3/scratchpad/work/logos_opt/Diaspora TV.jpe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9191" y="1836987"/>
            <a:ext cx="1026323" cy="72429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489704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Diaspora TV</a:t>
            </a:r>
            <a:endParaRPr lang="en-US" sz="700" dirty="0"/>
          </a:p>
        </p:txBody>
      </p:sp>
      <p:sp>
        <p:nvSpPr>
          <p:cNvPr id="17" name="Shape 11"/>
          <p:cNvSpPr/>
          <p:nvPr/>
        </p:nvSpPr>
        <p:spPr>
          <a:xfrm>
            <a:off x="5788152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8" name="Image 4" descr="/tmp/claude-0/-home-claude/dd876a1d-2a2f-5fed-893a-30051c76f5a3/scratchpad/work/logos_opt/Foodies &amp; Spices.jpe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3870" y="1782714"/>
            <a:ext cx="713859" cy="83283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788152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Foodies &amp; Spices</a:t>
            </a:r>
            <a:endParaRPr lang="en-US" sz="700" dirty="0"/>
          </a:p>
        </p:txBody>
      </p:sp>
      <p:sp>
        <p:nvSpPr>
          <p:cNvPr id="20" name="Shape 13"/>
          <p:cNvSpPr/>
          <p:nvPr/>
        </p:nvSpPr>
        <p:spPr>
          <a:xfrm>
            <a:off x="7086600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1" name="Image 5" descr="/tmp/claude-0/-home-claude/dd876a1d-2a2f-5fed-893a-30051c76f5a3/scratchpad/work/logos_opt/1MATV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6087" y="1919093"/>
            <a:ext cx="1026323" cy="560079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086600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1MATV (One Market Africa TV)</a:t>
            </a:r>
            <a:endParaRPr lang="en-US" sz="700" dirty="0"/>
          </a:p>
        </p:txBody>
      </p:sp>
      <p:sp>
        <p:nvSpPr>
          <p:cNvPr id="23" name="Shape 15"/>
          <p:cNvSpPr/>
          <p:nvPr/>
        </p:nvSpPr>
        <p:spPr>
          <a:xfrm>
            <a:off x="8385048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4" name="Image 6" descr="/tmp/claude-0/-home-claude/dd876a1d-2a2f-5fed-893a-30051c76f5a3/scratchpad/work/logos_opt/ATQ TV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4535" y="1957946"/>
            <a:ext cx="1026323" cy="482372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8385048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ATQ TV</a:t>
            </a:r>
            <a:endParaRPr lang="en-US" sz="700" dirty="0"/>
          </a:p>
        </p:txBody>
      </p:sp>
      <p:sp>
        <p:nvSpPr>
          <p:cNvPr id="26" name="Shape 17"/>
          <p:cNvSpPr/>
          <p:nvPr/>
        </p:nvSpPr>
        <p:spPr>
          <a:xfrm>
            <a:off x="9683496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7" name="Image 7" descr="/tmp/claude-0/-home-claude/dd876a1d-2a2f-5fed-893a-30051c76f5a3/scratchpad/work/logos_opt/Ozola TV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9726" y="1782714"/>
            <a:ext cx="832836" cy="832836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9683496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Ozola TV</a:t>
            </a:r>
            <a:endParaRPr lang="en-US" sz="700" dirty="0"/>
          </a:p>
        </p:txBody>
      </p:sp>
      <p:sp>
        <p:nvSpPr>
          <p:cNvPr id="29" name="Shape 19"/>
          <p:cNvSpPr/>
          <p:nvPr/>
        </p:nvSpPr>
        <p:spPr>
          <a:xfrm>
            <a:off x="594360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0" name="Image 8" descr="/tmp/claude-0/-home-claude/dd876a1d-2a2f-5fed-893a-30051c76f5a3/scratchpad/work/logos_opt/R2TV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847" y="3306356"/>
            <a:ext cx="1026323" cy="620192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594360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R2TV</a:t>
            </a:r>
            <a:endParaRPr lang="en-US" sz="700" dirty="0"/>
          </a:p>
        </p:txBody>
      </p:sp>
      <p:sp>
        <p:nvSpPr>
          <p:cNvPr id="32" name="Shape 21"/>
          <p:cNvSpPr/>
          <p:nvPr/>
        </p:nvSpPr>
        <p:spPr>
          <a:xfrm>
            <a:off x="1892808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3" name="Image 9" descr="/tmp/claude-0/-home-claude/dd876a1d-2a2f-5fed-893a-30051c76f5a3/scratchpad/work/logos_opt/Star Throne TV.jpe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89038" y="3200034"/>
            <a:ext cx="832836" cy="832836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1892808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 Throne TV</a:t>
            </a:r>
            <a:endParaRPr lang="en-US" sz="700" dirty="0"/>
          </a:p>
        </p:txBody>
      </p:sp>
      <p:sp>
        <p:nvSpPr>
          <p:cNvPr id="35" name="Shape 23"/>
          <p:cNvSpPr/>
          <p:nvPr/>
        </p:nvSpPr>
        <p:spPr>
          <a:xfrm>
            <a:off x="3191256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6" name="Image 10" descr="/tmp/claude-0/-home-claude/dd876a1d-2a2f-5fed-893a-30051c76f5a3/scratchpad/work/logos_opt/X2D TV.jpe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87486" y="3200034"/>
            <a:ext cx="832836" cy="832836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3191256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X2D TV</a:t>
            </a:r>
            <a:endParaRPr lang="en-US" sz="700" dirty="0"/>
          </a:p>
        </p:txBody>
      </p:sp>
      <p:sp>
        <p:nvSpPr>
          <p:cNvPr id="38" name="Shape 25"/>
          <p:cNvSpPr/>
          <p:nvPr/>
        </p:nvSpPr>
        <p:spPr>
          <a:xfrm>
            <a:off x="4489704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9" name="Image 11" descr="/tmp/claude-0/-home-claude/dd876a1d-2a2f-5fed-893a-30051c76f5a3/scratchpad/work/logos_opt/mab_magicbox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73197" y="3200034"/>
            <a:ext cx="858310" cy="832836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4489704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MAB Magicbox</a:t>
            </a:r>
            <a:endParaRPr lang="en-US" sz="700" dirty="0"/>
          </a:p>
        </p:txBody>
      </p:sp>
      <p:sp>
        <p:nvSpPr>
          <p:cNvPr id="41" name="Shape 27"/>
          <p:cNvSpPr/>
          <p:nvPr/>
        </p:nvSpPr>
        <p:spPr>
          <a:xfrm>
            <a:off x="5788152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2" name="Image 12" descr="/tmp/claude-0/-home-claude/dd876a1d-2a2f-5fed-893a-30051c76f5a3/scratchpad/work/logos_opt/KilarigboTV.jp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3412" y="3200034"/>
            <a:ext cx="374776" cy="832836"/>
          </a:xfrm>
          <a:prstGeom prst="rect">
            <a:avLst/>
          </a:prstGeom>
        </p:spPr>
      </p:pic>
      <p:sp>
        <p:nvSpPr>
          <p:cNvPr id="43" name="Text 28"/>
          <p:cNvSpPr txBox="1"/>
          <p:nvPr/>
        </p:nvSpPr>
        <p:spPr>
          <a:xfrm>
            <a:off x="5788152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KilarigboTV</a:t>
            </a:r>
            <a:endParaRPr lang="en-US" sz="700" dirty="0"/>
          </a:p>
        </p:txBody>
      </p:sp>
      <p:sp>
        <p:nvSpPr>
          <p:cNvPr id="44" name="Shape 29"/>
          <p:cNvSpPr/>
          <p:nvPr/>
        </p:nvSpPr>
        <p:spPr>
          <a:xfrm>
            <a:off x="7086600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5" name="Image 13" descr="/tmp/claude-0/-home-claude/dd876a1d-2a2f-5fed-893a-30051c76f5a3/scratchpad/work/logos_opt/WA7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82830" y="3200034"/>
            <a:ext cx="832836" cy="832836"/>
          </a:xfrm>
          <a:prstGeom prst="rect">
            <a:avLst/>
          </a:prstGeom>
        </p:spPr>
      </p:pic>
      <p:sp>
        <p:nvSpPr>
          <p:cNvPr id="46" name="Text 30"/>
          <p:cNvSpPr txBox="1"/>
          <p:nvPr/>
        </p:nvSpPr>
        <p:spPr>
          <a:xfrm>
            <a:off x="7086600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WAP TV</a:t>
            </a:r>
            <a:endParaRPr lang="en-US" sz="700" dirty="0"/>
          </a:p>
        </p:txBody>
      </p:sp>
      <p:sp>
        <p:nvSpPr>
          <p:cNvPr id="47" name="Text 3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48" name="Text 3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FLAGSHIP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Asiko TV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363920"/>
            <a:ext cx="1274674" cy="74687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Asiko TV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FLAGSHIP · FULL BOUQUET SIMULCAST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master channel of the Asiko bouquet — a 24/7 simulcast reel of the best of Nollywood, news, music, faith and culture drawn from every channel on the platform. Built to be the first thing a new viewer finds, and the reason they stay to explore the rest.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Asiko+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363920"/>
            <a:ext cx="1274674" cy="74687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Asiko+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FLAGSHIP · PREMIUM LAYER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curated, ad-light extension of Asiko TV — binge blocks, exclusive premieres and diaspora-first specials pulled from across the bouquet, for viewers who want more of Asiko TV's best on their own time.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&amp; DRAMA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movieafr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51163"/>
            <a:ext cx="1274674" cy="9723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Movie Africa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&amp; BEYOND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Entertainment done right — everything Movies. Stories from an African perspective; our stories, our movies, Nollywood, Gollywood and all the other 'woods' across the continent.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movieafrica_int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263910"/>
            <a:ext cx="1274674" cy="9469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Movie Africa International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PAN-AFRICAN CINEMA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international extension of Movie Africa — entertainment done right, carrying African stories and movies to audiences beyond the continent.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&amp; DRAMA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3–4 of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MAE 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100023"/>
            <a:ext cx="1274674" cy="12746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Movie Africa: Epic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· EPIC &amp; HISTORICAL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period-drama arm of the Movie Africa family — kingdoms, warriors and legends brought to life in sweeping historical epics rooted in African history and folklore.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MAY' 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100023"/>
            <a:ext cx="1274674" cy="12746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Movie Africa: Yoruba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· YORUBA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Yoruba-language cinema at its finest — from classic epics to contemporary drama, spotlighting the stars and stories that built the Yoruba film industry.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&amp; DRAMA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5–6 of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MAO 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100023"/>
            <a:ext cx="1274674" cy="12746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Movie Africa: Originals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· EXCLUSIVES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First-run, exclusive Nollywood productions commissioned for the Movie Africa family — fresh stories audiences won't find anywhere else.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MAI 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100023"/>
            <a:ext cx="1274674" cy="12746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Movie Africa: Igbo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· IGBO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definitive home of Igbo-language cinema — from the golden age of Nollywood East to today's rising storytellers.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&amp; DRAMA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7–8 of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MAH 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100023"/>
            <a:ext cx="1274674" cy="12746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Movie Africa: Halisa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· HAUSA (KANNYWOOD)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Hausa-language cinema from Kano and beyond — Kannywood's biggest stars and stories for Northern Nigeria and the wider Hausa-speaking world.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MAAS 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100023"/>
            <a:ext cx="1274674" cy="12746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Movie Africa: African Stories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· PAN-AFRICAN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Beyond Nigeria — feature films and series from across the continent, widening the Movie Africa family into a true pan-African cinema library.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&amp; DRAMA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9–10 of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oodua_sinema_olop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63910"/>
            <a:ext cx="1274674" cy="946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Sinema Olopin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YORUBA MOVIES &amp; CULTURE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most contemporary Yoruba TV channel that is much more than movies and talk shows — Yoruba culture laid bare in all its beauty, subtitled in English.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movie_ind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299933"/>
            <a:ext cx="1274674" cy="87485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Movie India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BOLLYWOOD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Bollywood movies have long been a staple on the Nigerian and African movie menu. Follow the best and latest of the Bollywood blockbusters.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&amp; DRAMA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11–12 of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Key T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100023"/>
            <a:ext cx="1274674" cy="12746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Key TV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· AFRICAN STORIES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African Stories — series, movies, documentaries and culture, unlocking the continent's stories one key at a time.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Ozola TV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100023"/>
            <a:ext cx="1274674" cy="12746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Ozola TV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· ZEB EJIRO PRODUCTIONS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channel of veteran Nollywood director-producer Zeb Ejiro — decades of Nigerian film and television storytelling under one roof.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&amp; DRAMA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13–13 of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mab_magic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118940"/>
            <a:ext cx="1274674" cy="123684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MAB Magicbox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AFRICAN STREET MOVIES &amp; MUSIC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African street movies paired with music programming — grassroots Nollywood storytelling and the soundtrack that goes with it.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FAITH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amen_mov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96585"/>
            <a:ext cx="1274674" cy="88155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Amen Movies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CHRISTIAN MOVIES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Christian movie genre is fast developing and catering for the Christian community in Nigeria and around the world. Amen Movies is the definitive Christian Movies channel.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amen_yorub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298570"/>
            <a:ext cx="1274674" cy="87757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Amen Yoruba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YORUBA GOSPEL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Worship is a key part of Yoruba culture; this channel defines and chronicles the Yoruba gospel journey for millions of Yoruba-speaking believers.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FAITH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3–4 of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pp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51163"/>
            <a:ext cx="1274674" cy="9723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PPG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PRAISE · POWER · GLORY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Unleash the awesome power of the Almighty God as He inhabits our praises — Africa's premiere praise and worship channel, nonstop, to Him who deserves it.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Sutana TV (2)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014" y="1100023"/>
            <a:ext cx="1272853" cy="12746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Sultana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FAITH · CHERUBIM &amp; SERAPHIM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home of the Cherubim and Seraphim movement — worship, teaching and testimony for one of Africa's oldest indigenous church traditions.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FAITH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5–6 of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race_embass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104576"/>
            <a:ext cx="1274674" cy="126556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Grace Embassy TV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FAITH &amp; MINISTRY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Ministry programming, worship and teaching from Grace Embassy — sermons, testimonies and church life for the faith community it serves.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X2D TV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100023"/>
            <a:ext cx="1274674" cy="12746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X2D TV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FAITH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Christian channel bringing worship, teaching and ministry programming to the Asiko faith shelf.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mandate_ne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31343"/>
            <a:ext cx="1274674" cy="10120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Mandate News International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NEWS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Independent, mandate-driven news coverage of Nigeria, Africa and the world — politics, business and the stories that matter, reported straight.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Goldmyne TV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100023"/>
            <a:ext cx="1274674" cy="12746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GoldMyne TV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ENTERTAINMENT NEWS &amp; CELEBRITY GIST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Nigeria's entertainment industry, mined for gold — celebrity news, red-carpet coverage and the stories behind the stars.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3–4 of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City People TV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390061"/>
            <a:ext cx="1274674" cy="69459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City People TV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CELEBRITY &amp; ENTERTAINMENT NEWS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Lagos high society and beyond — celebrity news, parties and the social scene, brought to television.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FAD36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293045"/>
            <a:ext cx="1274674" cy="88863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FAD360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NEWS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360-degree look at the stories of the day across Africa — reported straight, from politics to the culture desk.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csuite_caf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30983"/>
            <a:ext cx="1274674" cy="101275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C-Suite Café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&amp; EXECUTIVE TALK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Conversations from the executive suite — CEOs, founders and industry leaders unpacking strategy, leadership and the business of getting to the top.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Business Day TV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137514"/>
            <a:ext cx="1274674" cy="11996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Business Day TV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&amp; FINANCE NEWS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Markets, macroeconomics and the deals shaping Nigeria's economy — business news and analysis for investors, entrepreneurs and policy watchers.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3–3 of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estates_t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107467"/>
            <a:ext cx="1274674" cy="125978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Estates TV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ESTATE &amp; PROPERTY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Lifestyle, business and legacy — property listings, real estate investment advice and the developments shaping Africa's skylines.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COMEDY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laffo_t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63910"/>
            <a:ext cx="1274674" cy="946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Laffo TV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COMEDY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wholly indigenous African comedy channel. Watch out for the kings and stars of African comedy, back to back.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Nite of a Thousand Laugh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100023"/>
            <a:ext cx="1274674" cy="12746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Nite of a Thousand Laughs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COMEDY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broadcast home of Opa Williams' iconic Nigerian stand-up comedy franchise — a second flagship for Asiko's Comedy shelf alongside Laffo TV.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BEAUTY &amp; FASHION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quest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97954"/>
            <a:ext cx="1274674" cy="8788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QuesTV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FASHION, BEAUTY &amp; STYLE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Africa's premier fashion, beauty and style television lifestyle channel — speaking only the language of style, unmatched in covering the industry across the continent.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shaka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263910"/>
            <a:ext cx="1274674" cy="9469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Shakara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AFRICAN FASHION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Style in the spirit of the mother continent — a dedicated African and Afrocentric fashion channel, formerly Quest TV, the first-ever 24-hour African fashion channel.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BEAUTY &amp; FASHION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3–3 of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Sisi TV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142816"/>
            <a:ext cx="1274674" cy="11890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Sisi TV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WOMEN'S LIFESTYLE &amp; GLAMOUR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glamour and lifestyle channel for the modern African woman — beauty, style and the everyday glow-up, told with confidence and flair.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WEDDINGS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hoo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63910"/>
            <a:ext cx="1274674" cy="946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Hooked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WEDDINGS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to the couple. Weddings are the centrepiece of African celebration — Hooked follows the greatest love stories and the businesses built around them, on Africa's premiere wedding channel.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GhanaWed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286672"/>
            <a:ext cx="1274674" cy="90137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GhanaWeds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WEDDINGS · GHANA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Ghana's dedicated wedding channel — real ceremonies, vendors and love stories from the Ghanaian wedding industry, extending Asiko's wedding shelf beyond Nigeria.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KIDDIES &amp; TEENS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bou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51163"/>
            <a:ext cx="1274674" cy="9723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Bounce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KIDS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Little treasures for your little treasure — an exclusive kiddies channel of cartoons, animations and excursions following the adventures of the Nigerian kid.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Charming Kids Chn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100023"/>
            <a:ext cx="1274674" cy="12746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CKS TV (Charmingkids)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KIDS TALENT &amp; GROOMING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broadcast home of Charmingkids — grooming, talent development and confidence-building programming for the next generation of African children.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KIDDIES &amp; TEENS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3–3 of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TeenTV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100023"/>
            <a:ext cx="1274674" cy="12746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Teen Africa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TEEN &amp; YOUTH LIFESTYLE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by and for African teens — school life, trends, music and the issues that matter to the continent's next generation.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MUSIC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platinum_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63910"/>
            <a:ext cx="1274674" cy="946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Platinum Play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URBAN MUSIC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a CD goes platinum, it's a commercial blockbuster. This urban contemporary music channel follows the hip-hop artistes and dancehall anthems raving across Africa.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play_mus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488400"/>
            <a:ext cx="1274674" cy="49791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Play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AFRICAN MUSIC + LIFESTYLE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Nigerian music is massive around the world; Play delivers the best of Nigerian and African music — fresh, contemporary and retro — plus the whole lifestyle around the beat.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MUSIC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3–4 of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PMAN TV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31" y="1100023"/>
            <a:ext cx="1270979" cy="12746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PMAN TV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MUSIC INDUSTRY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official voice of the Performing Musicians Association of Nigeria — industry news, artiste development and the business side of African music.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Star Throne TV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100023"/>
            <a:ext cx="1274674" cy="12746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Star Throne TV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MUSIC REALITY &amp; TALENT SHOW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music reality and talent-show channel — the search for Africa's next star, competition format front and centre.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CULTURE &amp; HERITAGE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oogin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51163"/>
            <a:ext cx="1274674" cy="9723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Ooginee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IGBO CULTURE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There has never been a popular, correctly-done television channel in the Igbo language — Ooginee is a uniquely crafted explosion into the life and times of the Igbo nation.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Heritage TV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146458"/>
            <a:ext cx="1274674" cy="11818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Heritage TV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CULTURE &amp; HERITAGE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Africa's history, traditions and heritage — documentaries and storytelling that preserve and celebrate the continent's cultural memory.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CULTURE &amp; HERITAGE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3–4 of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Arewa24-400x40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100023"/>
            <a:ext cx="1274674" cy="12746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Arewa24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NORTHERN NIGERIA / HAUSA ENTERTAINMENT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 entertainment for Northern Nigeria and the Hausa-speaking world — drama, music and lifestyle programming rooted in Arewa culture.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ndt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263910"/>
            <a:ext cx="1274674" cy="9469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NDTV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NIGER DELTA TELEVISION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Nigeria's first real digital pay-TV platform for the Niger Delta — the next largest homogenous block after the three major nations — chronicling its stories and struggles.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CULTURE &amp; HERITAGE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5–6 of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OGN TV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100023"/>
            <a:ext cx="1274674" cy="12746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OGN TV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IGBO CULTURE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Igbo Culture Television — language, tradition and everyday life from the Igbo nation, told in Igbo.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EKS TV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2424" y="1100023"/>
            <a:ext cx="854031" cy="12746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EKS TV (Edo Kulture Streams)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CULTURE COMPETITION · EDO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Edo State pilot of Kulture Streams — a content competition and streaming showcase built around Edo language and culture.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CULTURE &amp; HERITAGE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7–8 of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Kulture Streams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101844"/>
            <a:ext cx="1274674" cy="1271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Kulture Streams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CULTURE COMPETITION · PAN-AFRICAN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"Nollywood in Your Tongue" — an AI-powered pan-African content competition and streaming platform surfacing local-language film, music and voice talent.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Africa Celebrates TV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100023"/>
            <a:ext cx="1274674" cy="12746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Africa Celebrates TV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CULTURE &amp; CELEBRATION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broadcast home of the Africa Celebrates event series — festivals, ceremonies and cultural celebration from across the continent.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WOMEN'S EMPOWERMENT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tw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97954"/>
            <a:ext cx="1274674" cy="8788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TWC (The Woman Channel)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WOMAN CHANNEL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African woman is a unique breed — a beast of labour and love. TWC follows her stories through love, family, triumph and every fabled strength she carries.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Women Connec TV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023" y="1100023"/>
            <a:ext cx="1272834" cy="12746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Women Connect TV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WOMEN'S NETWORKING &amp; EMPOWERMENT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Connecting African women in business, leadership and community — networking, mentorship and empowerment programming for women on the rise.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COMMUNITY, CIVIC &amp; ADVOCACY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yotom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63910"/>
            <a:ext cx="1274674" cy="946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Yotomi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BROADCASTING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future-forward channel designed to propagate and elevate Yoruba values, ideas and ways of life — pioneering community broadcasting for national unity and progress.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BENT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468525"/>
            <a:ext cx="1274674" cy="53767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BEN — Bridging The Gap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AFFAIRS &amp; COMMUNITY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Bridging the gap between government, business and everyday citizens — current affairs and community dialogue on the issues that divide and unite us.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COMMUNITY, CIVIC &amp; ADVOCACY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3–4 of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Ability YTVxx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100946"/>
            <a:ext cx="1274674" cy="127282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Ability TV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DISABILITY ADVOCACY &amp; INCLUSION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 as able — a channel dedicated to disability advocacy, accessibility and the achievements of people living with disabilities across Africa.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Compassion TV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014" y="1100023"/>
            <a:ext cx="1272853" cy="12746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CompassionTV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HUMANITARIAN &amp; CHARITY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Stories of compassion in action — charity drives, humanitarian work and the everyday Africans giving back to their communities.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LIFESTYLE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tatt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89611"/>
            <a:ext cx="1274674" cy="89549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Tattase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FOOD, CULTURE &amp; LIFESTYLE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pioneering Afrocentric digital multimedia platform focused on celebrating and promoting African cultures, cuisines, recipes, food brands and tourism — the flagship of the original Tattase TV lineup, now part of the Asiko bouquet.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ashaka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297954"/>
            <a:ext cx="1274674" cy="8788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Ashakata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HAUSA LIFESTYLE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definitive contemporary Hausa lifestyle channel, catering for millions of Hausa-speaking people across the length and breadth of Africa.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LIFESTYLE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3–4 of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naij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63910"/>
            <a:ext cx="1274674" cy="946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Naija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NIGERIAN LIFESTYLE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wholly and fully Nigerian lifestyle channel featuring everything that defines Nigeria — the lingo, the food, the news, the challenges.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justu_t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229592"/>
            <a:ext cx="1274674" cy="101553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JustU TV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 DEVELOPMENT &amp; LIFESTYLE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 you — a self-improvement and lifestyle channel on mindset, wellness and everyday personal growth for the modern African.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LIFESTYLE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5–6 of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Goje Africa T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100023"/>
            <a:ext cx="1274674" cy="12746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Goge Africa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AGRICULTURE &amp; RURAL LIFESTYLE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Africa's farms, farmers and food systems — agribusiness, rural life and the people feeding the continent, one harvest at a time.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Diaspora TV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287582"/>
            <a:ext cx="1274674" cy="89955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Diaspora TV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DIASPORA LIFESTYLE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 African pulse worldwide" — news, culture and connection programming for Africans living abroad.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LIFESTYLE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7–8 of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Foodies &amp; Spices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031" y="1100023"/>
            <a:ext cx="1092577" cy="12746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Foodies &amp; Spices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FOOD, TRAVEL &amp; LIFESTYLE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Food, travel and lifestyle — recipes, spice trails and dining culture from across Africa.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KilarigboTV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638" y="1100023"/>
            <a:ext cx="573603" cy="12746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KilarigboTV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YORUBA LIFESTYLE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Yoruba-language lifestyle channel — everyday culture, style and living for the Yoruba-speaking audience.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SHOPPING &amp; MARKETPLACE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the_cowr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514292"/>
            <a:ext cx="1274674" cy="4461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Cowrie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AFRICA'S MARKET DAY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dedicated shopping channel spotlighting Micro, Small and Medium enterprises across Africa — driven by food, fashion, agriculture and lifestyle content that sells.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BUY T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263910"/>
            <a:ext cx="1274674" cy="9469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BUY TV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SHOPPING &amp; E-COMMERCE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Africa's television shopping destination — products, deals and live demos bringing e-commerce straight into the living room.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SHOPPING &amp; MARKETPLACE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3–3 of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1MATV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389556"/>
            <a:ext cx="1274674" cy="695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1MATV (One Market Africa TV)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PAN-AFRICAN MARKETPLACE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definitive pan-African digital shopping platform — one market, one continent, connecting buyers and sellers across Africa.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TRAVEL &amp; TOURISM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travel_niger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96585"/>
            <a:ext cx="1274674" cy="88155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Travel Nigeria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TRAVEL &amp; TOURISM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safari. Nigeria is a vast, travel-friendly nation — this channel presents it as the next big travel destination, the definitive guide for business and leisure travellers alike.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ATQ TV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437812"/>
            <a:ext cx="1274674" cy="59909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ATQ TV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TRAVEL &amp; TOURISM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Destinations, journeys and travel culture across Africa — Asiko's second Travel &amp; Tourism voice alongside Travel Nigeria.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 ENTERTAINMENT &amp; TALENT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TNT-LOGO-1 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309345"/>
            <a:ext cx="1274674" cy="85603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TNT Television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 ENTERTAINMENT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Natively modern — a general entertainment channel blending African roots with contemporary programming for today's viewer.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cons_t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232729"/>
            <a:ext cx="1274674" cy="100926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Cons TV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ICONS &amp; LEGENDS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home of legends — profiling the icons, trailblazers and larger-than-life personalities who have shaped African entertainment, business and culture.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 ENTERTAINMENT &amp; TALENT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3–4 of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Miss Hotlegs TV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108218"/>
            <a:ext cx="1274674" cy="125828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Miss Hotlegs TV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PAGEANTRY &amp; ENTERTAINMENT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Beauty, glamour and competition — behind-the-scenes access to the Miss Hotlegs pageant and the queens who own the runway.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R2TV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352226"/>
            <a:ext cx="1274674" cy="77026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R2TV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 ENTERTAINMENT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general-interest entertainment channel — broad programming for the everyday African viewer.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 ENTERTAINMENT &amp; TALENT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5–5 of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WA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100023"/>
            <a:ext cx="1274674" cy="12746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WAP TV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 ENTERTAINMENT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general interest entertainment channel — broad, everyday programming under the WAP TV banner.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ARTS, EDUCATION &amp; SKILLS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Itage TV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146458"/>
            <a:ext cx="1274674" cy="11818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Itage TV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THEATRE &amp; STAGE ARTS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Centre stage — theatre, spoken word and the performing arts, spotlighting Africa's stage actors, playwrights and directors.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note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263910"/>
            <a:ext cx="1274674" cy="9469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NoteBook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EDUCATION &amp; SKILLS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education and skills channel — tutorials, skills and schools all re-defined right in your living room and bedroom.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108960" cy="329184"/>
          </a:xfrm>
          <a:prstGeom prst="roundRect">
            <a:avLst>
              <a:gd name="adj" fmla="val 50000"/>
            </a:avLst>
          </a:prstGeom>
          <a:solidFill>
            <a:srgbClr val="C996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QUEUE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9611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Genre inferred from name — synopsis pending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channels whose category is reasonably clear, but no confirmed brief/synopsis exists yet.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5074920" cy="475488"/>
          </a:xfrm>
          <a:prstGeom prst="roundRect">
            <a:avLst>
              <a:gd name="adj" fmla="val 11538"/>
            </a:avLst>
          </a:prstGeom>
          <a:solidFill>
            <a:srgbClr val="151515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202082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pic>
        <p:nvPicPr>
          <p:cNvPr id="8" name="Image 0" descr="/tmp/claude-0/-home-claude/dd876a1d-2a2f-5fed-893a-30051c76f5a3/scratchpad/work/logos_opt/Yoruba Telfisia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752" y="2048256"/>
            <a:ext cx="270480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196596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Yoruba Telfisian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251960" y="196596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&amp; Drama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22960" y="2532888"/>
            <a:ext cx="5074920" cy="475488"/>
          </a:xfrm>
          <a:prstGeom prst="roundRect">
            <a:avLst>
              <a:gd name="adj" fmla="val 11538"/>
            </a:avLst>
          </a:prstGeom>
          <a:solidFill>
            <a:srgbClr val="151515"/>
          </a:solidFill>
          <a:ln/>
        </p:spPr>
      </p:sp>
      <p:sp>
        <p:nvSpPr>
          <p:cNvPr id="12" name="Shape 9"/>
          <p:cNvSpPr/>
          <p:nvPr/>
        </p:nvSpPr>
        <p:spPr>
          <a:xfrm>
            <a:off x="896112" y="258775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pic>
        <p:nvPicPr>
          <p:cNvPr id="13" name="Image 1" descr="/tmp/claude-0/-home-claude/dd876a1d-2a2f-5fed-893a-30051c76f5a3/scratchpad/work/logos_opt/GistMe TV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2615184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417320" y="253288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GistMe TV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4251960" y="253288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822960" y="3099816"/>
            <a:ext cx="5074920" cy="475488"/>
          </a:xfrm>
          <a:prstGeom prst="roundRect">
            <a:avLst>
              <a:gd name="adj" fmla="val 11538"/>
            </a:avLst>
          </a:prstGeom>
          <a:solidFill>
            <a:srgbClr val="151515"/>
          </a:solidFill>
          <a:ln/>
        </p:spPr>
      </p:sp>
      <p:sp>
        <p:nvSpPr>
          <p:cNvPr id="17" name="Shape 13"/>
          <p:cNvSpPr/>
          <p:nvPr/>
        </p:nvSpPr>
        <p:spPr>
          <a:xfrm>
            <a:off x="896112" y="315468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pic>
        <p:nvPicPr>
          <p:cNvPr id="18" name="Image 2" descr="/tmp/claude-0/-home-claude/dd876a1d-2a2f-5fed-893a-30051c76f5a3/scratchpad/work/logos_opt/Dott TV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3273604"/>
            <a:ext cx="310896" cy="127911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17320" y="309981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Dott TV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4251960" y="3099816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822960" y="3666744"/>
            <a:ext cx="5074920" cy="475488"/>
          </a:xfrm>
          <a:prstGeom prst="roundRect">
            <a:avLst>
              <a:gd name="adj" fmla="val 11538"/>
            </a:avLst>
          </a:prstGeom>
          <a:solidFill>
            <a:srgbClr val="151515"/>
          </a:solidFill>
          <a:ln/>
        </p:spPr>
      </p:sp>
      <p:sp>
        <p:nvSpPr>
          <p:cNvPr id="22" name="Shape 17"/>
          <p:cNvSpPr/>
          <p:nvPr/>
        </p:nvSpPr>
        <p:spPr>
          <a:xfrm>
            <a:off x="896112" y="372160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pic>
        <p:nvPicPr>
          <p:cNvPr id="23" name="Image 3" descr="/tmp/claude-0/-home-claude/dd876a1d-2a2f-5fed-893a-30051c76f5a3/scratchpad/work/logos_opt/csr_tv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3780981"/>
            <a:ext cx="310896" cy="247013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17320" y="366674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CSR TV</a:t>
            </a:r>
            <a:endParaRPr lang="en-US" sz="1150" dirty="0"/>
          </a:p>
        </p:txBody>
      </p:sp>
      <p:sp>
        <p:nvSpPr>
          <p:cNvPr id="25" name="Text 19"/>
          <p:cNvSpPr txBox="1"/>
          <p:nvPr/>
        </p:nvSpPr>
        <p:spPr>
          <a:xfrm>
            <a:off x="4251960" y="3666744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822960" y="4233672"/>
            <a:ext cx="5074920" cy="475488"/>
          </a:xfrm>
          <a:prstGeom prst="roundRect">
            <a:avLst>
              <a:gd name="adj" fmla="val 11538"/>
            </a:avLst>
          </a:prstGeom>
          <a:solidFill>
            <a:srgbClr val="151515"/>
          </a:solidFill>
          <a:ln/>
        </p:spPr>
      </p:sp>
      <p:sp>
        <p:nvSpPr>
          <p:cNvPr id="27" name="Shape 21"/>
          <p:cNvSpPr/>
          <p:nvPr/>
        </p:nvSpPr>
        <p:spPr>
          <a:xfrm>
            <a:off x="896112" y="428853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pic>
        <p:nvPicPr>
          <p:cNvPr id="28" name="Image 4" descr="/tmp/claude-0/-home-claude/dd876a1d-2a2f-5fed-893a-30051c76f5a3/scratchpad/work/logos_opt/Yanga TV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4315968"/>
            <a:ext cx="310896" cy="31089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417320" y="423367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Yanga TV</a:t>
            </a:r>
            <a:endParaRPr lang="en-US" sz="1150" dirty="0"/>
          </a:p>
        </p:txBody>
      </p:sp>
      <p:sp>
        <p:nvSpPr>
          <p:cNvPr id="30" name="Text 23"/>
          <p:cNvSpPr txBox="1"/>
          <p:nvPr/>
        </p:nvSpPr>
        <p:spPr>
          <a:xfrm>
            <a:off x="4251960" y="423367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Beauty &amp; Fashion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822960" y="4800600"/>
            <a:ext cx="5074920" cy="475488"/>
          </a:xfrm>
          <a:prstGeom prst="roundRect">
            <a:avLst>
              <a:gd name="adj" fmla="val 11538"/>
            </a:avLst>
          </a:prstGeom>
          <a:solidFill>
            <a:srgbClr val="151515"/>
          </a:solidFill>
          <a:ln/>
        </p:spPr>
      </p:sp>
      <p:sp>
        <p:nvSpPr>
          <p:cNvPr id="32" name="Shape 25"/>
          <p:cNvSpPr/>
          <p:nvPr/>
        </p:nvSpPr>
        <p:spPr>
          <a:xfrm>
            <a:off x="896112" y="485546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pic>
        <p:nvPicPr>
          <p:cNvPr id="33" name="Image 5" descr="/tmp/claude-0/-home-claude/dd876a1d-2a2f-5fed-893a-30051c76f5a3/scratchpad/work/logos_opt/MUF TV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" y="4934860"/>
            <a:ext cx="310896" cy="206968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417320" y="480060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MUF TV (The Makeup Fair TV)</a:t>
            </a:r>
            <a:endParaRPr lang="en-US" sz="1150" dirty="0"/>
          </a:p>
        </p:txBody>
      </p:sp>
      <p:sp>
        <p:nvSpPr>
          <p:cNvPr id="35" name="Text 27"/>
          <p:cNvSpPr txBox="1"/>
          <p:nvPr/>
        </p:nvSpPr>
        <p:spPr>
          <a:xfrm>
            <a:off x="4251960" y="480060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Beauty &amp; Fashion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6172200" y="1965960"/>
            <a:ext cx="5074920" cy="475488"/>
          </a:xfrm>
          <a:prstGeom prst="roundRect">
            <a:avLst>
              <a:gd name="adj" fmla="val 11538"/>
            </a:avLst>
          </a:prstGeom>
          <a:solidFill>
            <a:srgbClr val="151515"/>
          </a:solidFill>
          <a:ln/>
        </p:spPr>
      </p:sp>
      <p:sp>
        <p:nvSpPr>
          <p:cNvPr id="37" name="Shape 29"/>
          <p:cNvSpPr/>
          <p:nvPr/>
        </p:nvSpPr>
        <p:spPr>
          <a:xfrm>
            <a:off x="6245352" y="202082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pic>
        <p:nvPicPr>
          <p:cNvPr id="38" name="Image 6" descr="/tmp/claude-0/-home-claude/dd876a1d-2a2f-5fed-893a-30051c76f5a3/scratchpad/work/logos_opt/bmu_tv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4338" y="2048256"/>
            <a:ext cx="307787" cy="310896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6766560" y="196596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BMU TV (Beauty &amp; Makeup TV)</a:t>
            </a:r>
            <a:endParaRPr lang="en-US" sz="1150" dirty="0"/>
          </a:p>
        </p:txBody>
      </p:sp>
      <p:sp>
        <p:nvSpPr>
          <p:cNvPr id="40" name="Text 31"/>
          <p:cNvSpPr txBox="1"/>
          <p:nvPr/>
        </p:nvSpPr>
        <p:spPr>
          <a:xfrm>
            <a:off x="9601200" y="196596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Beauty &amp; Fashion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6172200" y="2532888"/>
            <a:ext cx="5074920" cy="475488"/>
          </a:xfrm>
          <a:prstGeom prst="roundRect">
            <a:avLst>
              <a:gd name="adj" fmla="val 11538"/>
            </a:avLst>
          </a:prstGeom>
          <a:solidFill>
            <a:srgbClr val="151515"/>
          </a:solidFill>
          <a:ln/>
        </p:spPr>
      </p:sp>
      <p:sp>
        <p:nvSpPr>
          <p:cNvPr id="42" name="Shape 33"/>
          <p:cNvSpPr/>
          <p:nvPr/>
        </p:nvSpPr>
        <p:spPr>
          <a:xfrm>
            <a:off x="6245352" y="258775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pic>
        <p:nvPicPr>
          <p:cNvPr id="43" name="Image 7" descr="/tmp/claude-0/-home-claude/dd876a1d-2a2f-5fed-893a-30051c76f5a3/scratchpad/work/logos_opt/Banger Tv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2784" y="2615184"/>
            <a:ext cx="310896" cy="310896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6766560" y="253288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Banger TV</a:t>
            </a:r>
            <a:endParaRPr lang="en-US" sz="1150" dirty="0"/>
          </a:p>
        </p:txBody>
      </p:sp>
      <p:sp>
        <p:nvSpPr>
          <p:cNvPr id="45" name="Text 35"/>
          <p:cNvSpPr txBox="1"/>
          <p:nvPr/>
        </p:nvSpPr>
        <p:spPr>
          <a:xfrm>
            <a:off x="9601200" y="253288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Music</a:t>
            </a:r>
            <a:endParaRPr lang="en-US" sz="900" dirty="0"/>
          </a:p>
        </p:txBody>
      </p:sp>
      <p:sp>
        <p:nvSpPr>
          <p:cNvPr id="46" name="Shape 36"/>
          <p:cNvSpPr/>
          <p:nvPr/>
        </p:nvSpPr>
        <p:spPr>
          <a:xfrm>
            <a:off x="6172200" y="3099816"/>
            <a:ext cx="5074920" cy="475488"/>
          </a:xfrm>
          <a:prstGeom prst="roundRect">
            <a:avLst>
              <a:gd name="adj" fmla="val 11538"/>
            </a:avLst>
          </a:prstGeom>
          <a:solidFill>
            <a:srgbClr val="151515"/>
          </a:solidFill>
          <a:ln/>
        </p:spPr>
      </p:sp>
      <p:sp>
        <p:nvSpPr>
          <p:cNvPr id="47" name="Shape 37"/>
          <p:cNvSpPr/>
          <p:nvPr/>
        </p:nvSpPr>
        <p:spPr>
          <a:xfrm>
            <a:off x="6245352" y="315468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pic>
        <p:nvPicPr>
          <p:cNvPr id="48" name="Image 8" descr="/tmp/claude-0/-home-claude/dd876a1d-2a2f-5fed-893a-30051c76f5a3/scratchpad/work/logos_opt/LN247 Lifestyle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2784" y="3182112"/>
            <a:ext cx="310896" cy="310896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6766560" y="309981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LN247 Lifestyle</a:t>
            </a:r>
            <a:endParaRPr lang="en-US" sz="1150" dirty="0"/>
          </a:p>
        </p:txBody>
      </p:sp>
      <p:sp>
        <p:nvSpPr>
          <p:cNvPr id="50" name="Text 39"/>
          <p:cNvSpPr txBox="1"/>
          <p:nvPr/>
        </p:nvSpPr>
        <p:spPr>
          <a:xfrm>
            <a:off x="9601200" y="3099816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Lifestyle</a:t>
            </a:r>
            <a:endParaRPr lang="en-US" sz="900" dirty="0"/>
          </a:p>
        </p:txBody>
      </p:sp>
      <p:sp>
        <p:nvSpPr>
          <p:cNvPr id="51" name="Shape 40"/>
          <p:cNvSpPr/>
          <p:nvPr/>
        </p:nvSpPr>
        <p:spPr>
          <a:xfrm>
            <a:off x="6172200" y="3666744"/>
            <a:ext cx="5074920" cy="475488"/>
          </a:xfrm>
          <a:prstGeom prst="roundRect">
            <a:avLst>
              <a:gd name="adj" fmla="val 11538"/>
            </a:avLst>
          </a:prstGeom>
          <a:solidFill>
            <a:srgbClr val="151515"/>
          </a:solidFill>
          <a:ln/>
        </p:spPr>
      </p:sp>
      <p:sp>
        <p:nvSpPr>
          <p:cNvPr id="52" name="Shape 41"/>
          <p:cNvSpPr/>
          <p:nvPr/>
        </p:nvSpPr>
        <p:spPr>
          <a:xfrm>
            <a:off x="6245352" y="372160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pic>
        <p:nvPicPr>
          <p:cNvPr id="53" name="Image 9" descr="/tmp/claude-0/-home-claude/dd876a1d-2a2f-5fed-893a-30051c76f5a3/scratchpad/work/logos_opt/Afrosport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72784" y="3776619"/>
            <a:ext cx="310896" cy="255737"/>
          </a:xfrm>
          <a:prstGeom prst="rect">
            <a:avLst/>
          </a:prstGeom>
        </p:spPr>
      </p:pic>
      <p:sp>
        <p:nvSpPr>
          <p:cNvPr id="54" name="Text 42"/>
          <p:cNvSpPr txBox="1"/>
          <p:nvPr/>
        </p:nvSpPr>
        <p:spPr>
          <a:xfrm>
            <a:off x="6766560" y="366674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Afrosports</a:t>
            </a:r>
            <a:endParaRPr lang="en-US" sz="1150" dirty="0"/>
          </a:p>
        </p:txBody>
      </p:sp>
      <p:sp>
        <p:nvSpPr>
          <p:cNvPr id="55" name="Text 43"/>
          <p:cNvSpPr txBox="1"/>
          <p:nvPr/>
        </p:nvSpPr>
        <p:spPr>
          <a:xfrm>
            <a:off x="9601200" y="3666744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Sports</a:t>
            </a:r>
            <a:endParaRPr lang="en-US" sz="900" dirty="0"/>
          </a:p>
        </p:txBody>
      </p:sp>
      <p:sp>
        <p:nvSpPr>
          <p:cNvPr id="56" name="Text 4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57" name="Text 4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C996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CHANNEL BUILD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9611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POC line-up (7 channels, live now)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4630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 draw from this map — one flagship anchor plus one genre leader per top-traffic category, matching the 7-channel POC target on asiko.africa.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0332720" cy="457200"/>
          </a:xfrm>
          <a:prstGeom prst="roundRect">
            <a:avLst>
              <a:gd name="adj" fmla="val 12000"/>
            </a:avLst>
          </a:prstGeom>
          <a:solidFill>
            <a:srgbClr val="151515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368296"/>
            <a:ext cx="292608" cy="292608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368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2860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Asiko TV (Flagship)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852928"/>
            <a:ext cx="10332720" cy="457200"/>
          </a:xfrm>
          <a:prstGeom prst="roundRect">
            <a:avLst>
              <a:gd name="adj" fmla="val 12000"/>
            </a:avLst>
          </a:prstGeom>
          <a:solidFill>
            <a:srgbClr val="151515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2935224"/>
            <a:ext cx="292608" cy="292608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2935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85292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Movie Africa (Nollywood &amp; Drama)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3419856"/>
            <a:ext cx="10332720" cy="457200"/>
          </a:xfrm>
          <a:prstGeom prst="roundRect">
            <a:avLst>
              <a:gd name="adj" fmla="val 12000"/>
            </a:avLst>
          </a:prstGeom>
          <a:solidFill>
            <a:srgbClr val="151515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3502152"/>
            <a:ext cx="292608" cy="292608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3502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419856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Mandate News International (News)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3986784"/>
            <a:ext cx="10332720" cy="457200"/>
          </a:xfrm>
          <a:prstGeom prst="roundRect">
            <a:avLst>
              <a:gd name="adj" fmla="val 12000"/>
            </a:avLst>
          </a:prstGeom>
          <a:solidFill>
            <a:srgbClr val="151515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" y="4069080"/>
            <a:ext cx="292608" cy="292608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0120" y="4069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3986784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PPG (Faith)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" y="4553712"/>
            <a:ext cx="10332720" cy="457200"/>
          </a:xfrm>
          <a:prstGeom prst="roundRect">
            <a:avLst>
              <a:gd name="adj" fmla="val 12000"/>
            </a:avLst>
          </a:prstGeom>
          <a:solidFill>
            <a:srgbClr val="151515"/>
          </a:solidFill>
          <a:ln/>
        </p:spPr>
      </p:sp>
      <p:sp>
        <p:nvSpPr>
          <p:cNvPr id="23" name="Shape 21"/>
          <p:cNvSpPr/>
          <p:nvPr/>
        </p:nvSpPr>
        <p:spPr>
          <a:xfrm>
            <a:off x="960120" y="4636008"/>
            <a:ext cx="292608" cy="292608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0120" y="4636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455371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Laffo TV (Comedy)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2960" y="5120640"/>
            <a:ext cx="10332720" cy="457200"/>
          </a:xfrm>
          <a:prstGeom prst="roundRect">
            <a:avLst>
              <a:gd name="adj" fmla="val 12000"/>
            </a:avLst>
          </a:prstGeom>
          <a:solidFill>
            <a:srgbClr val="151515"/>
          </a:solidFill>
          <a:ln/>
        </p:spPr>
      </p:sp>
      <p:sp>
        <p:nvSpPr>
          <p:cNvPr id="27" name="Shape 25"/>
          <p:cNvSpPr/>
          <p:nvPr/>
        </p:nvSpPr>
        <p:spPr>
          <a:xfrm>
            <a:off x="960120" y="5202936"/>
            <a:ext cx="292608" cy="292608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60120" y="5202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6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417320" y="512064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Bounce (Kiddies &amp; Teens)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22960" y="5687568"/>
            <a:ext cx="10332720" cy="457200"/>
          </a:xfrm>
          <a:prstGeom prst="roundRect">
            <a:avLst>
              <a:gd name="adj" fmla="val 12000"/>
            </a:avLst>
          </a:prstGeom>
          <a:solidFill>
            <a:srgbClr val="151515"/>
          </a:solidFill>
          <a:ln/>
        </p:spPr>
      </p:sp>
      <p:sp>
        <p:nvSpPr>
          <p:cNvPr id="31" name="Shape 29"/>
          <p:cNvSpPr/>
          <p:nvPr/>
        </p:nvSpPr>
        <p:spPr>
          <a:xfrm>
            <a:off x="960120" y="5769864"/>
            <a:ext cx="292608" cy="292608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60120" y="5769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7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417320" y="568756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 (Music)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C996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CHANNEL BUILD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9611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MVP and full-rollout phasing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10332720" cy="1417320"/>
          </a:xfrm>
          <a:prstGeom prst="roundRect">
            <a:avLst>
              <a:gd name="adj" fmla="val 5161"/>
            </a:avLst>
          </a:prstGeom>
          <a:solidFill>
            <a:srgbClr val="15151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373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63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MVP — next phase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13055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channel per each of the 19 genre categories (≈19 channels), prioritising Nollywood &amp; Drama and Faith first — both have the deepest confirmed content pipeline (e.g. the Movie Africa language arms, and the standing offer of 1,000+ films pending a guaranteed licence-fee structure).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3200400"/>
            <a:ext cx="10332720" cy="1417320"/>
          </a:xfrm>
          <a:prstGeom prst="roundRect">
            <a:avLst>
              <a:gd name="adj" fmla="val 5161"/>
            </a:avLst>
          </a:prstGeom>
          <a:solidFill>
            <a:srgbClr val="15151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33375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63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Bouquet complete — this document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73075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86 genre-confirmed channels from the interest list go live across the 19 categories; the remaining 0 onboarding-queue channels are scheduled in as their genre is confirmed.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4800600"/>
            <a:ext cx="10332720" cy="1417320"/>
          </a:xfrm>
          <a:prstGeom prst="roundRect">
            <a:avLst>
              <a:gd name="adj" fmla="val 5161"/>
            </a:avLst>
          </a:prstGeom>
          <a:solidFill>
            <a:srgbClr val="15151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51560" y="49377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63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Full rollout — 110 channels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533095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toward ~2 channels per African country (54 countries) by cloning the strongest categories (Nollywood &amp; Drama, News, Faith, Lifestyle) into country/language variants, as content-partner agreements land.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C996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TERMS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9611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Terms for interested channel owners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10332720" cy="1051560"/>
          </a:xfrm>
          <a:prstGeom prst="roundRect">
            <a:avLst>
              <a:gd name="adj" fmla="val 6957"/>
            </a:avLst>
          </a:prstGeom>
          <a:solidFill>
            <a:srgbClr val="15151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80136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Exclusivity / Non-Exclusivity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1488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Channels may sign on an exclusive or non-exclusive basis to the Asiko bouquet, by agreement.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2898648"/>
            <a:ext cx="10332720" cy="1051560"/>
          </a:xfrm>
          <a:prstGeom prst="roundRect">
            <a:avLst>
              <a:gd name="adj" fmla="val 6957"/>
            </a:avLst>
          </a:prstGeom>
          <a:solidFill>
            <a:srgbClr val="15151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300837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Availability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35584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Channels go live 90–120 days after signing. Social and digital versions are available ahead of the full channel launch.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4105656"/>
            <a:ext cx="10332720" cy="1051560"/>
          </a:xfrm>
          <a:prstGeom prst="roundRect">
            <a:avLst>
              <a:gd name="adj" fmla="val 6957"/>
            </a:avLst>
          </a:prstGeom>
          <a:solidFill>
            <a:srgbClr val="15151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51560" y="421538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Commercial Exploitation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4562856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channel is amenable to monetisation, digital TV platforms, subscriptions and international bundling — with advertising and partnership exploitation also do-able.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5312664"/>
            <a:ext cx="10332720" cy="1051560"/>
          </a:xfrm>
          <a:prstGeom prst="roundRect">
            <a:avLst>
              <a:gd name="adj" fmla="val 6957"/>
            </a:avLst>
          </a:prstGeom>
          <a:solidFill>
            <a:srgbClr val="15151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51560" y="542239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Promotional Assets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5769864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trailers and promotional montages follow upon agreement, ready to support launch and sales.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774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200" kern="0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ASIKO TV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246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9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Africa. One Market. One Destination.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8680" y="3794760"/>
            <a:ext cx="2926080" cy="0"/>
          </a:xfrm>
          <a:prstGeom prst="line">
            <a:avLst/>
          </a:prstGeom>
          <a:noFill/>
          <a:ln w="19050">
            <a:solidFill>
              <a:srgbClr val="C996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Contact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3708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Limited  ·  08035382590  ·  asiko.live  ·  asiko.africa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6126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by Media Icons Africa for the Asiko TV project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2026-09-08T00:51:51Z</dcterms:created>
  <dcterms:modified xsi:type="dcterms:W3CDTF">2026-09-08T00:51:51Z</dcterms:modified>
</cp:coreProperties>
</file>